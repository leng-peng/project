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498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749808"/>
            <a:ext cx="12188952" cy="0"/>
          </a:xfrm>
          <a:prstGeom prst="line">
            <a:avLst/>
          </a:prstGeom>
          <a:ln w="317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9184" y="9144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多节点协同相参合成技术  ·  研究方案框架图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57200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CF0"/>
                </a:solidFill>
              </a:rPr>
              <a:t>Research Framework: Multi-Node Collaborative Coherent Synthesis  ·  Ground / Airborne UAV / Air-Sea Platforms</a:t>
            </a:r>
          </a:p>
        </p:txBody>
      </p:sp>
      <p:sp>
        <p:nvSpPr>
          <p:cNvPr id="7" name="Oval 6"/>
          <p:cNvSpPr/>
          <p:nvPr/>
        </p:nvSpPr>
        <p:spPr>
          <a:xfrm>
            <a:off x="11457432" y="118872"/>
            <a:ext cx="512064" cy="512064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1/1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877824"/>
            <a:ext cx="3788664" cy="548640"/>
          </a:xfrm>
          <a:prstGeom prst="round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23544"/>
            <a:ext cx="3660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三类典型协同场景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133856"/>
            <a:ext cx="3624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• 地基平台协同场景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1280160"/>
            <a:ext cx="3624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• 空中无人平台协同场景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1426464"/>
            <a:ext cx="3624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• 空海平台协同场景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1272" y="1060704"/>
            <a:ext cx="118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0144" y="877824"/>
            <a:ext cx="3788664" cy="548640"/>
          </a:xfrm>
          <a:prstGeom prst="roundRect">
            <a:avLst/>
          </a:prstGeom>
          <a:solidFill>
            <a:srgbClr val="8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1584" y="923544"/>
            <a:ext cx="3660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信号级高效相参合成方法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9872" y="1133856"/>
            <a:ext cx="3624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• 节点内严格相参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9872" y="1280160"/>
            <a:ext cx="3624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• 节点间正交信号发射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9872" y="1426464"/>
            <a:ext cx="3624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• 信号级精确叠加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8808" y="1060704"/>
            <a:ext cx="118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7680" y="877824"/>
            <a:ext cx="3788664" cy="548640"/>
          </a:xfrm>
          <a:prstGeom prst="roundRect">
            <a:avLst/>
          </a:prstGeom>
          <a:solidFill>
            <a:srgbClr val="6E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9120" y="923544"/>
            <a:ext cx="36606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五项核心技术环节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7408" y="1133856"/>
            <a:ext cx="3624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• 波形架构 / 多普勒处理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7408" y="1280160"/>
            <a:ext cx="3624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• 信号级相参 / 信号级融合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7408" y="1426464"/>
            <a:ext cx="3624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• 栅瓣控制与波位编排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39796.0" y="1426464"/>
            <a:ext cx="0.0" cy="77724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866644" y="138988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74B5"/>
                </a:solidFill>
              </a:rPr>
              <a:t>▼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.0" y="1426464"/>
            <a:ext cx="0.0" cy="77724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21324" y="138988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74B5"/>
                </a:solidFill>
              </a:rPr>
              <a:t>▼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49156.0" y="1426464"/>
            <a:ext cx="0.0" cy="77724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76004" y="1389888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74B5"/>
                </a:solidFill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" y="1536192"/>
            <a:ext cx="1024128" cy="4485132"/>
          </a:xfrm>
          <a:prstGeom prst="rect">
            <a:avLst/>
          </a:prstGeom>
          <a:solidFill>
            <a:srgbClr val="B0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92608" y="1513332"/>
            <a:ext cx="1024128" cy="4485132"/>
          </a:xfrm>
          <a:prstGeom prst="round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2608" y="1513332"/>
            <a:ext cx="91440" cy="4485132"/>
          </a:xfrm>
          <a:prstGeom prst="rect">
            <a:avLst/>
          </a:prstGeom>
          <a:solidFill>
            <a:srgbClr val="50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" y="3390138"/>
            <a:ext cx="8778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研
究
范
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5614416"/>
            <a:ext cx="950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A0C4FF"/>
                </a:solidFill>
              </a:rPr>
              <a:t>Research
Scope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95076" y="1536192"/>
            <a:ext cx="1024128" cy="4485132"/>
          </a:xfrm>
          <a:prstGeom prst="rect">
            <a:avLst/>
          </a:prstGeom>
          <a:solidFill>
            <a:srgbClr val="B0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872216" y="1513332"/>
            <a:ext cx="1024128" cy="4485132"/>
          </a:xfrm>
          <a:prstGeom prst="round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04904" y="1513332"/>
            <a:ext cx="91440" cy="4485132"/>
          </a:xfrm>
          <a:prstGeom prst="rect">
            <a:avLst/>
          </a:prstGeom>
          <a:solidFill>
            <a:srgbClr val="50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90504" y="1549908"/>
            <a:ext cx="896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核
心
技
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235458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① 波形架构设计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27080" y="251460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② 多普勒处理补偿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27080" y="26746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③ 信号级相参叠加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27080" y="283464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④ 信号级融合处理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27080" y="299466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</a:rPr>
              <a:t>⑤ 栅瓣控制波位编排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31036" y="1536192"/>
            <a:ext cx="3063240" cy="261518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408176" y="1513332"/>
            <a:ext cx="3063240" cy="2615184"/>
          </a:xfrm>
          <a:prstGeom prst="rect">
            <a:avLst/>
          </a:prstGeom>
          <a:solidFill>
            <a:srgbClr val="E8F5EE"/>
          </a:solidFill>
          <a:ln w="10160">
            <a:solidFill>
              <a:srgbClr val="1A5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408176" y="1513332"/>
            <a:ext cx="3063240" cy="347472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408176" y="1860804"/>
            <a:ext cx="82296" cy="2267712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467612" y="1545336"/>
            <a:ext cx="283464" cy="2834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A5C38"/>
                </a:solidFill>
              </a:rPr>
              <a:t>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19656" y="1549908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地基平台协同场景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19656" y="1732788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AFF"/>
                </a:solidFill>
              </a:rPr>
              <a:t>多栅瓣相参探测  ·  方向图栅瓣控制  ·  高效波位编排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4480" y="1915668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 i="0">
                <a:solidFill>
                  <a:srgbClr val="1A1A3A"/>
                </a:solidFill>
              </a:rPr>
              <a:t>• 多栅瓣相参探测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54480" y="2112264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 i="0">
                <a:solidFill>
                  <a:srgbClr val="1A1A3A"/>
                </a:solidFill>
              </a:rPr>
              <a:t>  利用多节点阵列实施相参协同探测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54480" y="2308860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1" i="0">
                <a:solidFill>
                  <a:srgbClr val="1A5C38"/>
                </a:solidFill>
              </a:rPr>
              <a:t>• 多节点方向图栅瓣控制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54480" y="2505456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 i="0">
                <a:solidFill>
                  <a:srgbClr val="1A1A3A"/>
                </a:solidFill>
              </a:rPr>
              <a:t>  精确控制各节点发射/接收方向图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54480" y="2702052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 i="0">
                <a:solidFill>
                  <a:srgbClr val="1A1A3A"/>
                </a:solidFill>
              </a:rPr>
              <a:t>• 栅瓣照射的高效探测波位编排方法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54480" y="2898648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 i="0">
                <a:solidFill>
                  <a:srgbClr val="1A1A3A"/>
                </a:solidFill>
              </a:rPr>
              <a:t>  优化多波位编排，实现高效覆盖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54480" y="3095244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 i="0">
                <a:solidFill>
                  <a:srgbClr val="1A1A3A"/>
                </a:solidFill>
              </a:rPr>
              <a:t>→ 地基多平台协同高效相参探测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85716" y="1536192"/>
            <a:ext cx="3063240" cy="261518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62856" y="1513332"/>
            <a:ext cx="3063240" cy="2615184"/>
          </a:xfrm>
          <a:prstGeom prst="rect">
            <a:avLst/>
          </a:prstGeom>
          <a:solidFill>
            <a:srgbClr val="E8EFFE"/>
          </a:solidFill>
          <a:ln w="10160">
            <a:solidFill>
              <a:srgbClr val="1F5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62856" y="1513332"/>
            <a:ext cx="3063240" cy="347472"/>
          </a:xfrm>
          <a:prstGeom prst="rect">
            <a:avLst/>
          </a:prstGeom>
          <a:solidFill>
            <a:srgbClr val="1F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562856" y="1860804"/>
            <a:ext cx="82296" cy="2267712"/>
          </a:xfrm>
          <a:prstGeom prst="rect">
            <a:avLst/>
          </a:prstGeom>
          <a:solidFill>
            <a:srgbClr val="1F5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622292" y="1545336"/>
            <a:ext cx="283464" cy="2834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F56C8"/>
                </a:solidFill>
              </a:rPr>
              <a:t>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74336" y="1549908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空中无人平台协同场景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74336" y="1732788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AFF"/>
                </a:solidFill>
              </a:rPr>
              <a:t>波形架构设计  ·  多普勒处理补偿  ·  信号级相参叠加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09160" y="1915668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 i="0">
                <a:solidFill>
                  <a:srgbClr val="1A1A3A"/>
                </a:solidFill>
              </a:rPr>
              <a:t>• 波形架构设计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09160" y="2112264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 i="0">
                <a:solidFill>
                  <a:srgbClr val="1A1A3A"/>
                </a:solidFill>
              </a:rPr>
              <a:t>  节点内严格相参，节点间发射正交信号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09160" y="2308860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 i="0">
                <a:solidFill>
                  <a:srgbClr val="1A1A3A"/>
                </a:solidFill>
              </a:rPr>
              <a:t>• 多普勒处理与补偿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09160" y="2505456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 i="0">
                <a:solidFill>
                  <a:srgbClr val="1A1A3A"/>
                </a:solidFill>
              </a:rPr>
              <a:t>  机动目标运动补偿，精确分离各节点回波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09160" y="2702052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1" i="0">
                <a:solidFill>
                  <a:srgbClr val="1F56C8"/>
                </a:solidFill>
              </a:rPr>
              <a:t>• 信号级相参叠加技术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09160" y="2898648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 i="0">
                <a:solidFill>
                  <a:srgbClr val="1A1A3A"/>
                </a:solidFill>
              </a:rPr>
              <a:t>  对分离后回波进行相位级精确叠加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09160" y="3095244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 i="0">
                <a:solidFill>
                  <a:srgbClr val="1A1A3A"/>
                </a:solidFill>
              </a:rPr>
              <a:t>→ 空中无人平台协同相参合成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40396" y="1536192"/>
            <a:ext cx="3063240" cy="2615184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17536" y="1513332"/>
            <a:ext cx="3063240" cy="2615184"/>
          </a:xfrm>
          <a:prstGeom prst="rect">
            <a:avLst/>
          </a:prstGeom>
          <a:solidFill>
            <a:srgbClr val="FFF0E5"/>
          </a:solidFill>
          <a:ln w="10160">
            <a:solidFill>
              <a:srgbClr val="B5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17536" y="1513332"/>
            <a:ext cx="3063240" cy="347472"/>
          </a:xfrm>
          <a:prstGeom prst="rect">
            <a:avLst/>
          </a:prstGeom>
          <a:solidFill>
            <a:srgbClr val="B5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717536" y="1860804"/>
            <a:ext cx="82296" cy="2267712"/>
          </a:xfrm>
          <a:prstGeom prst="rect">
            <a:avLst/>
          </a:prstGeom>
          <a:solidFill>
            <a:srgbClr val="B5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776972" y="1545336"/>
            <a:ext cx="283464" cy="2834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B54A00"/>
                </a:solidFill>
              </a:rPr>
              <a:t>海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29016" y="1549908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空海平台协同场景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29016" y="1732788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AFF"/>
                </a:solidFill>
              </a:rPr>
              <a:t>距离多普勒融合  ·  目标检测  ·  相干累加与增益反馈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3840" y="1915668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 i="0">
                <a:solidFill>
                  <a:srgbClr val="1A1A3A"/>
                </a:solidFill>
              </a:rPr>
              <a:t>• 距离多普勒信号级融合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63840" y="2112264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 i="0">
                <a:solidFill>
                  <a:srgbClr val="1A1A3A"/>
                </a:solidFill>
              </a:rPr>
              <a:t>  完成多节点信号的距离多普勒域联合处理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63840" y="2308860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 i="0">
                <a:solidFill>
                  <a:srgbClr val="1A1A3A"/>
                </a:solidFill>
              </a:rPr>
              <a:t>• 目标单元检测与复数提取及相位补偿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0" y="2505456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1" i="0">
                <a:solidFill>
                  <a:srgbClr val="B54A00"/>
                </a:solidFill>
              </a:rPr>
              <a:t>• 相干累加与增益计算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63840" y="2702052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 i="0">
                <a:solidFill>
                  <a:srgbClr val="1A1A3A"/>
                </a:solidFill>
              </a:rPr>
              <a:t>  多节点信号相干叠加，量化合成增益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63840" y="2898648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 i="0">
                <a:solidFill>
                  <a:srgbClr val="1A1A3A"/>
                </a:solidFill>
              </a:rPr>
              <a:t>• 增益反馈应用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63840" y="3095244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 i="0">
                <a:solidFill>
                  <a:srgbClr val="1A1A3A"/>
                </a:solidFill>
              </a:rPr>
              <a:t>→ 空海异构平台高效相参合成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2939796.0" y="4128516"/>
            <a:ext cx="0.0" cy="77724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2866644" y="4091940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74B5"/>
                </a:solidFill>
              </a:rPr>
              <a:t>▼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094476.0" y="4128516"/>
            <a:ext cx="0.0" cy="77724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6021324" y="4091940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74B5"/>
                </a:solidFill>
              </a:rPr>
              <a:t>▼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9249156.0" y="4128516"/>
            <a:ext cx="0.0" cy="77724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9176004" y="4091940"/>
            <a:ext cx="14630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E74B5"/>
                </a:solidFill>
              </a:rPr>
              <a:t>▼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431036" y="4238244"/>
            <a:ext cx="3063240" cy="1783080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408176" y="4215384"/>
            <a:ext cx="3063240" cy="1783080"/>
          </a:xfrm>
          <a:prstGeom prst="rect">
            <a:avLst/>
          </a:prstGeom>
          <a:solidFill>
            <a:srgbClr val="EAF6EF"/>
          </a:solidFill>
          <a:ln w="10160">
            <a:solidFill>
              <a:srgbClr val="157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408176" y="4215384"/>
            <a:ext cx="3063240" cy="310896"/>
          </a:xfrm>
          <a:prstGeom prst="rect">
            <a:avLst/>
          </a:prstGeom>
          <a:solidFill>
            <a:srgbClr val="15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408176" y="4526280"/>
            <a:ext cx="82296" cy="1472184"/>
          </a:xfrm>
          <a:prstGeom prst="rect">
            <a:avLst/>
          </a:prstGeom>
          <a:solidFill>
            <a:srgbClr val="15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467612" y="4229100"/>
            <a:ext cx="283464" cy="2834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57A35"/>
                </a:solidFill>
              </a:rPr>
              <a:t>①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19656" y="4251960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栅瓣控制与波位编排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19656" y="4398264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AFF"/>
                </a:solidFill>
              </a:rPr>
              <a:t>Grating Lobe Control &amp; Wave Position Arrangement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54480" y="4581144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多节点方向图栅瓣精确控制算法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554480" y="4777740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高效探测波位编排优化方法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554480" y="4974336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57A35"/>
                </a:solidFill>
              </a:rPr>
              <a:t>• 预期：多节点协同探测覆盖率提升≥30%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85716" y="4238244"/>
            <a:ext cx="3063240" cy="1783080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562856" y="4215384"/>
            <a:ext cx="3063240" cy="1783080"/>
          </a:xfrm>
          <a:prstGeom prst="rect">
            <a:avLst/>
          </a:prstGeom>
          <a:solidFill>
            <a:srgbClr val="EBF0FF"/>
          </a:solidFill>
          <a:ln w="10160">
            <a:solidFill>
              <a:srgbClr val="1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562856" y="4215384"/>
            <a:ext cx="3063240" cy="310896"/>
          </a:xfrm>
          <a:prstGeom prst="rect">
            <a:avLst/>
          </a:prstGeom>
          <a:solidFill>
            <a:srgbClr val="1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562856" y="4526280"/>
            <a:ext cx="82296" cy="1472184"/>
          </a:xfrm>
          <a:prstGeom prst="rect">
            <a:avLst/>
          </a:prstGeom>
          <a:solidFill>
            <a:srgbClr val="1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622292" y="4229100"/>
            <a:ext cx="283464" cy="2834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F6BC4"/>
                </a:solidFill>
              </a:rPr>
              <a:t>②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974336" y="4251960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波形架构 + 多普勒处理 + 信号级相参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974336" y="4398264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AFF"/>
                </a:solidFill>
              </a:rPr>
              <a:t>Waveform Design + Doppler Compensation + Signal-Level Coherent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09160" y="4581144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节点内/间正交波形设计与严格相参参数优化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709160" y="4777740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机动目标多普勒补偿与精确信号分离算法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709160" y="4974336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6BC4"/>
                </a:solidFill>
              </a:rPr>
              <a:t>• 预期：相参合成增益≥N²（误差容限内）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40396" y="4238244"/>
            <a:ext cx="3063240" cy="1783080"/>
          </a:xfrm>
          <a:prstGeom prst="rect">
            <a:avLst/>
          </a:prstGeom>
          <a:solidFill>
            <a:srgbClr val="C0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717536" y="4215384"/>
            <a:ext cx="3063240" cy="1783080"/>
          </a:xfrm>
          <a:prstGeom prst="rect">
            <a:avLst/>
          </a:prstGeom>
          <a:solidFill>
            <a:srgbClr val="FFF4EE"/>
          </a:solidFill>
          <a:ln w="10160">
            <a:solidFill>
              <a:srgbClr val="8B2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717536" y="4215384"/>
            <a:ext cx="3063240" cy="310896"/>
          </a:xfrm>
          <a:prstGeom prst="rect">
            <a:avLst/>
          </a:prstGeom>
          <a:solidFill>
            <a:srgbClr val="8B2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717536" y="4526280"/>
            <a:ext cx="82296" cy="1472184"/>
          </a:xfrm>
          <a:prstGeom prst="rect">
            <a:avLst/>
          </a:prstGeom>
          <a:solidFill>
            <a:srgbClr val="8B2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7776972" y="4229100"/>
            <a:ext cx="283464" cy="2834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8B2E00"/>
                </a:solidFill>
              </a:rPr>
              <a:t>③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129016" y="4251960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信号级融合完整处理流程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129016" y="4398264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EAFF"/>
                </a:solidFill>
              </a:rPr>
              <a:t>Complete Signal-Level Fusion Processing Pipeline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863840" y="4581144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距离多普勒融合→目标检测→复数提取→相位补偿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863840" y="4777740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3A"/>
                </a:solidFill>
              </a:rPr>
              <a:t>• 相干累加→增益计算→增益反馈至系统优化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863840" y="4974336"/>
            <a:ext cx="2862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2E00"/>
                </a:solidFill>
              </a:rPr>
              <a:t>• 预期：空海平台相参合成增益≥12 dB（N=4）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0" y="6035040"/>
            <a:ext cx="12188952" cy="347472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0" y="6035040"/>
            <a:ext cx="54864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4864" y="6080760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40080" y="6071616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五项核心技术环节  Five Core Technical Elements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40080" y="6254496"/>
            <a:ext cx="225491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 i="0">
                <a:solidFill>
                  <a:srgbClr val="FFE080"/>
                </a:solidFill>
              </a:rPr>
              <a:t>波形架构设计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40080" y="6382512"/>
            <a:ext cx="225491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0D8FF"/>
                </a:solidFill>
              </a:rPr>
              <a:t>节点内相参·节点间正交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894990" y="6254496"/>
            <a:ext cx="225491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 i="0">
                <a:solidFill>
                  <a:srgbClr val="FFE080"/>
                </a:solidFill>
              </a:rPr>
              <a:t>多普勒处理补偿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894990" y="6382512"/>
            <a:ext cx="225491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0D8FF"/>
                </a:solidFill>
              </a:rPr>
              <a:t>机动目标精确分离回波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149900" y="6254496"/>
            <a:ext cx="225491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 i="0">
                <a:solidFill>
                  <a:srgbClr val="FFE080"/>
                </a:solidFill>
              </a:rPr>
              <a:t>信号级相参叠加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149900" y="6382512"/>
            <a:ext cx="225491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0D8FF"/>
                </a:solidFill>
              </a:rPr>
              <a:t>相位级精确叠加处理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404811" y="6254496"/>
            <a:ext cx="225491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 i="0">
                <a:solidFill>
                  <a:srgbClr val="FFE080"/>
                </a:solidFill>
              </a:rPr>
              <a:t>信号级融合处理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404811" y="6382512"/>
            <a:ext cx="225491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0D8FF"/>
                </a:solidFill>
              </a:rPr>
              <a:t>完整融合计算闭环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659721" y="6254496"/>
            <a:ext cx="225491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 i="0">
                <a:solidFill>
                  <a:srgbClr val="FFE080"/>
                </a:solidFill>
              </a:rPr>
              <a:t>栅瓣控制波位编排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659721" y="6382512"/>
            <a:ext cx="225491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0D8FF"/>
                </a:solidFill>
              </a:rPr>
              <a:t>多节点方向图优化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2876702.4" y="6108192"/>
            <a:ext cx="0.0" cy="219456"/>
          </a:xfrm>
          <a:prstGeom prst="line">
            <a:avLst/>
          </a:prstGeom>
          <a:ln w="6350">
            <a:solidFill>
              <a:srgbClr val="60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5131612.8" y="6108192"/>
            <a:ext cx="0.0" cy="219456"/>
          </a:xfrm>
          <a:prstGeom prst="line">
            <a:avLst/>
          </a:prstGeom>
          <a:ln w="6350">
            <a:solidFill>
              <a:srgbClr val="60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386523.199999999" y="6108192"/>
            <a:ext cx="0.0" cy="219456"/>
          </a:xfrm>
          <a:prstGeom prst="line">
            <a:avLst/>
          </a:prstGeom>
          <a:ln w="6350">
            <a:solidFill>
              <a:srgbClr val="60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9641433.6" y="6108192"/>
            <a:ext cx="0.0" cy="219456"/>
          </a:xfrm>
          <a:prstGeom prst="line">
            <a:avLst/>
          </a:prstGeom>
          <a:ln w="6350">
            <a:solidFill>
              <a:srgbClr val="608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292608" y="6419088"/>
            <a:ext cx="11603736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/>
          <p:cNvSpPr/>
          <p:nvPr/>
        </p:nvSpPr>
        <p:spPr>
          <a:xfrm>
            <a:off x="292608" y="6510528"/>
            <a:ext cx="45720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84048" y="6501384"/>
            <a:ext cx="11475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0D2A6E"/>
                </a:solidFill>
              </a:rPr>
              <a:t>  研究路径：三类典型协同场景凝练 → 多节点信号级高效相参合成方法研究 → 五项核心技术攻关 → 波形架构+多普勒处理+信号级相参+信号级融合+栅瓣控制 全链路闭环，实现多平台高效协同相参合成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