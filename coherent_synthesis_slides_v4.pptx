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D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54864" cy="731520"/>
          </a:xfrm>
          <a:prstGeom prst="rect">
            <a:avLst/>
          </a:prstGeom>
          <a:solidFill>
            <a:srgbClr val="184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0241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5C518"/>
                </a:solidFill>
              </a:rPr>
              <a:t>空海平台多节点协同探测  ·  高效相参合成 — 机理分析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" y="731520"/>
            <a:ext cx="11932920" cy="0"/>
          </a:xfrm>
          <a:prstGeom prst="line">
            <a:avLst/>
          </a:prstGeom>
          <a:ln w="1270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384280" y="91440"/>
            <a:ext cx="548640" cy="548640"/>
          </a:xfrm>
          <a:prstGeom prst="ellipse">
            <a:avLst/>
          </a:prstGeom>
          <a:solidFill>
            <a:srgbClr val="18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5C518"/>
                </a:solidFill>
              </a:rPr>
              <a:t>1/2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96512.0" y="923544"/>
            <a:ext cx="0.0" cy="5477256"/>
          </a:xfrm>
          <a:prstGeom prst="line">
            <a:avLst/>
          </a:prstGeom>
          <a:ln w="6350">
            <a:solidFill>
              <a:srgbClr val="234E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58200.0" y="923544"/>
            <a:ext cx="0.0" cy="5477256"/>
          </a:xfrm>
          <a:prstGeom prst="line">
            <a:avLst/>
          </a:prstGeom>
          <a:ln w="6350">
            <a:solidFill>
              <a:srgbClr val="234E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" y="868680"/>
            <a:ext cx="3767328" cy="1321308"/>
          </a:xfrm>
          <a:prstGeom prst="rect">
            <a:avLst/>
          </a:prstGeom>
          <a:solidFill>
            <a:srgbClr val="0F3568"/>
          </a:solidFill>
          <a:ln w="6350">
            <a:solidFill>
              <a:srgbClr val="204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868680"/>
            <a:ext cx="64008" cy="1321308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" y="868680"/>
            <a:ext cx="3703320" cy="338328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905256"/>
            <a:ext cx="357530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① 时延同步误差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" y="1207008.0"/>
            <a:ext cx="3593592" cy="0.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38328" y="1243584"/>
            <a:ext cx="3703320" cy="946404"/>
          </a:xfrm>
          <a:prstGeom prst="rect">
            <a:avLst/>
          </a:prstGeom>
          <a:solidFill>
            <a:srgbClr val="07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1298448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几何双程时延差 → 脉冲错位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1545336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精度要求：Δτ &lt; λ/(4c) ≈ 0.5 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1792224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r_fold = mod(r_eq, R_unamb)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2039112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tau = 2·r_fold /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2286000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方法：互相关 + 北斗/GPS 双频授时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272284"/>
            <a:ext cx="3767328" cy="1321308"/>
          </a:xfrm>
          <a:prstGeom prst="rect">
            <a:avLst/>
          </a:prstGeom>
          <a:solidFill>
            <a:srgbClr val="0F3568"/>
          </a:solidFill>
          <a:ln w="6350">
            <a:solidFill>
              <a:srgbClr val="204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272284"/>
            <a:ext cx="64008" cy="1321308"/>
          </a:xfrm>
          <a:prstGeom prst="rect">
            <a:avLst/>
          </a:prstGeom>
          <a:solidFill>
            <a:srgbClr val="0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328" y="2272284"/>
            <a:ext cx="3703320" cy="338328"/>
          </a:xfrm>
          <a:prstGeom prst="rect">
            <a:avLst/>
          </a:prstGeom>
          <a:solidFill>
            <a:srgbClr val="0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2308860"/>
            <a:ext cx="357530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② 相位同步误差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3192" y="2610612.0"/>
            <a:ext cx="3593592" cy="0.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38328" y="2647188"/>
            <a:ext cx="3703320" cy="946404"/>
          </a:xfrm>
          <a:prstGeom prst="rect">
            <a:avLst/>
          </a:prstGeom>
          <a:solidFill>
            <a:srgbClr val="07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2702052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载频相位不一致 → 复数旋转偏差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2948940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cell_c = cellv·exp(j2π·fc·τ)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3195828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coh_sum += cell_c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" y="3442716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方法：导频估计 + EKF/PLL 联合跟踪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" y="3689604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无导频：回波自校准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675888"/>
            <a:ext cx="3767328" cy="1321308"/>
          </a:xfrm>
          <a:prstGeom prst="rect">
            <a:avLst/>
          </a:prstGeom>
          <a:solidFill>
            <a:srgbClr val="0F3568"/>
          </a:solidFill>
          <a:ln w="6350">
            <a:solidFill>
              <a:srgbClr val="204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675888"/>
            <a:ext cx="64008" cy="1321308"/>
          </a:xfrm>
          <a:prstGeom prst="rect">
            <a:avLst/>
          </a:prstGeom>
          <a:solidFill>
            <a:srgbClr val="7B3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8328" y="3675888"/>
            <a:ext cx="3703320" cy="338328"/>
          </a:xfrm>
          <a:prstGeom prst="rect">
            <a:avLst/>
          </a:prstGeom>
          <a:solidFill>
            <a:srgbClr val="7B3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3712464"/>
            <a:ext cx="357530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③ 频率同步误差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93192" y="4014216.0"/>
            <a:ext cx="3593592" cy="0.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38328" y="4050792"/>
            <a:ext cx="3703320" cy="946404"/>
          </a:xfrm>
          <a:prstGeom prst="rect">
            <a:avLst/>
          </a:prstGeom>
          <a:solidFill>
            <a:srgbClr val="07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" y="4105656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多普勒 + 振荡器频偏 → 相位漂移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" y="4352544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ΔΦ = 2π · Δf · t（线性漂移）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" y="4599432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ph_cons = exp(−|Δfd|/Δfd_ref)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" y="4846320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方法：相位斜率一致性检验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" y="5093208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PLL 实时跟踪频偏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079492"/>
            <a:ext cx="3767328" cy="1321308"/>
          </a:xfrm>
          <a:prstGeom prst="rect">
            <a:avLst/>
          </a:prstGeom>
          <a:solidFill>
            <a:srgbClr val="0F3568"/>
          </a:solidFill>
          <a:ln w="6350">
            <a:solidFill>
              <a:srgbClr val="204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" y="5079492"/>
            <a:ext cx="64008" cy="1321308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8328" y="5079492"/>
            <a:ext cx="3703320" cy="338328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" y="5116068"/>
            <a:ext cx="3575304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④ 幅度一致性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93192" y="5417820.0"/>
            <a:ext cx="3593592" cy="0.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338328" y="5454396"/>
            <a:ext cx="3703320" cy="946404"/>
          </a:xfrm>
          <a:prstGeom prst="rect">
            <a:avLst/>
          </a:prstGeom>
          <a:solidFill>
            <a:srgbClr val="07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8" y="5509260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通道增益不均 → 合并旁瓣抬高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" y="5756148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score = SNR × (0.3+0.7·coh)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768" y="6003036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       × (0.4+0.6·ph_cons)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" y="6249924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方法：MRC 自适应加权合并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8" y="6496812"/>
            <a:ext cx="3557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质量低链路自动降权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51376" y="868680"/>
            <a:ext cx="4251960" cy="2102205"/>
          </a:xfrm>
          <a:prstGeom prst="rect">
            <a:avLst/>
          </a:prstGeom>
          <a:solidFill>
            <a:srgbClr val="0F3568"/>
          </a:solidFill>
          <a:ln w="6350">
            <a:solidFill>
              <a:srgbClr val="1A4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51376" y="868680"/>
            <a:ext cx="64008" cy="2102205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15384" y="868680"/>
            <a:ext cx="4187952" cy="338328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15968" y="905256"/>
            <a:ext cx="4050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信号模型（OFDM 双基地体制）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242816" y="1216152"/>
            <a:ext cx="4069080" cy="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261104" y="1243584"/>
            <a:ext cx="4087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8D0E8"/>
                </a:solidFill>
              </a:rPr>
              <a:t>系统：2 Tx（海面 15~18 m/s）+ 3 Rx（空中 3500~3800 m）= 6 双基地链路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42816" y="1463040"/>
            <a:ext cx="4087368" cy="384048"/>
          </a:xfrm>
          <a:prstGeom prst="rect">
            <a:avLst/>
          </a:prstGeom>
          <a:solidFill>
            <a:srgbClr val="003A74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52544" y="1499616"/>
            <a:ext cx="3886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5C518"/>
                </a:solidFill>
              </a:rPr>
              <a:t>sₖ(t) = A · exp[ j(2π·fc·τₖ + φₖ) ] + nₖ(t)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61104" y="1892808"/>
            <a:ext cx="4087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coh_sum = Σₖ  cellₖ · exp(j·2π·fc·τₖ)
SNR_coh ∝ N²     SNR_incoh ∝ 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51376" y="3062325"/>
            <a:ext cx="4251960" cy="1880920"/>
          </a:xfrm>
          <a:prstGeom prst="rect">
            <a:avLst/>
          </a:prstGeom>
          <a:solidFill>
            <a:srgbClr val="0F3568"/>
          </a:solidFill>
          <a:ln w="6350">
            <a:solidFill>
              <a:srgbClr val="1A4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51376" y="3062325"/>
            <a:ext cx="64008" cy="1880920"/>
          </a:xfrm>
          <a:prstGeom prst="rect">
            <a:avLst/>
          </a:prstGeom>
          <a:solidFill>
            <a:srgbClr val="0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15384" y="3062325"/>
            <a:ext cx="4187952" cy="338328"/>
          </a:xfrm>
          <a:prstGeom prst="rect">
            <a:avLst/>
          </a:prstGeom>
          <a:solidFill>
            <a:srgbClr val="0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15968" y="3098901"/>
            <a:ext cx="4050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相参增益退化律（track_aided_coherent）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242816" y="3409797.6"/>
            <a:ext cx="4069080" cy="0.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4242816" y="3446373"/>
            <a:ext cx="4087368" cy="365760"/>
          </a:xfrm>
          <a:prstGeom prst="rect">
            <a:avLst/>
          </a:prstGeom>
          <a:solidFill>
            <a:srgbClr val="003A74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352544" y="3482949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C518"/>
                </a:solidFill>
              </a:rPr>
              <a:t>G = 10·lg( |Σ cellₖ·e^{j2πfcτₖ}|² / Σ|cellₖ|² 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61104" y="3848709"/>
            <a:ext cx="40873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 i="0">
                <a:solidFill>
                  <a:srgbClr val="FFFFFF"/>
                </a:solidFill>
              </a:rPr>
              <a:t>σ²_φ = σ²_time·(2π·fc)² + σ²_phase + σ²_freq·T²
σ_φ &lt; π/8 → G &gt; 0.90·N²（效能 ≥ 90%）
σ_φ = π/4 → G ≈ 0.64·N²（退化 36%）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51376" y="5034686"/>
            <a:ext cx="4251960" cy="1366113"/>
          </a:xfrm>
          <a:prstGeom prst="rect">
            <a:avLst/>
          </a:prstGeom>
          <a:solidFill>
            <a:srgbClr val="0F3568"/>
          </a:solidFill>
          <a:ln w="6350">
            <a:solidFill>
              <a:srgbClr val="1A4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151376" y="5034686"/>
            <a:ext cx="64008" cy="1366113"/>
          </a:xfrm>
          <a:prstGeom prst="rect">
            <a:avLst/>
          </a:prstGeom>
          <a:solidFill>
            <a:srgbClr val="7B3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15384" y="5034686"/>
            <a:ext cx="4187952" cy="338328"/>
          </a:xfrm>
          <a:prstGeom prst="rect">
            <a:avLst/>
          </a:prstGeom>
          <a:solidFill>
            <a:srgbClr val="7B3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15968" y="5071262"/>
            <a:ext cx="4050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CRLB 理论下界（Fisher 信息矩阵）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4242816" y="5382158.4"/>
            <a:ext cx="4069080" cy="0.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261104" y="5418734"/>
            <a:ext cx="4087368" cy="908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测距误差下界：  σ_r  = c / (2B√(2·SNR))
测速误差下界：  σ_v  = λ / (2Tc√SNR)
FIM 联合累加： J = Σₖ HₖᵀRₖ⁻¹Hₖ
6链路联合定位精度可降至 ~100 m 量级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13064" y="868680"/>
            <a:ext cx="3401568" cy="338328"/>
          </a:xfrm>
          <a:prstGeom prst="rect">
            <a:avLst/>
          </a:prstGeom>
          <a:solidFill>
            <a:srgbClr val="0F3568"/>
          </a:solidFill>
          <a:ln w="6350">
            <a:solidFill>
              <a:srgbClr val="1A4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513064" y="868680"/>
            <a:ext cx="64008" cy="33832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41080" y="905256"/>
            <a:ext cx="3236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系统参数（MATLAB sys.*）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8577072" y="1216152"/>
            <a:ext cx="3273552" cy="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8513064" y="1225296"/>
            <a:ext cx="3401568" cy="288036"/>
          </a:xfrm>
          <a:prstGeom prst="rect">
            <a:avLst/>
          </a:prstGeom>
          <a:solidFill>
            <a:srgbClr val="0F3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10281879.36" y="1225296"/>
            <a:ext cx="0.0" cy="288036"/>
          </a:xfrm>
          <a:prstGeom prst="line">
            <a:avLst/>
          </a:prstGeom>
          <a:ln w="5080">
            <a:solidFill>
              <a:srgbClr val="234E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8604504" y="1252728"/>
            <a:ext cx="1659087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8D0E8"/>
                </a:solidFill>
              </a:rPr>
              <a:t>sys.fc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36743" y="1252728"/>
            <a:ext cx="155960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500 MHz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513064" y="1513332"/>
            <a:ext cx="3401568" cy="288036"/>
          </a:xfrm>
          <a:prstGeom prst="rect">
            <a:avLst/>
          </a:prstGeom>
          <a:solidFill>
            <a:srgbClr val="07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10281879.36" y="1513332"/>
            <a:ext cx="0.0" cy="288036"/>
          </a:xfrm>
          <a:prstGeom prst="line">
            <a:avLst/>
          </a:prstGeom>
          <a:ln w="5080">
            <a:solidFill>
              <a:srgbClr val="234E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8604504" y="1540764"/>
            <a:ext cx="1659087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8D0E8"/>
                </a:solidFill>
              </a:rPr>
              <a:t>sys.B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36743" y="1540764"/>
            <a:ext cx="155960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2 MHz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13064" y="1801368"/>
            <a:ext cx="3401568" cy="288036"/>
          </a:xfrm>
          <a:prstGeom prst="rect">
            <a:avLst/>
          </a:prstGeom>
          <a:solidFill>
            <a:srgbClr val="0F3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10281879.36" y="1801368"/>
            <a:ext cx="0.0" cy="288036"/>
          </a:xfrm>
          <a:prstGeom prst="line">
            <a:avLst/>
          </a:prstGeom>
          <a:ln w="5080">
            <a:solidFill>
              <a:srgbClr val="234E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8604504" y="1828800"/>
            <a:ext cx="1659087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8D0E8"/>
                </a:solidFill>
              </a:rPr>
              <a:t>sys.Nsc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36743" y="1828800"/>
            <a:ext cx="155960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1024 子载波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513064" y="2089404"/>
            <a:ext cx="3401568" cy="288036"/>
          </a:xfrm>
          <a:prstGeom prst="rect">
            <a:avLst/>
          </a:prstGeom>
          <a:solidFill>
            <a:srgbClr val="07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10281879.36" y="2089404"/>
            <a:ext cx="0.0" cy="288036"/>
          </a:xfrm>
          <a:prstGeom prst="line">
            <a:avLst/>
          </a:prstGeom>
          <a:ln w="5080">
            <a:solidFill>
              <a:srgbClr val="234E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8604504" y="2116836"/>
            <a:ext cx="1659087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8D0E8"/>
                </a:solidFill>
              </a:rPr>
              <a:t>sys.PRI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36743" y="2116836"/>
            <a:ext cx="155960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140 μs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513064" y="2377440"/>
            <a:ext cx="3401568" cy="288036"/>
          </a:xfrm>
          <a:prstGeom prst="rect">
            <a:avLst/>
          </a:prstGeom>
          <a:solidFill>
            <a:srgbClr val="0F3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10281879.36" y="2377440"/>
            <a:ext cx="0.0" cy="288036"/>
          </a:xfrm>
          <a:prstGeom prst="line">
            <a:avLst/>
          </a:prstGeom>
          <a:ln w="5080">
            <a:solidFill>
              <a:srgbClr val="234E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8604504" y="2404872"/>
            <a:ext cx="1659087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8D0E8"/>
                </a:solidFill>
              </a:rPr>
              <a:t>sys.Nc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336743" y="2404872"/>
            <a:ext cx="155960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64 脉冲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513064" y="2665476"/>
            <a:ext cx="3401568" cy="288036"/>
          </a:xfrm>
          <a:prstGeom prst="rect">
            <a:avLst/>
          </a:prstGeom>
          <a:solidFill>
            <a:srgbClr val="07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>
            <a:off x="10281879.36" y="2665476"/>
            <a:ext cx="0.0" cy="288036"/>
          </a:xfrm>
          <a:prstGeom prst="line">
            <a:avLst/>
          </a:prstGeom>
          <a:ln w="5080">
            <a:solidFill>
              <a:srgbClr val="234E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8604504" y="2692908"/>
            <a:ext cx="1659087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8D0E8"/>
                </a:solidFill>
              </a:rPr>
              <a:t>sys.r_res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36743" y="2692908"/>
            <a:ext cx="155960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75 m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513064" y="2953512"/>
            <a:ext cx="3401568" cy="288036"/>
          </a:xfrm>
          <a:prstGeom prst="rect">
            <a:avLst/>
          </a:prstGeom>
          <a:solidFill>
            <a:srgbClr val="0F3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10281879.36" y="2953512"/>
            <a:ext cx="0.0" cy="288036"/>
          </a:xfrm>
          <a:prstGeom prst="line">
            <a:avLst/>
          </a:prstGeom>
          <a:ln w="5080">
            <a:solidFill>
              <a:srgbClr val="234E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8604504" y="2980944"/>
            <a:ext cx="1659087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8D0E8"/>
                </a:solidFill>
              </a:rPr>
              <a:t>N 链路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336743" y="2980944"/>
            <a:ext cx="155960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2 Tx + 3 Rx = 6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513064" y="3241548"/>
            <a:ext cx="3401568" cy="288036"/>
          </a:xfrm>
          <a:prstGeom prst="rect">
            <a:avLst/>
          </a:prstGeom>
          <a:solidFill>
            <a:srgbClr val="07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>
            <a:off x="10281879.36" y="3241548"/>
            <a:ext cx="0.0" cy="288036"/>
          </a:xfrm>
          <a:prstGeom prst="line">
            <a:avLst/>
          </a:prstGeom>
          <a:ln w="5080">
            <a:solidFill>
              <a:srgbClr val="234E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8604504" y="3268980"/>
            <a:ext cx="1659087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8D0E8"/>
                </a:solidFill>
              </a:rPr>
              <a:t>λ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336743" y="3268980"/>
            <a:ext cx="1559600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0.6 m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513064" y="3639312"/>
            <a:ext cx="3401568" cy="2761488"/>
          </a:xfrm>
          <a:prstGeom prst="rect">
            <a:avLst/>
          </a:prstGeom>
          <a:solidFill>
            <a:srgbClr val="0F3568"/>
          </a:solidFill>
          <a:ln w="889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513064" y="3639312"/>
            <a:ext cx="64008" cy="2761488"/>
          </a:xfrm>
          <a:prstGeom prst="rect">
            <a:avLst/>
          </a:prstGeom>
          <a:solidFill>
            <a:srgbClr val="15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577072" y="3639312"/>
            <a:ext cx="3337560" cy="338328"/>
          </a:xfrm>
          <a:prstGeom prst="rect">
            <a:avLst/>
          </a:prstGeom>
          <a:solidFill>
            <a:srgbClr val="15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677656" y="36758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增益对比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8604504" y="3986784"/>
            <a:ext cx="3218688" cy="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 117"/>
          <p:cNvSpPr/>
          <p:nvPr/>
        </p:nvSpPr>
        <p:spPr>
          <a:xfrm>
            <a:off x="8604504" y="4023360"/>
            <a:ext cx="3236976" cy="347472"/>
          </a:xfrm>
          <a:prstGeom prst="rect">
            <a:avLst/>
          </a:prstGeom>
          <a:solidFill>
            <a:srgbClr val="003A74"/>
          </a:solidFill>
          <a:ln w="1524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714232" y="4059936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C518"/>
                </a:solidFill>
              </a:rPr>
              <a:t>相参 SNR ∝ N²  ÷  非相参 SNR ∝ N
= ×N = ×6 = +7.8 dB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274320" y="6364224"/>
            <a:ext cx="11640312" cy="0"/>
          </a:xfrm>
          <a:prstGeom prst="line">
            <a:avLst/>
          </a:prstGeom>
          <a:ln w="7620">
            <a:solidFill>
              <a:srgbClr val="234E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256032" y="6437376"/>
            <a:ext cx="36576" cy="31089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29184" y="6455664"/>
            <a:ext cx="11567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B8D0E8"/>
                </a:solidFill>
              </a:rPr>
              <a:t>  ▶  核心挑战：空海平台高动态下四大误差耦合非线性退化，同步要求 Δτ &lt; 0.5 ns、Δφ &lt; π/8（47 mrad），远超地基组网系统。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8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D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7315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016" y="0"/>
            <a:ext cx="54864" cy="731520"/>
          </a:xfrm>
          <a:prstGeom prst="rect">
            <a:avLst/>
          </a:prstGeom>
          <a:solidFill>
            <a:srgbClr val="184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09728"/>
            <a:ext cx="102412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5C518"/>
                </a:solidFill>
              </a:rPr>
              <a:t>空海平台多节点协同探测  ·  高效相参合成 — 方法设计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" y="731520"/>
            <a:ext cx="11932920" cy="0"/>
          </a:xfrm>
          <a:prstGeom prst="line">
            <a:avLst/>
          </a:prstGeom>
          <a:ln w="1270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384280" y="91440"/>
            <a:ext cx="548640" cy="548640"/>
          </a:xfrm>
          <a:prstGeom prst="ellipse">
            <a:avLst/>
          </a:prstGeom>
          <a:solidFill>
            <a:srgbClr val="18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5C518"/>
                </a:solidFill>
              </a:rPr>
              <a:t>2/2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832104"/>
            <a:ext cx="5820156" cy="731520"/>
          </a:xfrm>
          <a:prstGeom prst="rect">
            <a:avLst/>
          </a:prstGeom>
          <a:solidFill>
            <a:srgbClr val="092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49340" y="832104"/>
            <a:ext cx="5765292" cy="731520"/>
          </a:xfrm>
          <a:prstGeom prst="rect">
            <a:avLst/>
          </a:prstGeom>
          <a:solidFill>
            <a:srgbClr val="0A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850392"/>
            <a:ext cx="57104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8D0E8"/>
                </a:solidFill>
              </a:rPr>
              <a:t>Round 1  ·  强目标检测（无MTI）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2492" y="850392"/>
            <a:ext cx="56555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8D0E8"/>
                </a:solidFill>
              </a:rPr>
              <a:t>Round 2  ·  弱目标检测（三MTI并行）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2764.0" y="813816"/>
            <a:ext cx="0.0" cy="768096"/>
          </a:xfrm>
          <a:prstGeom prst="line">
            <a:avLst/>
          </a:prstGeom>
          <a:ln w="1524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4320" y="1051560"/>
            <a:ext cx="1265163" cy="475488"/>
          </a:xfrm>
          <a:prstGeom prst="roundRect">
            <a:avLst/>
          </a:prstGeom>
          <a:solidFill>
            <a:srgbClr val="0F4A96"/>
          </a:solidFill>
          <a:ln w="762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051560"/>
            <a:ext cx="12651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总回波输入
N=6链路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9483" y="1118859"/>
            <a:ext cx="137160" cy="276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18"/>
                </a:solidFill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76643" y="1051560"/>
            <a:ext cx="1265163" cy="475488"/>
          </a:xfrm>
          <a:prstGeom prst="roundRect">
            <a:avLst/>
          </a:prstGeom>
          <a:solidFill>
            <a:srgbClr val="0F4A96"/>
          </a:solidFill>
          <a:ln w="762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76643" y="1051560"/>
            <a:ext cx="12651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无MTI积累
CFAR SNR&gt;12dB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1807" y="1118859"/>
            <a:ext cx="137160" cy="276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18"/>
                </a:solidFill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78967" y="1051560"/>
            <a:ext cx="1159733" cy="475488"/>
          </a:xfrm>
          <a:prstGeom prst="roundRect">
            <a:avLst/>
          </a:prstGeom>
          <a:solidFill>
            <a:srgbClr val="5C2090"/>
          </a:solidFill>
          <a:ln w="762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78967" y="1051560"/>
            <a:ext cx="115973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GN 定位
强目标解算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8701" y="1118859"/>
            <a:ext cx="137160" cy="276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18"/>
                </a:solidFill>
              </a:rP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5861" y="1051560"/>
            <a:ext cx="948872" cy="475488"/>
          </a:xfrm>
          <a:prstGeom prst="roundRect">
            <a:avLst/>
          </a:prstGeom>
          <a:solidFill>
            <a:srgbClr val="7A1818"/>
          </a:solidFill>
          <a:ln w="762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5861" y="1051560"/>
            <a:ext cx="9488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SIC
强目标对消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4734" y="1118859"/>
            <a:ext cx="137160" cy="276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18"/>
                </a:solidFill>
              </a:rPr>
              <a:t>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61894" y="1051560"/>
            <a:ext cx="1476024" cy="475488"/>
          </a:xfrm>
          <a:prstGeom prst="roundRect">
            <a:avLst/>
          </a:prstGeom>
          <a:solidFill>
            <a:srgbClr val="0B726A"/>
          </a:solidFill>
          <a:ln w="762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61894" y="1051560"/>
            <a:ext cx="147602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三MTI并行
SLOW/FAST/VFAST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7918" y="1118859"/>
            <a:ext cx="137160" cy="276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18"/>
                </a:solidFill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75078" y="1051560"/>
            <a:ext cx="1265163" cy="475488"/>
          </a:xfrm>
          <a:prstGeom prst="roundRect">
            <a:avLst/>
          </a:prstGeom>
          <a:solidFill>
            <a:srgbClr val="0B726A"/>
          </a:solidFill>
          <a:ln w="762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75078" y="1051560"/>
            <a:ext cx="12651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CFAR SNR&gt;6dB
NMS去重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0242" y="1118859"/>
            <a:ext cx="137160" cy="276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18"/>
                </a:solidFill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77402" y="1051560"/>
            <a:ext cx="1265163" cy="475488"/>
          </a:xfrm>
          <a:prstGeom prst="roundRect">
            <a:avLst/>
          </a:prstGeom>
          <a:solidFill>
            <a:srgbClr val="5C2090"/>
          </a:solidFill>
          <a:ln w="762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77402" y="1051560"/>
            <a:ext cx="12651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RANSAC+GN
精化定位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2566" y="1118859"/>
            <a:ext cx="137160" cy="276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18"/>
                </a:solidFill>
              </a:rPr>
              <a:t>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79726" y="1051560"/>
            <a:ext cx="1265163" cy="475488"/>
          </a:xfrm>
          <a:prstGeom prst="roundRect">
            <a:avLst/>
          </a:prstGeom>
          <a:solidFill>
            <a:srgbClr val="147438"/>
          </a:solidFill>
          <a:ln w="762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9726" y="1051560"/>
            <a:ext cx="12651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卡尔曼跟踪
相参增益估计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44890" y="1118859"/>
            <a:ext cx="137160" cy="276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C518"/>
                </a:solidFill>
              </a:rPr>
              <a:t>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82050" y="1051560"/>
            <a:ext cx="632581" cy="475488"/>
          </a:xfrm>
          <a:prstGeom prst="roundRect">
            <a:avLst/>
          </a:prstGeom>
          <a:solidFill>
            <a:srgbClr val="147438"/>
          </a:solidFill>
          <a:ln w="762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82050" y="1051560"/>
            <a:ext cx="63258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目标输出
位置/速度/ID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1673352"/>
            <a:ext cx="2827782" cy="2852928"/>
          </a:xfrm>
          <a:prstGeom prst="rect">
            <a:avLst/>
          </a:prstGeom>
          <a:solidFill>
            <a:srgbClr val="0F3568"/>
          </a:solidFill>
          <a:ln w="6350">
            <a:solidFill>
              <a:srgbClr val="1A4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1673352"/>
            <a:ext cx="64008" cy="2852928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8328" y="1673352"/>
            <a:ext cx="2763774" cy="365760"/>
          </a:xfrm>
          <a:prstGeom prst="rect">
            <a:avLst/>
          </a:prstGeom>
          <a:solidFill>
            <a:srgbClr val="1A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" y="1728216"/>
            <a:ext cx="227914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时延对齐</a:t>
            </a:r>
          </a:p>
        </p:txBody>
      </p:sp>
      <p:sp>
        <p:nvSpPr>
          <p:cNvPr id="43" name="Oval 42"/>
          <p:cNvSpPr/>
          <p:nvPr/>
        </p:nvSpPr>
        <p:spPr>
          <a:xfrm>
            <a:off x="329184" y="1636776"/>
            <a:ext cx="438912" cy="438912"/>
          </a:xfrm>
          <a:prstGeom prst="ellipse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5C518"/>
                </a:solidFill>
              </a:rPr>
              <a:t>①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65760.0" y="2039112"/>
            <a:ext cx="2681478.0" cy="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38328" y="2057400"/>
            <a:ext cx="2763774" cy="2487168"/>
          </a:xfrm>
          <a:prstGeom prst="rect">
            <a:avLst/>
          </a:prstGeom>
          <a:solidFill>
            <a:srgbClr val="07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02336" y="2112264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北斗/GPS 双频授时 &lt; 10 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" y="2377440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互相关峰值 + 亚像素插值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2336" y="2642616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r_fold = mod(r_eq, R_unamb)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2336" y="2907792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rbin = round(r_fold/r_res)+1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" y="3172968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INS/DVL 动态载体运动预测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36" y="3438144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精度目标：Δτ &lt; 0.5 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11830" y="1673352"/>
            <a:ext cx="2827782" cy="2852928"/>
          </a:xfrm>
          <a:prstGeom prst="rect">
            <a:avLst/>
          </a:prstGeom>
          <a:solidFill>
            <a:srgbClr val="0F3568"/>
          </a:solidFill>
          <a:ln w="6350">
            <a:solidFill>
              <a:srgbClr val="1A4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11830" y="1673352"/>
            <a:ext cx="64008" cy="2852928"/>
          </a:xfrm>
          <a:prstGeom prst="rect">
            <a:avLst/>
          </a:prstGeom>
          <a:solidFill>
            <a:srgbClr val="0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75838" y="1673352"/>
            <a:ext cx="2763774" cy="365760"/>
          </a:xfrm>
          <a:prstGeom prst="rect">
            <a:avLst/>
          </a:prstGeom>
          <a:solidFill>
            <a:srgbClr val="0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705606" y="1728216"/>
            <a:ext cx="227914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相位校正</a:t>
            </a:r>
          </a:p>
        </p:txBody>
      </p:sp>
      <p:sp>
        <p:nvSpPr>
          <p:cNvPr id="56" name="Oval 55"/>
          <p:cNvSpPr/>
          <p:nvPr/>
        </p:nvSpPr>
        <p:spPr>
          <a:xfrm>
            <a:off x="3266694" y="1636776"/>
            <a:ext cx="438912" cy="438912"/>
          </a:xfrm>
          <a:prstGeom prst="ellipse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5C518"/>
                </a:solidFill>
              </a:rPr>
              <a:t>②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303270.0" y="2039112"/>
            <a:ext cx="2681478.0" cy="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3275838" y="2057400"/>
            <a:ext cx="2763774" cy="2487168"/>
          </a:xfrm>
          <a:prstGeom prst="rect">
            <a:avLst/>
          </a:prstGeom>
          <a:solidFill>
            <a:srgbClr val="07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39846" y="2112264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相干度估计（cfar_detect_1d）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39846" y="2377440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s_rot = s·exp(−j2π·fd0·PRI·n)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39846" y="2642616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coh = |Σs_rot| / Σ|s_rot|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9846" y="2907792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相位斜率一致性（抑制镜像峰）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39846" y="3172968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ph_cons = exp(−|Δfd|/Δfd_ref)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39846" y="3438144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EKF/PLL 实时跟踪相位漂移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49340" y="1673352"/>
            <a:ext cx="2827782" cy="2852928"/>
          </a:xfrm>
          <a:prstGeom prst="rect">
            <a:avLst/>
          </a:prstGeom>
          <a:solidFill>
            <a:srgbClr val="0F3568"/>
          </a:solidFill>
          <a:ln w="6350">
            <a:solidFill>
              <a:srgbClr val="1A4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49340" y="1673352"/>
            <a:ext cx="64008" cy="2852928"/>
          </a:xfrm>
          <a:prstGeom prst="rect">
            <a:avLst/>
          </a:prstGeom>
          <a:solidFill>
            <a:srgbClr val="7B3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13348" y="1673352"/>
            <a:ext cx="2763774" cy="365760"/>
          </a:xfrm>
          <a:prstGeom prst="rect">
            <a:avLst/>
          </a:prstGeom>
          <a:solidFill>
            <a:srgbClr val="7B3A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43116" y="1728216"/>
            <a:ext cx="227914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MRC 合并</a:t>
            </a:r>
          </a:p>
        </p:txBody>
      </p:sp>
      <p:sp>
        <p:nvSpPr>
          <p:cNvPr id="69" name="Oval 68"/>
          <p:cNvSpPr/>
          <p:nvPr/>
        </p:nvSpPr>
        <p:spPr>
          <a:xfrm>
            <a:off x="6204204" y="1636776"/>
            <a:ext cx="438912" cy="438912"/>
          </a:xfrm>
          <a:prstGeom prst="ellipse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5C518"/>
                </a:solidFill>
              </a:rPr>
              <a:t>③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240780.0" y="2039112"/>
            <a:ext cx="2681478.0" cy="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6213348" y="2057400"/>
            <a:ext cx="2763774" cy="2487168"/>
          </a:xfrm>
          <a:prstGeom prst="rect">
            <a:avLst/>
          </a:prstGeom>
          <a:solidFill>
            <a:srgbClr val="07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77356" y="2112264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综合评分（cfar_detect_1d）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77356" y="2377440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score = SNR × (0.3+0.7·coh)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77356" y="2642616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       × (0.4+0.6·ph_cons)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77356" y="2907792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MRC 合并：Σ cell·e^{jφ}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77356" y="3172968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G = 10·lg(|coh|²/incoh)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77356" y="3438144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分层相参：质量异构时组内相参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086850" y="1673352"/>
            <a:ext cx="2827782" cy="2852928"/>
          </a:xfrm>
          <a:prstGeom prst="rect">
            <a:avLst/>
          </a:prstGeom>
          <a:solidFill>
            <a:srgbClr val="0F3568"/>
          </a:solidFill>
          <a:ln w="6350">
            <a:solidFill>
              <a:srgbClr val="1A4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086850" y="1673352"/>
            <a:ext cx="64008" cy="2852928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50858" y="1673352"/>
            <a:ext cx="2763774" cy="365760"/>
          </a:xfrm>
          <a:prstGeom prst="rect">
            <a:avLst/>
          </a:prstGeom>
          <a:solidFill>
            <a:srgbClr val="E8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580626" y="1728216"/>
            <a:ext cx="227914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三MTI + SIC</a:t>
            </a:r>
          </a:p>
        </p:txBody>
      </p:sp>
      <p:sp>
        <p:nvSpPr>
          <p:cNvPr id="82" name="Oval 81"/>
          <p:cNvSpPr/>
          <p:nvPr/>
        </p:nvSpPr>
        <p:spPr>
          <a:xfrm>
            <a:off x="9141714" y="1636776"/>
            <a:ext cx="438912" cy="438912"/>
          </a:xfrm>
          <a:prstGeom prst="ellipse">
            <a:avLst/>
          </a:prstGeom>
          <a:solidFill>
            <a:srgbClr val="05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5C518"/>
                </a:solidFill>
              </a:rPr>
              <a:t>④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178290.0" y="2039112"/>
            <a:ext cx="2681478.0" cy="0"/>
          </a:xfrm>
          <a:prstGeom prst="line">
            <a:avLst/>
          </a:prstGeom>
          <a:ln w="635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9150858" y="2057400"/>
            <a:ext cx="2763774" cy="2487168"/>
          </a:xfrm>
          <a:prstGeom prst="rect">
            <a:avLst/>
          </a:prstGeom>
          <a:solidFill>
            <a:srgbClr val="07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214866" y="2112264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三通道并行 MTI：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14866" y="2377440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SLOW  → [1,−1]   &lt;230 m/s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14866" y="2642616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FAST  → [1,−2,1]  230~400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14866" y="2907792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7ACFFF"/>
                </a:solidFill>
              </a:rPr>
              <a:t>   VFAST → [1,−3,3,−1] &gt;400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14866" y="3172968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多帧积累：beta=0.65 powBank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14866" y="3438144"/>
            <a:ext cx="264490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</a:rPr>
              <a:t>• SIC 强目标对消 → 弱目标提取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74320" y="4270248"/>
            <a:ext cx="64008" cy="2743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5760" y="42702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</a:rPr>
              <a:t>  关键性能指标（efficiency_boundary_report + cfar 参数）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274320" y="4562856"/>
            <a:ext cx="11640312" cy="0"/>
          </a:xfrm>
          <a:prstGeom prst="line">
            <a:avLst/>
          </a:prstGeom>
          <a:ln w="10160">
            <a:solidFill>
              <a:srgbClr val="F5C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Table 93"/>
          <p:cNvGraphicFramePr>
            <a:graphicFrameLocks noGrp="1"/>
          </p:cNvGraphicFramePr>
          <p:nvPr/>
        </p:nvGraphicFramePr>
        <p:xfrm>
          <a:off x="274320" y="4617720"/>
          <a:ext cx="11640312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062"/>
                <a:gridCol w="2328062"/>
                <a:gridCol w="2328062"/>
                <a:gridCol w="2328062"/>
                <a:gridCol w="2328064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5C518"/>
                          </a:solidFill>
                        </a:rPr>
                        <a:t>合并策略</a:t>
                      </a:r>
                    </a:p>
                  </a:txBody>
                  <a:tcPr>
                    <a:solidFill>
                      <a:srgbClr val="0F3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5C518"/>
                          </a:solidFill>
                        </a:rPr>
                        <a:t>同步精度要求</a:t>
                      </a:r>
                    </a:p>
                  </a:txBody>
                  <a:tcPr>
                    <a:solidFill>
                      <a:srgbClr val="0F3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5C518"/>
                          </a:solidFill>
                        </a:rPr>
                        <a:t>算法延迟</a:t>
                      </a:r>
                    </a:p>
                  </a:txBody>
                  <a:tcPr>
                    <a:solidFill>
                      <a:srgbClr val="0F3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5C518"/>
                          </a:solidFill>
                        </a:rPr>
                        <a:t>MATLAB 参数 / 函数</a:t>
                      </a:r>
                    </a:p>
                  </a:txBody>
                  <a:tcPr>
                    <a:solidFill>
                      <a:srgbClr val="0F3E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5C518"/>
                          </a:solidFill>
                        </a:rPr>
                        <a:t>适用场景</a:t>
                      </a:r>
                    </a:p>
                  </a:txBody>
                  <a:tcPr>
                    <a:solidFill>
                      <a:srgbClr val="0F3E7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导频相参合并</a:t>
                      </a:r>
                    </a:p>
                  </a:txBody>
                  <a:tcPr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FFFFF"/>
                          </a:solidFill>
                        </a:rPr>
                        <a:t>时延 &lt; 10 ns，Δφ &lt; π/8</a:t>
                      </a:r>
                    </a:p>
                  </a:txBody>
                  <a:tcPr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FFFFF"/>
                          </a:solidFill>
                        </a:rPr>
                        <a:t>&lt; 1 ms</a:t>
                      </a:r>
                    </a:p>
                  </a:txBody>
                  <a:tcPr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sys.fc=500M，Nc=64，cfar.min_snr_db=6</a:t>
                      </a:r>
                    </a:p>
                  </a:txBody>
                  <a:tcPr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协同组网、慢机动</a:t>
                      </a:r>
                    </a:p>
                  </a:txBody>
                  <a:tcPr>
                    <a:solidFill>
                      <a:srgbClr val="0D2A5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回波自校准合并</a:t>
                      </a:r>
                    </a:p>
                  </a:txBody>
                  <a:tcPr>
                    <a:solidFill>
                      <a:srgbClr val="071C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FFFFF"/>
                          </a:solidFill>
                        </a:rPr>
                        <a:t>时延 &lt; 50 ns</a:t>
                      </a:r>
                    </a:p>
                  </a:txBody>
                  <a:tcPr>
                    <a:solidFill>
                      <a:srgbClr val="071C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FFFFF"/>
                          </a:solidFill>
                        </a:rPr>
                        <a:t>1~10 ms</a:t>
                      </a:r>
                    </a:p>
                  </a:txBody>
                  <a:tcPr>
                    <a:solidFill>
                      <a:srgbClr val="071C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track_aided_coherent，used ≥ 3 链路</a:t>
                      </a:r>
                    </a:p>
                  </a:txBody>
                  <a:tcPr>
                    <a:solidFill>
                      <a:srgbClr val="071C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无导频、通信受限</a:t>
                      </a:r>
                    </a:p>
                  </a:txBody>
                  <a:tcPr>
                    <a:solidFill>
                      <a:srgbClr val="071C3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三MTI 分层合并</a:t>
                      </a:r>
                    </a:p>
                  </a:txBody>
                  <a:tcPr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FFFFF"/>
                          </a:solidFill>
                        </a:rPr>
                        <a:t>时延 &lt; 100 ns，coh ≥ 0.08</a:t>
                      </a:r>
                    </a:p>
                  </a:txBody>
                  <a:tcPr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FFFFF"/>
                          </a:solidFill>
                        </a:rPr>
                        <a:t>低</a:t>
                      </a:r>
                    </a:p>
                  </a:txBody>
                  <a:tcPr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mti_filter1/2/3，beta=0.65，SpeedSplit</a:t>
                      </a:r>
                    </a:p>
                  </a:txBody>
                  <a:tcPr>
                    <a:solidFill>
                      <a:srgbClr val="0D2A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节点多、同步异构</a:t>
                      </a:r>
                    </a:p>
                  </a:txBody>
                  <a:tcPr>
                    <a:solidFill>
                      <a:srgbClr val="0D2A54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SIC + 相参合并</a:t>
                      </a:r>
                    </a:p>
                  </a:txBody>
                  <a:tcPr>
                    <a:solidFill>
                      <a:srgbClr val="071C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FFFFF"/>
                          </a:solidFill>
                        </a:rPr>
                        <a:t>强目标 SNR &gt; 12 dB</a:t>
                      </a:r>
                    </a:p>
                  </a:txBody>
                  <a:tcPr>
                    <a:solidFill>
                      <a:srgbClr val="071C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FFFFFF"/>
                          </a:solidFill>
                        </a:rPr>
                        <a:t>两轮 ~2 ms</a:t>
                      </a:r>
                    </a:p>
                  </a:txBody>
                  <a:tcPr>
                    <a:solidFill>
                      <a:srgbClr val="071C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process_all_links_sic，sic_targets</a:t>
                      </a:r>
                    </a:p>
                  </a:txBody>
                  <a:tcPr>
                    <a:solidFill>
                      <a:srgbClr val="071C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FFFFFF"/>
                          </a:solidFill>
                        </a:rPr>
                        <a:t>强弱目标共存</a:t>
                      </a:r>
                    </a:p>
                  </a:txBody>
                  <a:tcPr>
                    <a:solidFill>
                      <a:srgbClr val="071C3D"/>
                    </a:solidFill>
                  </a:tcPr>
                </a:tc>
              </a:tr>
            </a:tbl>
          </a:graphicData>
        </a:graphic>
      </p:graphicFrame>
      <p:cxnSp>
        <p:nvCxnSpPr>
          <p:cNvPr id="95" name="Connector 94"/>
          <p:cNvCxnSpPr/>
          <p:nvPr/>
        </p:nvCxnSpPr>
        <p:spPr>
          <a:xfrm>
            <a:off x="274320" y="6364224"/>
            <a:ext cx="11640312" cy="0"/>
          </a:xfrm>
          <a:prstGeom prst="line">
            <a:avLst/>
          </a:prstGeom>
          <a:ln w="7620">
            <a:solidFill>
              <a:srgbClr val="234E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256032" y="6437376"/>
            <a:ext cx="36576" cy="31089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29184" y="6455664"/>
            <a:ext cx="11567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B8D0E8"/>
                </a:solidFill>
              </a:rPr>
              <a:t>  ▶  核心权衡：空海高动态平台需在「估计精度 — 计算实时性 — 通信开销」三者间最优平衡；分层相参策略（SIC强目标 → 三MTI弱目标 → MRC合并）是算法设计核心。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