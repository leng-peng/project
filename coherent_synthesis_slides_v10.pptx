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498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749808"/>
            <a:ext cx="12188952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9184" y="9144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多节点信号级高效相参合成机理与方法  ·  研究方案框架图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5720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CF0"/>
                </a:solidFill>
              </a:rPr>
              <a:t>Research Framework: Mechanism &amp; Methods for Efficient Multi-Node Signal-Level Coherent Synthesis</a:t>
            </a:r>
          </a:p>
        </p:txBody>
      </p:sp>
      <p:sp>
        <p:nvSpPr>
          <p:cNvPr id="7" name="Oval 6"/>
          <p:cNvSpPr/>
          <p:nvPr/>
        </p:nvSpPr>
        <p:spPr>
          <a:xfrm>
            <a:off x="11457432" y="118872"/>
            <a:ext cx="512064" cy="512064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1/1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877824"/>
            <a:ext cx="3788664" cy="548640"/>
          </a:xfrm>
          <a:prstGeom prst="round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23544"/>
            <a:ext cx="3660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应用需求牵引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133856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远程组网精确打击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1280160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低截获·高机动探测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1426464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多平台协同感知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1272" y="1060704"/>
            <a:ext cx="11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0144" y="877824"/>
            <a:ext cx="3788664" cy="548640"/>
          </a:xfrm>
          <a:prstGeom prst="roundRect">
            <a:avLst/>
          </a:prstGeom>
          <a:solidFill>
            <a:srgbClr val="8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1584" y="923544"/>
            <a:ext cx="3660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工程技术挑战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9872" y="1133856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严苛时频同步约束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9872" y="1280160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高动态时变相位误差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9872" y="1426464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多平台异步融合难题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8808" y="1060704"/>
            <a:ext cx="11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7680" y="877824"/>
            <a:ext cx="3788664" cy="548640"/>
          </a:xfrm>
          <a:prstGeom prst="roundRect">
            <a:avLst/>
          </a:prstGeom>
          <a:solidFill>
            <a:srgbClr val="6E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9120" y="923544"/>
            <a:ext cx="3660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核心科学空白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7408" y="1133856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增益退化律未量化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7408" y="1280160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相位估计CRLB边界不清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7408" y="1426464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最优融合准则缺失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39796.0" y="1426464"/>
            <a:ext cx="0.0" cy="77724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866644" y="138988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4B5"/>
                </a:solidFill>
              </a:rPr>
              <a:t>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.0" y="1426464"/>
            <a:ext cx="0.0" cy="77724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21324" y="138988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4B5"/>
                </a:solidFill>
              </a:rPr>
              <a:t>▼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49156.0" y="1426464"/>
            <a:ext cx="0.0" cy="77724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76004" y="138988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4B5"/>
                </a:solidFill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" y="1536192"/>
            <a:ext cx="1024128" cy="3419856"/>
          </a:xfrm>
          <a:prstGeom prst="rect">
            <a:avLst/>
          </a:prstGeom>
          <a:solidFill>
            <a:srgbClr val="B0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92608" y="1513332"/>
            <a:ext cx="1024128" cy="3419856"/>
          </a:xfrm>
          <a:prstGeom prst="round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2608" y="1513332"/>
            <a:ext cx="91440" cy="3419856"/>
          </a:xfrm>
          <a:prstGeom prst="rect">
            <a:avLst/>
          </a:prstGeom>
          <a:solidFill>
            <a:srgbClr val="50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2857500"/>
            <a:ext cx="8778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研
究
目
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4549140"/>
            <a:ext cx="950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C4FF"/>
                </a:solidFill>
              </a:rPr>
              <a:t>Research
Objectives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95076" y="1536192"/>
            <a:ext cx="1024128" cy="3419856"/>
          </a:xfrm>
          <a:prstGeom prst="rect">
            <a:avLst/>
          </a:prstGeom>
          <a:solidFill>
            <a:srgbClr val="B0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872216" y="1513332"/>
            <a:ext cx="1024128" cy="3419856"/>
          </a:xfrm>
          <a:prstGeom prst="round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04904" y="1513332"/>
            <a:ext cx="91440" cy="3419856"/>
          </a:xfrm>
          <a:prstGeom prst="rect">
            <a:avLst/>
          </a:prstGeom>
          <a:solidFill>
            <a:srgbClr val="50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90504" y="1549908"/>
            <a:ext cx="896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预
期
成
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2336292"/>
            <a:ext cx="914400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✓ G≥14 dB（N=6）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27080" y="2478024"/>
            <a:ext cx="914400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✓ σ_est &lt; π/8（SNR≥6dB）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27080" y="2619756"/>
            <a:ext cx="914400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✓ 延迟 &lt; 9 ms（实时）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27080" y="2761488"/>
            <a:ext cx="914400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✓ 发表 SCI 论文 2~3 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27080" y="2903220"/>
            <a:ext cx="914400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✓ 申请发明专利 1~2 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31036" y="1536192"/>
            <a:ext cx="3063240" cy="71323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08176" y="1513332"/>
            <a:ext cx="3063240" cy="713232"/>
          </a:xfrm>
          <a:prstGeom prst="rect">
            <a:avLst/>
          </a:prstGeom>
          <a:solidFill>
            <a:srgbClr val="FFF4EE"/>
          </a:solidFill>
          <a:ln w="10160">
            <a:solidFill>
              <a:srgbClr val="B5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408176" y="1513332"/>
            <a:ext cx="3063240" cy="310896"/>
          </a:xfrm>
          <a:prstGeom prst="rect">
            <a:avLst/>
          </a:prstGeom>
          <a:solidFill>
            <a:srgbClr val="B5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408176" y="1824228"/>
            <a:ext cx="82296" cy="402336"/>
          </a:xfrm>
          <a:prstGeom prst="rect">
            <a:avLst/>
          </a:prstGeom>
          <a:solidFill>
            <a:srgbClr val="B5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67612" y="1527048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B54A00"/>
                </a:solidFill>
              </a:rPr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19656" y="1549908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FFFFFF"/>
                </a:solidFill>
              </a:rPr>
              <a:t>科学问题 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19656" y="1696212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AFF"/>
                </a:solidFill>
              </a:rPr>
              <a:t>增益退化规律（SNR增益律）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1874520"/>
            <a:ext cx="2862072" cy="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B54A00"/>
                </a:solidFill>
              </a:rPr>
              <a:t>增益G与同步误差(σ_τ,σ_φ,σ_f)的定量关系？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" y="1885674"/>
            <a:ext cx="2862072" cy="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• N节点理论上限 G=N² 在工程约束下如何退化？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54480" y="1896828"/>
            <a:ext cx="2862072" cy="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• 效能保持90%的最大容忍误差边界是多少？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85716" y="1536192"/>
            <a:ext cx="3063240" cy="71323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62856" y="1513332"/>
            <a:ext cx="3063240" cy="713232"/>
          </a:xfrm>
          <a:prstGeom prst="rect">
            <a:avLst/>
          </a:prstGeom>
          <a:solidFill>
            <a:srgbClr val="FFF4EE"/>
          </a:solidFill>
          <a:ln w="10160">
            <a:solidFill>
              <a:srgbClr val="8B2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62856" y="1513332"/>
            <a:ext cx="3063240" cy="310896"/>
          </a:xfrm>
          <a:prstGeom prst="rect">
            <a:avLst/>
          </a:prstGeom>
          <a:solidFill>
            <a:srgbClr val="8B2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62856" y="1824228"/>
            <a:ext cx="82296" cy="402336"/>
          </a:xfrm>
          <a:prstGeom prst="rect">
            <a:avLst/>
          </a:prstGeom>
          <a:solidFill>
            <a:srgbClr val="8B2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622292" y="1527048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8B2E00"/>
                </a:solidFill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74336" y="1549908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FFFFFF"/>
                </a:solidFill>
              </a:rPr>
              <a:t>科学问题 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74336" y="1696212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AFF"/>
                </a:solidFill>
              </a:rPr>
              <a:t>时变相位误差建模与可估计性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60" y="1874520"/>
            <a:ext cx="2862072" cy="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8B2E00"/>
                </a:solidFill>
              </a:rPr>
              <a:t>高动态场景下相位漂移率的最优估计精度边界？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9160" y="1885674"/>
            <a:ext cx="2862072" cy="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• Δφ_k(t) 的非平稳模型如何准确刻画？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09160" y="1896828"/>
            <a:ext cx="2862072" cy="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• 无导频条件下 CRLB 与帧长/SNR 的约束关系？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40396" y="1536192"/>
            <a:ext cx="3063240" cy="71323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17536" y="1513332"/>
            <a:ext cx="3063240" cy="713232"/>
          </a:xfrm>
          <a:prstGeom prst="rect">
            <a:avLst/>
          </a:prstGeom>
          <a:solidFill>
            <a:srgbClr val="FFF4EE"/>
          </a:solidFill>
          <a:ln w="10160">
            <a:solidFill>
              <a:srgbClr val="6E2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17536" y="1513332"/>
            <a:ext cx="3063240" cy="310896"/>
          </a:xfrm>
          <a:prstGeom prst="rect">
            <a:avLst/>
          </a:prstGeom>
          <a:solidFill>
            <a:srgbClr val="6E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17536" y="1824228"/>
            <a:ext cx="82296" cy="402336"/>
          </a:xfrm>
          <a:prstGeom prst="rect">
            <a:avLst/>
          </a:prstGeom>
          <a:solidFill>
            <a:srgbClr val="6E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776972" y="1527048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6E2000"/>
                </a:solidFill>
              </a:rPr>
              <a:t>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29016" y="1549908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FFFFFF"/>
                </a:solidFill>
              </a:rPr>
              <a:t>科学问题 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29016" y="1696212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AFF"/>
                </a:solidFill>
              </a:rPr>
              <a:t>信号质量自适应最优融合准则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3840" y="1874520"/>
            <a:ext cx="2862072" cy="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6E2000"/>
                </a:solidFill>
              </a:rPr>
              <a:t>SNR、相位一致性、帧长联合约束下最优融合？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63840" y="1885674"/>
            <a:ext cx="2862072" cy="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• 异构节点质量差异大时如何稳健合并？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63840" y="1896828"/>
            <a:ext cx="2862072" cy="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• 层次化处理框架的实时复杂度如何优化？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939796.0" y="2226564"/>
            <a:ext cx="0.0" cy="77724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2866644" y="218998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4B5"/>
                </a:solidFill>
              </a:rPr>
              <a:t>▼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094476.0" y="2226564"/>
            <a:ext cx="0.0" cy="77724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021324" y="218998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4B5"/>
                </a:solidFill>
              </a:rPr>
              <a:t>▼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9249156.0" y="2226564"/>
            <a:ext cx="0.0" cy="77724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9176004" y="218998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4B5"/>
                </a:solidFill>
              </a:rPr>
              <a:t>▼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31036" y="2336292"/>
            <a:ext cx="3063240" cy="1572768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408176" y="2313432"/>
            <a:ext cx="3063240" cy="1572768"/>
          </a:xfrm>
          <a:prstGeom prst="rect">
            <a:avLst/>
          </a:prstGeom>
          <a:solidFill>
            <a:srgbClr val="EAF6EF"/>
          </a:solidFill>
          <a:ln w="10160">
            <a:solidFill>
              <a:srgbClr val="157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408176" y="2313432"/>
            <a:ext cx="3063240" cy="329184"/>
          </a:xfrm>
          <a:prstGeom prst="rect">
            <a:avLst/>
          </a:prstGeom>
          <a:solidFill>
            <a:srgbClr val="15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408176" y="2642616"/>
            <a:ext cx="82296" cy="1243584"/>
          </a:xfrm>
          <a:prstGeom prst="rect">
            <a:avLst/>
          </a:prstGeom>
          <a:solidFill>
            <a:srgbClr val="15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467612" y="2336292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57A35"/>
                </a:solidFill>
              </a:rPr>
              <a:t>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19656" y="2350008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研究内容一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19656" y="2514600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AFF"/>
                </a:solidFill>
              </a:rPr>
              <a:t>增益退化端到端量化模型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54480" y="2692908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建立时延/相位/频偏→合并增益G的统一传播链路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54480" y="2704068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7A35"/>
                </a:solidFill>
              </a:rPr>
              <a:t>G_eff = G·exp(−σ²_φ)·sinc²(σ_τB)·sinc²(σ_fNcPRI)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554480" y="2715229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量化"效能90%保持"误差边界：工程容差准则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54480" y="2726390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N=2,4,6节点仿真验证退化曲线与灵敏度分析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54480" y="2737551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推导 BCRLB 效能下界·对比蒙特卡洛仿真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54480" y="2748712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输出 G_eff(σ_τ,σ_φ,σ_f) 三维效能图谱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85716" y="2336292"/>
            <a:ext cx="3063240" cy="1572768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562856" y="2313432"/>
            <a:ext cx="3063240" cy="1572768"/>
          </a:xfrm>
          <a:prstGeom prst="rect">
            <a:avLst/>
          </a:prstGeom>
          <a:solidFill>
            <a:srgbClr val="E6F5F4"/>
          </a:solidFill>
          <a:ln w="10160">
            <a:solidFill>
              <a:srgbClr val="00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562856" y="2313432"/>
            <a:ext cx="3063240" cy="329184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562856" y="2642616"/>
            <a:ext cx="82296" cy="1243584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622292" y="2336292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07C78"/>
                </a:solidFill>
              </a:rPr>
              <a:t>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74336" y="2350008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研究内容二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974336" y="2514600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AFF"/>
                </a:solidFill>
              </a:rPr>
              <a:t>高动态时变相位误差建模与实时估计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09160" y="2692908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建立非平稳相位模型：运动/振荡/多普勒三分量叠加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09160" y="2704068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C78"/>
                </a:solidFill>
              </a:rPr>
              <a:t>Δφ_k(t) = φ_delay(t) + φ_osc(t) + φ_Doppler(t)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09160" y="2715229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无导频自校准：互相关亚像素峰值→EKF实时跟踪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09160" y="2726390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推导最小可辨识帧长 N_c,min 与 SNR 联合约束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09160" y="2737551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自适应帧长选择准则：精度-延迟动态权衡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09160" y="2748712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SNR≥6dB时 σ_est &lt; π/8，满足 G_eff ≥ 90%G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740396" y="2336292"/>
            <a:ext cx="3063240" cy="1572768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717536" y="2313432"/>
            <a:ext cx="3063240" cy="1572768"/>
          </a:xfrm>
          <a:prstGeom prst="rect">
            <a:avLst/>
          </a:prstGeom>
          <a:solidFill>
            <a:srgbClr val="E8F4F2"/>
          </a:solidFill>
          <a:ln w="10160">
            <a:solidFill>
              <a:srgbClr val="0E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717536" y="2313432"/>
            <a:ext cx="3063240" cy="329184"/>
          </a:xfrm>
          <a:prstGeom prst="rect">
            <a:avLst/>
          </a:prstGeom>
          <a:solidFill>
            <a:srgbClr val="0E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717536" y="2642616"/>
            <a:ext cx="82296" cy="1243584"/>
          </a:xfrm>
          <a:prstGeom prst="rect">
            <a:avLst/>
          </a:prstGeom>
          <a:solidFill>
            <a:srgbClr val="0E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776972" y="2336292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6B5E"/>
                </a:solidFill>
              </a:rPr>
              <a:t>三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129016" y="2350008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研究内容三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129016" y="2514600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AFF"/>
                </a:solidFill>
              </a:rPr>
              <a:t>质量自适应MRC合并与层次化处理框架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863840" y="2692908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MRC权值：w_k = SNR_k·coh_k·ph_cons_k 三因子联合估计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863840" y="2704068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E6B5E"/>
                </a:solidFill>
              </a:rPr>
              <a:t>w_k ∝ SNR_k · coh_k · ph_cons_k  (在线迭代更新)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863840" y="2715229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稳健机制：相位估计失败→自动降权，防止输出突变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863840" y="2726390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分层策略：强目标SIC对消→弱目标MTI→统一MRC合并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863840" y="2737551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子带分解+稀疏采样：复杂度降一量级→延迟&lt;9 ms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863840" y="2748712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数据集：MATLAB端到端仿真+半实物验证平台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2939796.0" y="3886200"/>
            <a:ext cx="0.0" cy="77724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2866644" y="3849624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4B5"/>
                </a:solidFill>
              </a:rPr>
              <a:t>▼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6094476.0" y="3886200"/>
            <a:ext cx="0.0" cy="77724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6021324" y="3849624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4B5"/>
                </a:solidFill>
              </a:rPr>
              <a:t>▼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9249156.0" y="3886200"/>
            <a:ext cx="0.0" cy="77724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176004" y="3849624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4B5"/>
                </a:solidFill>
              </a:rPr>
              <a:t>▼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431036" y="3995928"/>
            <a:ext cx="3063240" cy="960120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408176" y="3973068"/>
            <a:ext cx="3063240" cy="960120"/>
          </a:xfrm>
          <a:prstGeom prst="rect">
            <a:avLst/>
          </a:prstGeom>
          <a:solidFill>
            <a:srgbClr val="EBF0FF"/>
          </a:solidFill>
          <a:ln w="10160">
            <a:solidFill>
              <a:srgbClr val="1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408176" y="3973068"/>
            <a:ext cx="3063240" cy="310896"/>
          </a:xfrm>
          <a:prstGeom prst="rect">
            <a:avLst/>
          </a:prstGeom>
          <a:solidFill>
            <a:srgbClr val="1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408176" y="4283964"/>
            <a:ext cx="82296" cy="649224"/>
          </a:xfrm>
          <a:prstGeom prst="rect">
            <a:avLst/>
          </a:prstGeom>
          <a:solidFill>
            <a:srgbClr val="1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467612" y="3986784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F6BC4"/>
                </a:solidFill>
              </a:rPr>
              <a:t>①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19656" y="4009644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FFFFFF"/>
                </a:solidFill>
              </a:rPr>
              <a:t>关键技术一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819656" y="4155948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AFF"/>
                </a:solidFill>
              </a:rPr>
              <a:t>误差传播链路建模与效能边界推导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554480" y="4334256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联合误差传播理论 + 贝叶斯效能下界（BCRLB）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554480" y="4345416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G_eff vs (σ_τ,σ_φ,σ_f) 三维效能图谱及工程容差曲线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554480" y="4356577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6BC4"/>
                </a:solidFill>
              </a:rPr>
              <a:t>• 预期：N=6时 G_eff≥14dB（误差容限内，置信度≥90%）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585716" y="3995928"/>
            <a:ext cx="3063240" cy="960120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562856" y="3973068"/>
            <a:ext cx="3063240" cy="960120"/>
          </a:xfrm>
          <a:prstGeom prst="rect">
            <a:avLst/>
          </a:prstGeom>
          <a:solidFill>
            <a:srgbClr val="F2EBFF"/>
          </a:solidFill>
          <a:ln w="10160">
            <a:solidFill>
              <a:srgbClr val="6A2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562856" y="3973068"/>
            <a:ext cx="3063240" cy="310896"/>
          </a:xfrm>
          <a:prstGeom prst="rect">
            <a:avLst/>
          </a:prstGeom>
          <a:solidFill>
            <a:srgbClr val="6A2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562856" y="4283964"/>
            <a:ext cx="82296" cy="649224"/>
          </a:xfrm>
          <a:prstGeom prst="rect">
            <a:avLst/>
          </a:prstGeom>
          <a:solidFill>
            <a:srgbClr val="6A2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622292" y="3986784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6A2BB5"/>
                </a:solidFill>
              </a:rPr>
              <a:t>②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974336" y="4009644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FFFFFF"/>
                </a:solidFill>
              </a:rPr>
              <a:t>关键技术二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974336" y="4155948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AFF"/>
                </a:solidFill>
              </a:rPr>
              <a:t>EKF 非平稳相位在线估计与自校准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709160" y="4334256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状态量[Δφ_k, φ̇_k]，过程噪声由平台运动学参数驱动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709160" y="4345416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互相关亚像素峰值提供Δτ观测，EKF步长=1 CPI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709160" y="4356577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A2BB5"/>
                </a:solidFill>
              </a:rPr>
              <a:t>• 预期：SNR≥6dB时 σ_est&lt;π/8，满足G_eff≥90%G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740396" y="3995928"/>
            <a:ext cx="3063240" cy="960120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717536" y="3973068"/>
            <a:ext cx="3063240" cy="960120"/>
          </a:xfrm>
          <a:prstGeom prst="rect">
            <a:avLst/>
          </a:prstGeom>
          <a:solidFill>
            <a:srgbClr val="E8ECF8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717536" y="3973068"/>
            <a:ext cx="306324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717536" y="4283964"/>
            <a:ext cx="82296" cy="6492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7776972" y="3986784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F3864"/>
                </a:solidFill>
              </a:rPr>
              <a:t>③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129016" y="4009644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FFFFFF"/>
                </a:solidFill>
              </a:rPr>
              <a:t>关键技术三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129016" y="4155948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AFF"/>
                </a:solidFill>
              </a:rPr>
              <a:t>分层相参策略与实时计算优化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863840" y="4334256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两轮融合：CFAR强目标SIC对消→三MTI并行+MRC合并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863840" y="4345416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子带分解压缩至&lt;5ms；精度损失&lt;0.3dB（仿真验证）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863840" y="4356577"/>
            <a:ext cx="2862072" cy="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</a:rPr>
              <a:t>• 预期：Nc=64,Nsc=1024,N=6链路→总延迟&lt;9ms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0" y="6035040"/>
            <a:ext cx="12188952" cy="347472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0" y="6035040"/>
            <a:ext cx="54864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4864" y="608076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40080" y="607161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高效性量化指标体系  Quantitative Efficiency Metrics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0080" y="6254496"/>
            <a:ext cx="225491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E080"/>
                </a:solidFill>
              </a:rPr>
              <a:t>G ≥ 14 dB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40080" y="6382512"/>
            <a:ext cx="225491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D8FF"/>
                </a:solidFill>
              </a:rPr>
              <a:t>N=6时效能指标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894990" y="6254496"/>
            <a:ext cx="225491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E080"/>
                </a:solidFill>
              </a:rPr>
              <a:t>σ_est &lt; π/8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894990" y="6382512"/>
            <a:ext cx="225491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D8FF"/>
                </a:solidFill>
              </a:rPr>
              <a:t>相位误差上限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149900" y="6254496"/>
            <a:ext cx="225491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E080"/>
                </a:solidFill>
              </a:rPr>
              <a:t>延迟 &lt; 9 ms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149900" y="6382512"/>
            <a:ext cx="225491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D8FF"/>
                </a:solidFill>
              </a:rPr>
              <a:t>实时处理指标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404811" y="6254496"/>
            <a:ext cx="225491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E080"/>
                </a:solidFill>
              </a:rPr>
              <a:t>SCI ×2~3篇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404811" y="6382512"/>
            <a:ext cx="225491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D8FF"/>
                </a:solidFill>
              </a:rPr>
              <a:t>学术成果指标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659721" y="6254496"/>
            <a:ext cx="225491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E080"/>
                </a:solidFill>
              </a:rPr>
              <a:t>发明专利 ×1~2项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659721" y="6382512"/>
            <a:ext cx="225491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D8FF"/>
                </a:solidFill>
              </a:rPr>
              <a:t>工程转化成果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2876702.4" y="6108192"/>
            <a:ext cx="0.0" cy="219456"/>
          </a:xfrm>
          <a:prstGeom prst="line">
            <a:avLst/>
          </a:prstGeom>
          <a:ln w="6350">
            <a:solidFill>
              <a:srgbClr val="60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5131612.8" y="6108192"/>
            <a:ext cx="0.0" cy="219456"/>
          </a:xfrm>
          <a:prstGeom prst="line">
            <a:avLst/>
          </a:prstGeom>
          <a:ln w="6350">
            <a:solidFill>
              <a:srgbClr val="60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7386523.199999999" y="6108192"/>
            <a:ext cx="0.0" cy="219456"/>
          </a:xfrm>
          <a:prstGeom prst="line">
            <a:avLst/>
          </a:prstGeom>
          <a:ln w="6350">
            <a:solidFill>
              <a:srgbClr val="60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9641433.6" y="6108192"/>
            <a:ext cx="0.0" cy="219456"/>
          </a:xfrm>
          <a:prstGeom prst="line">
            <a:avLst/>
          </a:prstGeom>
          <a:ln w="6350">
            <a:solidFill>
              <a:srgbClr val="60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292608" y="6419088"/>
            <a:ext cx="11603736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Rectangle 175"/>
          <p:cNvSpPr/>
          <p:nvPr/>
        </p:nvSpPr>
        <p:spPr>
          <a:xfrm>
            <a:off x="292608" y="6510528"/>
            <a:ext cx="4572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84048" y="6501384"/>
            <a:ext cx="11475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0D2A6E"/>
                </a:solidFill>
              </a:rPr>
              <a:t>  研究路径：工程需求牵引 → 三大科学问题凝练 → 三项研究内容攻关 → 三项关键技术突破 → 理论 + 算法 + 工程验证全链路闭环，最终实现 N=6 节点 G_eff≥14dB·延迟&lt;9ms 目标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