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8638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8638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457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空海场景下高效相参合成 · 问题分析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4572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C2FF"/>
                </a:solidFill>
                <a:latin typeface="Microsoft YaHei"/>
              </a:rPr>
              <a:t>2Tx海面 + 3Rx空中 · 6条双基链路 · 相位对齐 · 相参增益 7.78 dB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841248"/>
            <a:ext cx="4133087" cy="5330952"/>
          </a:xfrm>
          <a:prstGeom prst="rect">
            <a:avLst/>
          </a:prstGeom>
          <a:solidFill>
            <a:srgbClr val="0F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77824"/>
            <a:ext cx="39959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00C2FF"/>
                </a:solidFill>
                <a:latin typeface="Microsoft YaHei"/>
              </a:rPr>
              <a:t>▶ 问题背景与挑战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3931919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1">
                <a:solidFill>
                  <a:srgbClr val="00C2FF"/>
                </a:solidFill>
                <a:latin typeface="Microsoft YaHei"/>
              </a:rPr>
              <a:t>【场景构型】</a:t>
            </a:r>
          </a:p>
          <a:p>
            <a:r>
              <a:rPr sz="1300" b="0">
                <a:solidFill>
                  <a:srgbClr val="FFFFFF"/>
                </a:solidFill>
                <a:latin typeface="Microsoft YaHei"/>
              </a:rPr>
              <a:t>  发射端  Tx1 / Tx2  · 海面舰船（低速 15~18 m/s）</a:t>
            </a:r>
          </a:p>
          <a:p>
            <a:r>
              <a:rPr sz="1300" b="0">
                <a:solidFill>
                  <a:srgbClr val="FFFFFF"/>
                </a:solidFill>
                <a:latin typeface="Microsoft YaHei"/>
              </a:rPr>
              <a:t>  接收端  Rx1 / Rx2 / Rx3  · 机载（~60 m/s）</a:t>
            </a:r>
          </a:p>
          <a:p>
            <a:r>
              <a:rPr sz="1300" b="0">
                <a:solidFill>
                  <a:srgbClr val="FFFFFF"/>
                </a:solidFill>
                <a:latin typeface="Microsoft YaHei"/>
              </a:rPr>
              <a:t>  双基链路总数  L = 6，覆盖方位 360°</a:t>
            </a:r>
          </a:p>
          <a:p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r>
              <a:rPr sz="1400" b="1">
                <a:solidFill>
                  <a:srgbClr val="00C2FF"/>
                </a:solidFill>
                <a:latin typeface="Microsoft YaHei"/>
              </a:rPr>
              <a:t>【三大核心挑战】</a:t>
            </a:r>
          </a:p>
          <a:p>
            <a:r>
              <a:rPr sz="1300" b="1">
                <a:solidFill>
                  <a:srgbClr val="FFD700"/>
                </a:solidFill>
                <a:latin typeface="Microsoft YaHei"/>
              </a:rPr>
              <a:t>  ① 海杂波强干扰</a:t>
            </a:r>
          </a:p>
          <a:p>
            <a:r>
              <a:rPr sz="1200" b="0">
                <a:solidFill>
                  <a:srgbClr val="FFFFFF"/>
                </a:solidFill>
                <a:latin typeface="Microsoft YaHei"/>
              </a:rPr>
              <a:t>     K分布纹理 · 零多普勒区功率比目标高 20~40 dB</a:t>
            </a:r>
          </a:p>
          <a:p>
            <a:r>
              <a:rPr sz="1200" b="0">
                <a:solidFill>
                  <a:srgbClr val="FFFFFF"/>
                </a:solidFill>
                <a:latin typeface="Microsoft YaHei"/>
              </a:rPr>
              <a:t>     海面发射使直达/杂波无法完全分离</a:t>
            </a:r>
          </a:p>
          <a:p>
            <a:r>
              <a:rPr sz="5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r>
              <a:rPr sz="1300" b="1">
                <a:solidFill>
                  <a:srgbClr val="FFD700"/>
                </a:solidFill>
                <a:latin typeface="Microsoft YaHei"/>
              </a:rPr>
              <a:t>  ② 多链路相位异步</a:t>
            </a:r>
          </a:p>
          <a:p>
            <a:r>
              <a:rPr sz="1200" b="0">
                <a:solidFill>
                  <a:srgbClr val="FFFFFF"/>
                </a:solidFill>
                <a:latin typeface="Microsoft YaHei"/>
              </a:rPr>
              <a:t>     每条链路固有载波相位 −2π fc τₗ 各不相同</a:t>
            </a:r>
          </a:p>
          <a:p>
            <a:r>
              <a:rPr sz="1200" b="0">
                <a:solidFill>
                  <a:srgbClr val="FFFFFF"/>
                </a:solidFill>
                <a:latin typeface="Microsoft YaHei"/>
              </a:rPr>
              <a:t>     直接功率叠加损失 ≈ 3.9 dB（vs 相参叠加）</a:t>
            </a:r>
          </a:p>
          <a:p>
            <a:r>
              <a:rPr sz="5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r>
              <a:rPr sz="1300" b="1">
                <a:solidFill>
                  <a:srgbClr val="FFD700"/>
                </a:solidFill>
                <a:latin typeface="Microsoft YaHei"/>
              </a:rPr>
              <a:t>  ③ 镜像假峰 &amp; 弱目标</a:t>
            </a:r>
          </a:p>
          <a:p>
            <a:r>
              <a:rPr sz="1200" b="0">
                <a:solidFill>
                  <a:srgbClr val="FFFFFF"/>
                </a:solidFill>
                <a:latin typeface="Microsoft YaHei"/>
              </a:rPr>
              <a:t>     RD域距离/多普勒模糊产生镜像峰</a:t>
            </a:r>
          </a:p>
          <a:p>
            <a:r>
              <a:rPr sz="1200" b="0">
                <a:solidFill>
                  <a:srgbClr val="FFFFFF"/>
                </a:solidFill>
                <a:latin typeface="Microsoft YaHei"/>
              </a:rPr>
              <a:t>     目标 RCS 跨度 50 倍（0.5 ~ 25 m²）</a:t>
            </a:r>
          </a:p>
          <a:p>
            <a:r>
              <a:rPr sz="1200" b="0">
                <a:solidFill>
                  <a:srgbClr val="FFFFFF"/>
                </a:solidFill>
                <a:latin typeface="Microsoft YaHei"/>
              </a:rPr>
              <a:t>     F-22（RCS = 0.5 m²）极易漏检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1" y="841248"/>
            <a:ext cx="3310128" cy="5330952"/>
          </a:xfrm>
          <a:prstGeom prst="rect">
            <a:avLst/>
          </a:prstGeom>
          <a:solidFill>
            <a:srgbClr val="0F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1" y="877824"/>
            <a:ext cx="3172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00C2FF"/>
                </a:solidFill>
                <a:latin typeface="Microsoft YaHei"/>
              </a:rPr>
              <a:t>▶ 相参合成核心原理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325880"/>
            <a:ext cx="3108960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 b="1">
                <a:solidFill>
                  <a:srgbClr val="00C2FF"/>
                </a:solidFill>
                <a:latin typeface="Microsoft YaHei"/>
              </a:rPr>
              <a:t>【回波信号模型（OFDM）】</a:t>
            </a:r>
          </a:p>
          <a:p>
            <a:r>
              <a:rPr sz="1200" b="0">
                <a:solidFill>
                  <a:srgbClr val="B3ECFF"/>
                </a:solidFill>
                <a:latin typeface="Microsoft YaHei"/>
              </a:rPr>
              <a:t>  sₗ(k,n) = Aₗ · e^{−j2πfc·τₗ}</a:t>
            </a:r>
          </a:p>
          <a:p>
            <a:r>
              <a:rPr sz="1200" b="0">
                <a:solidFill>
                  <a:srgbClr val="B3ECFF"/>
                </a:solidFill>
                <a:latin typeface="Microsoft YaHei"/>
              </a:rPr>
              <a:t>            · e^{−j2πk·rₗ/Nsc·δr}</a:t>
            </a:r>
          </a:p>
          <a:p>
            <a:r>
              <a:rPr sz="1200" b="0">
                <a:solidFill>
                  <a:srgbClr val="B3ECFF"/>
                </a:solidFill>
                <a:latin typeface="Microsoft YaHei"/>
              </a:rPr>
              <a:t>            · e^{j2πfd,ₗ·n·TPRI}</a:t>
            </a:r>
          </a:p>
          <a:p>
            <a:r>
              <a:rPr sz="1100" b="0">
                <a:solidFill>
                  <a:srgbClr val="FFFFFF"/>
                </a:solidFill>
                <a:latin typeface="Microsoft YaHei"/>
              </a:rPr>
              <a:t>  载波相位 e^{−j2πfc·τₗ} 是异步根源</a:t>
            </a:r>
          </a:p>
          <a:p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r>
              <a:rPr sz="1300" b="1">
                <a:solidFill>
                  <a:srgbClr val="00C2FF"/>
                </a:solidFill>
                <a:latin typeface="Microsoft YaHei"/>
              </a:rPr>
              <a:t>【相位对齐公式】</a:t>
            </a:r>
          </a:p>
          <a:p>
            <a:r>
              <a:rPr sz="1200" b="0">
                <a:solidFill>
                  <a:srgbClr val="FFFFFF"/>
                </a:solidFill>
                <a:latin typeface="Microsoft YaHei"/>
              </a:rPr>
              <a:t>  预测时延：</a:t>
            </a:r>
          </a:p>
          <a:p>
            <a:r>
              <a:rPr sz="1200" b="0">
                <a:solidFill>
                  <a:srgbClr val="B3ECFF"/>
                </a:solidFill>
                <a:latin typeface="Microsoft YaHei"/>
              </a:rPr>
              <a:t>    τ̂ₗ = (‖p̂−T_ₗ‖ + ‖p̂−R_ₗ‖) / c</a:t>
            </a:r>
          </a:p>
          <a:p>
            <a:r>
              <a:rPr sz="1200" b="0">
                <a:solidFill>
                  <a:srgbClr val="FFFFFF"/>
                </a:solidFill>
                <a:latin typeface="Microsoft YaHei"/>
              </a:rPr>
              <a:t>  相参合成：</a:t>
            </a:r>
          </a:p>
          <a:p>
            <a:r>
              <a:rPr sz="1200" b="0">
                <a:solidFill>
                  <a:srgbClr val="B3ECFF"/>
                </a:solidFill>
                <a:latin typeface="Microsoft YaHei"/>
              </a:rPr>
              <a:t>    E_coh = Σ Eₗ · e^{+j2πfc·τ̂ₗ}</a:t>
            </a:r>
          </a:p>
          <a:p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r>
              <a:rPr sz="1300" b="1">
                <a:solidFill>
                  <a:srgbClr val="00C2FF"/>
                </a:solidFill>
                <a:latin typeface="Microsoft YaHei"/>
              </a:rPr>
              <a:t>【相参增益】</a:t>
            </a:r>
          </a:p>
          <a:p>
            <a:r>
              <a:rPr sz="1200" b="0">
                <a:solidFill>
                  <a:srgbClr val="B3ECFF"/>
                </a:solidFill>
                <a:latin typeface="Microsoft YaHei"/>
              </a:rPr>
              <a:t>  G_coh = 10·lg(|E_coh|² / Σ|Eₗ|²)</a:t>
            </a:r>
          </a:p>
          <a:p>
            <a:r>
              <a:rPr sz="1200" b="0">
                <a:solidFill>
                  <a:srgbClr val="FFFFFF"/>
                </a:solidFill>
                <a:latin typeface="Microsoft YaHei"/>
              </a:rPr>
              <a:t>  等幅理论上限：10·lg L = 7.78 dB</a:t>
            </a:r>
          </a:p>
          <a:p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r>
              <a:rPr sz="1300" b="1">
                <a:solidFill>
                  <a:srgbClr val="00C2FF"/>
                </a:solidFill>
                <a:latin typeface="Microsoft YaHei"/>
              </a:rPr>
              <a:t>【对齐精度要求】</a:t>
            </a:r>
          </a:p>
          <a:p>
            <a:r>
              <a:rPr sz="1200" b="0">
                <a:solidFill>
                  <a:srgbClr val="B3ECFF"/>
                </a:solidFill>
                <a:latin typeface="Microsoft YaHei"/>
              </a:rPr>
              <a:t>  |2πfc(τ̂ₗ−τₗ)| &lt; π/4</a:t>
            </a:r>
          </a:p>
          <a:p>
            <a:r>
              <a:rPr sz="1200" b="0">
                <a:solidFill>
                  <a:srgbClr val="FFFFFF"/>
                </a:solidFill>
                <a:latin typeface="Microsoft YaHei"/>
              </a:rPr>
              <a:t>  ⟹ |ΔRₗ| &lt; λ/8 = 7.5 cm</a:t>
            </a:r>
          </a:p>
          <a:p>
            <a:r>
              <a:rPr sz="1200" b="1">
                <a:solidFill>
                  <a:srgbClr val="FFD700"/>
                </a:solidFill>
                <a:latin typeface="Microsoft YaHei"/>
              </a:rPr>
              <a:t>  → 需 KF+GN 精确轨迹预测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35823" y="841248"/>
            <a:ext cx="4133087" cy="5330952"/>
          </a:xfrm>
          <a:prstGeom prst="rect">
            <a:avLst/>
          </a:prstGeom>
          <a:solidFill>
            <a:srgbClr val="0F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27263" y="877824"/>
            <a:ext cx="39959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00C2FF"/>
                </a:solidFill>
                <a:latin typeface="Microsoft YaHei"/>
              </a:rPr>
              <a:t>▶ 代码实现：轨迹辅助相参合成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1" y="1325880"/>
            <a:ext cx="3931919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 b="1">
                <a:solidFill>
                  <a:srgbClr val="00C2FF"/>
                </a:solidFill>
                <a:latin typeface="Microsoft YaHei"/>
              </a:rPr>
              <a:t>【完整处理链路（引出代码）】</a:t>
            </a:r>
          </a:p>
          <a:p>
            <a:r>
              <a:rPr sz="1200" b="0">
                <a:solidFill>
                  <a:srgbClr val="B3ECFF"/>
                </a:solidFill>
                <a:latin typeface="Microsoft YaHei"/>
              </a:rPr>
              <a:t>  ① gen_rx_ofdm_link_code_fixed</a:t>
            </a:r>
          </a:p>
          <a:p>
            <a:r>
              <a:rPr sz="1100" b="0">
                <a:solidFill>
                  <a:srgbClr val="FFFFFF"/>
                </a:solidFill>
                <a:latin typeface="Microsoft YaHei"/>
              </a:rPr>
              <a:t>     生成含载波相位的双基回波信号</a:t>
            </a:r>
          </a:p>
          <a:p>
            <a:r>
              <a:rPr sz="1100" b="0">
                <a:solidFill>
                  <a:srgbClr val="FFFFFF"/>
                </a:solidFill>
                <a:latin typeface="Microsoft YaHei"/>
              </a:rPr>
              <a:t>  ↓ 匹配滤波 + 三通道MTI（1/2/3阶）</a:t>
            </a:r>
          </a:p>
          <a:p>
            <a:r>
              <a:rPr sz="1200" b="0">
                <a:solidFill>
                  <a:srgbClr val="B3ECFF"/>
                </a:solidFill>
                <a:latin typeface="Microsoft YaHei"/>
              </a:rPr>
              <a:t>  ② cfar_detect_1d_doppler_fixed</a:t>
            </a:r>
          </a:p>
          <a:p>
            <a:r>
              <a:rPr sz="1100" b="0">
                <a:solidFill>
                  <a:srgbClr val="FFFFFF"/>
                </a:solidFill>
                <a:latin typeface="Microsoft YaHei"/>
              </a:rPr>
              <a:t>     OS-CFAR + 相位斜率一致性门限(≥0.35)</a:t>
            </a:r>
          </a:p>
          <a:p>
            <a:r>
              <a:rPr sz="1100" b="0">
                <a:solidFill>
                  <a:srgbClr val="FFFFFF"/>
                </a:solidFill>
                <a:latin typeface="Microsoft YaHei"/>
              </a:rPr>
              <a:t>  ↓ RANSAC → GN精化 → 速度LS</a:t>
            </a:r>
          </a:p>
          <a:p>
            <a:r>
              <a:rPr sz="1200" b="0">
                <a:solidFill>
                  <a:srgbClr val="B3ECFF"/>
                </a:solidFill>
                <a:latin typeface="Microsoft YaHei"/>
              </a:rPr>
              <a:t>  ③ update_tracker_stable_fixed + KF</a:t>
            </a:r>
          </a:p>
          <a:p>
            <a:r>
              <a:rPr sz="1100" b="0">
                <a:solidFill>
                  <a:srgbClr val="FFFFFF"/>
                </a:solidFill>
                <a:latin typeface="Microsoft YaHei"/>
              </a:rPr>
              <a:t>     给出精确位置预测 p̂</a:t>
            </a:r>
          </a:p>
          <a:p>
            <a:r>
              <a:rPr sz="1100" b="0">
                <a:solidFill>
                  <a:srgbClr val="FFFFFF"/>
                </a:solidFill>
                <a:latin typeface="Microsoft YaHei"/>
              </a:rPr>
              <a:t>  ↓ 代入相位补偿公式</a:t>
            </a:r>
          </a:p>
          <a:p>
            <a:r>
              <a:rPr sz="1300" b="1">
                <a:solidFill>
                  <a:srgbClr val="FFD700"/>
                </a:solidFill>
                <a:latin typeface="Microsoft YaHei"/>
              </a:rPr>
              <a:t>  ④ track_aided_coherent  ← 核心</a:t>
            </a:r>
          </a:p>
          <a:p>
            <a:r>
              <a:rPr sz="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r>
              <a:rPr sz="1300" b="1">
                <a:solidFill>
                  <a:srgbClr val="00C2FF"/>
                </a:solidFill>
                <a:latin typeface="Microsoft YaHei"/>
              </a:rPr>
              <a:t>【关键代码段】</a:t>
            </a:r>
          </a:p>
          <a:p>
            <a:r>
              <a:rPr sz="1100" b="0">
                <a:solidFill>
                  <a:srgbClr val="B3ECFF"/>
                </a:solidFill>
                <a:latin typeface="Microsoft YaHei"/>
              </a:rPr>
              <a:t>  tau = (2·r_fold) / sys.c</a:t>
            </a:r>
          </a:p>
          <a:p>
            <a:r>
              <a:rPr sz="1100" b="0">
                <a:solidFill>
                  <a:srgbClr val="B3ECFF"/>
                </a:solidFill>
                <a:latin typeface="Microsoft YaHei"/>
              </a:rPr>
              <a:t>  cell_c = cellv *</a:t>
            </a:r>
          </a:p>
          <a:p>
            <a:r>
              <a:rPr sz="1100" b="0">
                <a:solidFill>
                  <a:srgbClr val="B3ECFF"/>
                </a:solidFill>
                <a:latin typeface="Microsoft YaHei"/>
              </a:rPr>
              <a:t>    exp(1j·2π·fc·tau)</a:t>
            </a:r>
          </a:p>
          <a:p>
            <a:r>
              <a:rPr sz="1100" b="0">
                <a:solidFill>
                  <a:srgbClr val="B3ECFF"/>
                </a:solidFill>
                <a:latin typeface="Microsoft YaHei"/>
              </a:rPr>
              <a:t>  coh_sum = coh_sum + cell_c</a:t>
            </a:r>
          </a:p>
          <a:p>
            <a:r>
              <a:rPr sz="1100" b="0">
                <a:solidFill>
                  <a:srgbClr val="B3ECFF"/>
                </a:solidFill>
                <a:latin typeface="Microsoft YaHei"/>
              </a:rPr>
              <a:t>  gain = 10·log10(|coh_sum|²/</a:t>
            </a:r>
          </a:p>
          <a:p>
            <a:r>
              <a:rPr sz="1100" b="0">
                <a:solidFill>
                  <a:srgbClr val="B3ECFF"/>
                </a:solidFill>
                <a:latin typeface="Microsoft YaHei"/>
              </a:rPr>
              <a:t>           incoh_sum)</a:t>
            </a:r>
          </a:p>
          <a:p>
            <a:r>
              <a:rPr sz="3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r>
              <a:rPr sz="1100" b="0">
                <a:solidFill>
                  <a:srgbClr val="FFFFFF"/>
                </a:solidFill>
                <a:latin typeface="Microsoft YaHei"/>
              </a:rPr>
              <a:t>  coh_gain_db ∈ [−30, +7.78] dB</a:t>
            </a:r>
          </a:p>
          <a:p>
            <a:r>
              <a:rPr sz="1100" b="0">
                <a:solidFill>
                  <a:srgbClr val="FFFFFF"/>
                </a:solidFill>
                <a:latin typeface="Microsoft YaHei"/>
              </a:rPr>
              <a:t>  → 用于效能评估 &amp; 轨迹质量判断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27064"/>
            <a:ext cx="12188952" cy="630936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6263640"/>
            <a:ext cx="11823192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D700"/>
                </a:solidFill>
                <a:latin typeface="Microsoft YaHei"/>
              </a:rPr>
              <a:t>结论：轨迹辅助相参合成以 KF精确预测位置 → 计算各链路相位偏置 → 复数对齐叠加，实现 L=6 链路理论最大增益 7.78 dB，对 RCS=0.5 m² 隐身目标检测能力提升显著，相位对齐精度须 &lt; λ/8 ≈ 7.5 cm，核心实现见 track_aided_coherent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