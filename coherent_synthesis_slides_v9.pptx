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31520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731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多节点高效相参合成  ·  总体研究框架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38912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CF0"/>
                </a:solidFill>
              </a:rPr>
              <a:t>Overall Research Framework for Efficient Multi-Node Coherent Synthesis  ·  地基 / 空中 / 空海  三大平台场景</a:t>
            </a:r>
          </a:p>
        </p:txBody>
      </p:sp>
      <p:sp>
        <p:nvSpPr>
          <p:cNvPr id="7" name="Oval 6"/>
          <p:cNvSpPr/>
          <p:nvPr/>
        </p:nvSpPr>
        <p:spPr>
          <a:xfrm>
            <a:off x="11475720" y="128016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896112"/>
            <a:ext cx="2820924" cy="457200"/>
          </a:xfrm>
          <a:prstGeom prst="roundRect">
            <a:avLst/>
          </a:prstGeom>
          <a:solidFill>
            <a:srgbClr val="2C5E8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914400"/>
            <a:ext cx="27111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背景需求
探测需求与约束分析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5244" y="1010412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4116" y="896112"/>
            <a:ext cx="2820924" cy="457200"/>
          </a:xfrm>
          <a:prstGeom prst="roundRect">
            <a:avLst/>
          </a:prstGeom>
          <a:solidFill>
            <a:srgbClr val="1A5C3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8980" y="914400"/>
            <a:ext cx="27111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方法原理
高效相参合成机理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010412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896112"/>
            <a:ext cx="2820924" cy="457200"/>
          </a:xfrm>
          <a:prstGeom prst="roundRect">
            <a:avLst/>
          </a:prstGeom>
          <a:solidFill>
            <a:srgbClr val="7A3B0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914400"/>
            <a:ext cx="27111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模型流程
端到端信号处理链路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4836" y="1010412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3708" y="896112"/>
            <a:ext cx="2820924" cy="457200"/>
          </a:xfrm>
          <a:prstGeom prst="roundRect">
            <a:avLst/>
          </a:prstGeom>
          <a:solidFill>
            <a:srgbClr val="3B0E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8572" y="914400"/>
            <a:ext cx="27111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仿真实现
性能量化与工程验证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700" y="1485900"/>
            <a:ext cx="3575304" cy="402336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1463040"/>
            <a:ext cx="3575304" cy="402336"/>
          </a:xfrm>
          <a:prstGeom prst="round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1499616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地基平台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700784"/>
            <a:ext cx="3575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E8FF"/>
                </a:solidFill>
              </a:rPr>
              <a:t>Ground-based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5444" y="1485900"/>
            <a:ext cx="3575304" cy="402336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72584" y="1463040"/>
            <a:ext cx="3575304" cy="402336"/>
          </a:xfrm>
          <a:prstGeom prst="roundRect">
            <a:avLst/>
          </a:prstGeom>
          <a:solidFill>
            <a:srgbClr val="143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1499616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空中平台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4" y="1700784"/>
            <a:ext cx="3575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E8FF"/>
                </a:solidFill>
              </a:rPr>
              <a:t>Airborne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2188" y="1485900"/>
            <a:ext cx="3575304" cy="402336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39328" y="1463040"/>
            <a:ext cx="3575304" cy="402336"/>
          </a:xfrm>
          <a:prstGeom prst="roundRect">
            <a:avLst/>
          </a:prstGeom>
          <a:solidFill>
            <a:srgbClr val="8B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499616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空海平台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700784"/>
            <a:ext cx="35753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E8FF"/>
                </a:solidFill>
              </a:rPr>
              <a:t>Air-Sea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" y="1888236"/>
            <a:ext cx="640080" cy="100126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1865376"/>
            <a:ext cx="640080" cy="1001268"/>
          </a:xfrm>
          <a:prstGeom prst="roundRect">
            <a:avLst/>
          </a:prstGeom>
          <a:solidFill>
            <a:srgbClr val="2C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55698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① 背景</a:t>
            </a:r>
          </a:p>
          <a:p>
            <a:pPr algn="ctr"/>
            <a:r>
              <a:rPr sz="950" b="1">
                <a:solidFill>
                  <a:srgbClr val="FFFFFF"/>
                </a:solidFill>
              </a:rPr>
              <a:t>   需求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" y="2944368"/>
            <a:ext cx="640080" cy="100126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4320" y="2921508"/>
            <a:ext cx="640080" cy="1001268"/>
          </a:xfrm>
          <a:prstGeom prst="round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3211830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② 方法</a:t>
            </a:r>
          </a:p>
          <a:p>
            <a:pPr algn="ctr"/>
            <a:r>
              <a:rPr sz="950" b="1">
                <a:solidFill>
                  <a:srgbClr val="FFFFFF"/>
                </a:solidFill>
              </a:rPr>
              <a:t>   原理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" y="4000500"/>
            <a:ext cx="640080" cy="100126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" y="3977640"/>
            <a:ext cx="640080" cy="1001268"/>
          </a:xfrm>
          <a:prstGeom prst="roundRect">
            <a:avLst/>
          </a:prstGeom>
          <a:solidFill>
            <a:srgbClr val="7A3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4267962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③ 模型</a:t>
            </a:r>
          </a:p>
          <a:p>
            <a:pPr algn="ctr"/>
            <a:r>
              <a:rPr sz="950" b="1">
                <a:solidFill>
                  <a:srgbClr val="FFFFFF"/>
                </a:solidFill>
              </a:rPr>
              <a:t>   流程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" y="5056632"/>
            <a:ext cx="640080" cy="1001268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4320" y="5033772"/>
            <a:ext cx="640080" cy="1001268"/>
          </a:xfrm>
          <a:prstGeom prst="roundRect">
            <a:avLst/>
          </a:prstGeom>
          <a:solidFill>
            <a:srgbClr val="3B0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5324094"/>
            <a:ext cx="585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④ 仿真</a:t>
            </a:r>
          </a:p>
          <a:p>
            <a:pPr algn="ctr"/>
            <a:r>
              <a:rPr sz="950" b="1">
                <a:solidFill>
                  <a:srgbClr val="FFFFFF"/>
                </a:solidFill>
              </a:rPr>
              <a:t>   实现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8700" y="1888236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5840" y="1865376"/>
            <a:ext cx="3575304" cy="1001268"/>
          </a:xfrm>
          <a:prstGeom prst="rect">
            <a:avLst/>
          </a:prstGeom>
          <a:solidFill>
            <a:srgbClr val="EAF6EF"/>
          </a:solidFill>
          <a:ln w="10160">
            <a:solidFill>
              <a:srgbClr val="2E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5840" y="1865376"/>
            <a:ext cx="82296" cy="1001268"/>
          </a:xfrm>
          <a:prstGeom prst="rect">
            <a:avLst/>
          </a:prstGeom>
          <a:solidFill>
            <a:srgbClr val="2E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6" y="206425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多固定站远程组网探测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" y="221513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时间/频率/相位同步约束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" y="236601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高增益低虚警检测需求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" y="251688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稳定基线·低机动性场景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5444" y="1888236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72584" y="1865376"/>
            <a:ext cx="3575304" cy="1001268"/>
          </a:xfrm>
          <a:prstGeom prst="rect">
            <a:avLst/>
          </a:prstGeom>
          <a:solidFill>
            <a:srgbClr val="EBF0FF"/>
          </a:solidFill>
          <a:ln w="10160">
            <a:solidFill>
              <a:srgbClr val="1F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72584" y="1865376"/>
            <a:ext cx="82296" cy="1001268"/>
          </a:xfrm>
          <a:prstGeom prst="rect">
            <a:avLst/>
          </a:prstGeom>
          <a:solidFill>
            <a:srgbClr val="1F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206425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机载编队协同作战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1513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高速运动·基线时变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236601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平台振动引入相位抖动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00600" y="251688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强杂波背景·实时处理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2188" y="1888236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39328" y="1865376"/>
            <a:ext cx="3575304" cy="1001268"/>
          </a:xfrm>
          <a:prstGeom prst="rect">
            <a:avLst/>
          </a:prstGeom>
          <a:solidFill>
            <a:srgbClr val="FFF0E8"/>
          </a:solidFill>
          <a:ln w="10160">
            <a:solidFill>
              <a:srgbClr val="B54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39328" y="1865376"/>
            <a:ext cx="82296" cy="1001268"/>
          </a:xfrm>
          <a:prstGeom prst="rect">
            <a:avLst/>
          </a:prstGeom>
          <a:solidFill>
            <a:srgbClr val="B5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67344" y="206425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舰机异构协同探测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67344" y="221513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双/多基地构型变化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67344" y="236601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强海杂波·多径效应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7344" y="251688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■ 异构量测配准需求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8700" y="2944368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05840" y="2921508"/>
            <a:ext cx="3575304" cy="1001268"/>
          </a:xfrm>
          <a:prstGeom prst="rect">
            <a:avLst/>
          </a:prstGeom>
          <a:solidFill>
            <a:srgbClr val="EAF6EF"/>
          </a:solidFill>
          <a:ln w="10160">
            <a:solidFill>
              <a:srgbClr val="33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5840" y="2921508"/>
            <a:ext cx="82296" cy="1001268"/>
          </a:xfrm>
          <a:prstGeom prst="rect">
            <a:avLst/>
          </a:prstGeom>
          <a:solidFill>
            <a:srgbClr val="33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33856" y="312039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相参合成增益理论模型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" y="327126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最大比合并(MRC)加权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" y="342214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增益退化律量化分析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3856" y="357301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相位误差传播链路建模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95444" y="2944368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72584" y="2921508"/>
            <a:ext cx="3575304" cy="1001268"/>
          </a:xfrm>
          <a:prstGeom prst="rect">
            <a:avLst/>
          </a:prstGeom>
          <a:solidFill>
            <a:srgbClr val="EBF0FF"/>
          </a:solidFill>
          <a:ln w="10160">
            <a:solidFill>
              <a:srgbClr val="2D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672584" y="2921508"/>
            <a:ext cx="82296" cy="1001268"/>
          </a:xfrm>
          <a:prstGeom prst="rect">
            <a:avLst/>
          </a:prstGeom>
          <a:solidFill>
            <a:srgbClr val="2D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312039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时变相位动态建模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00600" y="327126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EKF在线相位估计与预测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342214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运动补偿+多普勒配准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00600" y="357301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自适应加权融合机制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62188" y="2944368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39328" y="2921508"/>
            <a:ext cx="3575304" cy="1001268"/>
          </a:xfrm>
          <a:prstGeom prst="rect">
            <a:avLst/>
          </a:prstGeom>
          <a:solidFill>
            <a:srgbClr val="FFF0E8"/>
          </a:solidFill>
          <a:ln w="10160">
            <a:solidFill>
              <a:srgbClr val="C85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39328" y="2921508"/>
            <a:ext cx="82296" cy="1001268"/>
          </a:xfrm>
          <a:prstGeom prst="rect">
            <a:avLst/>
          </a:prstGeom>
          <a:solidFill>
            <a:srgbClr val="C85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67344" y="312039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双基地信号等效转换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7344" y="327126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异构量测统一域配准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7344" y="342214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分层信号级融合策略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67344" y="357301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◆ 海面散射相位特性建模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8700" y="4000500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5840" y="3977640"/>
            <a:ext cx="3575304" cy="1001268"/>
          </a:xfrm>
          <a:prstGeom prst="rect">
            <a:avLst/>
          </a:prstGeom>
          <a:solidFill>
            <a:srgbClr val="EAF6EF"/>
          </a:solidFill>
          <a:ln w="10160">
            <a:solidFill>
              <a:srgbClr val="3A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5840" y="3977640"/>
            <a:ext cx="82296" cy="1001268"/>
          </a:xfrm>
          <a:prstGeom prst="rect">
            <a:avLst/>
          </a:prstGeom>
          <a:solidFill>
            <a:srgbClr val="3A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33856" y="417652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① 多站回波同步采集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33856" y="432739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② 脉冲压缩→距离对齐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3856" y="447827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③ 相位校准→误差补偿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33856" y="462915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④ MRC加权合并→检测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95444" y="4000500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672584" y="3977640"/>
            <a:ext cx="3575304" cy="1001268"/>
          </a:xfrm>
          <a:prstGeom prst="rect">
            <a:avLst/>
          </a:prstGeom>
          <a:solidFill>
            <a:srgbClr val="EBF0FF"/>
          </a:solidFill>
          <a:ln w="10160">
            <a:solidFill>
              <a:srgbClr val="3C8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672584" y="3977640"/>
            <a:ext cx="82296" cy="1001268"/>
          </a:xfrm>
          <a:prstGeom prst="rect">
            <a:avLst/>
          </a:prstGeom>
          <a:solidFill>
            <a:srgbClr val="3C8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00600" y="417652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① 平台运动状态估计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00600" y="432739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② 多普勒域配准/补偿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00600" y="447827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③ 时变相位预测更新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00600" y="462915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④ 自适应融合→检测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62188" y="4000500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339328" y="3977640"/>
            <a:ext cx="3575304" cy="1001268"/>
          </a:xfrm>
          <a:prstGeom prst="rect">
            <a:avLst/>
          </a:prstGeom>
          <a:solidFill>
            <a:srgbClr val="FFF0E8"/>
          </a:solidFill>
          <a:ln w="10160">
            <a:solidFill>
              <a:srgbClr val="DA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39328" y="3977640"/>
            <a:ext cx="82296" cy="1001268"/>
          </a:xfrm>
          <a:prstGeom prst="rect">
            <a:avLst/>
          </a:prstGeom>
          <a:solidFill>
            <a:srgbClr val="DA6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67344" y="417652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① 双基地RD图生成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67344" y="4327398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② 空间/时间坐标配准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67344" y="447827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③ 统一域相参合并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67344" y="462915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④ 联合CFAR检测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28700" y="5056632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5840" y="5033772"/>
            <a:ext cx="3575304" cy="1001268"/>
          </a:xfrm>
          <a:prstGeom prst="rect">
            <a:avLst/>
          </a:prstGeom>
          <a:solidFill>
            <a:srgbClr val="EAF6EF"/>
          </a:solidFill>
          <a:ln w="10160">
            <a:solidFill>
              <a:srgbClr val="4BA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5840" y="5033772"/>
            <a:ext cx="82296" cy="1001268"/>
          </a:xfrm>
          <a:prstGeom prst="rect">
            <a:avLst/>
          </a:prstGeom>
          <a:solidFill>
            <a:srgbClr val="4BA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33856" y="523265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阵列相参增益蒙特卡洛验证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3856" y="538353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相位误差灵敏度曲线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3856" y="553440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SINR提升量化(N节点律)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3856" y="568528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同步精度对增益影响分析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95444" y="5056632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72584" y="5033772"/>
            <a:ext cx="3575304" cy="1001268"/>
          </a:xfrm>
          <a:prstGeom prst="rect">
            <a:avLst/>
          </a:prstGeom>
          <a:solidFill>
            <a:srgbClr val="EBF0FF"/>
          </a:solidFill>
          <a:ln w="10160">
            <a:solidFill>
              <a:srgbClr val="509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672584" y="5033772"/>
            <a:ext cx="82296" cy="1001268"/>
          </a:xfrm>
          <a:prstGeom prst="rect">
            <a:avLst/>
          </a:prstGeom>
          <a:solidFill>
            <a:srgbClr val="509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800600" y="523265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高动态相参合成增益验证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00600" y="538353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EKF相位估计均方误差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00600" y="553440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与CRLB对比分析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00600" y="568528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实时处理复杂度评估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62188" y="5056632"/>
            <a:ext cx="3575304" cy="1001268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39328" y="5033772"/>
            <a:ext cx="3575304" cy="1001268"/>
          </a:xfrm>
          <a:prstGeom prst="rect">
            <a:avLst/>
          </a:prstGeom>
          <a:solidFill>
            <a:srgbClr val="FFF0E8"/>
          </a:solidFill>
          <a:ln w="10160">
            <a:solidFill>
              <a:srgbClr val="E88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339328" y="5033772"/>
            <a:ext cx="82296" cy="1001268"/>
          </a:xfrm>
          <a:prstGeom prst="rect">
            <a:avLst/>
          </a:prstGeom>
          <a:solidFill>
            <a:srgbClr val="E8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467344" y="5232654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异构平台相参效能分析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67344" y="5383530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海杂波背景下相参增益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67344" y="5534406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配准误差对增益退化影响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67344" y="5685282"/>
            <a:ext cx="3392424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3A"/>
                </a:solidFill>
              </a:rPr>
              <a:t>▶ 双基地探测概率曲线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6071616"/>
            <a:ext cx="12188952" cy="347472"/>
          </a:xfrm>
          <a:prstGeom prst="rect">
            <a:avLst/>
          </a:prstGeom>
          <a:solidFill>
            <a:srgbClr val="3B0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5760" y="61264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高效性核心指标：  相参增益 G~N^2（理论上限）   | 相位误差 sigma &lt;= pi/8（3dB门限）   | 复杂度 O(N*M)（线性可扩展）   | 数据率 &gt;= 相干时间倒数   | 实时延迟 &lt;= 雷达重复间隔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0" y="6455664"/>
            <a:ext cx="121889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274320" y="6455664"/>
            <a:ext cx="11640312" cy="0"/>
          </a:xfrm>
          <a:prstGeom prst="line">
            <a:avLst/>
          </a:prstGeom>
          <a:ln w="1778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274320" y="6537960"/>
            <a:ext cx="45720" cy="2286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6528816"/>
            <a:ext cx="11512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D2A6E"/>
                </a:solidFill>
              </a:rPr>
              <a:t>  研究路径：背景需求驱动 → 高效相参机理建模 → 三平台端到端处理流程 → 仿真量化验证   ·   三大场景形成完整研究闭环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