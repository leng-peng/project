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45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多节点协同探测系统 · 架构与处理链路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C2FF"/>
                </a:solidFill>
                <a:latin typeface="Microsoft YaHei"/>
              </a:rPr>
              <a:t>2发3收 · 6条双基链路 · OFDM分频复用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868680"/>
            <a:ext cx="4114800" cy="5303520"/>
          </a:xfrm>
          <a:prstGeom prst="rect">
            <a:avLst/>
          </a:prstGeom>
          <a:solidFill>
            <a:srgbClr val="0F2755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9144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C2FF"/>
                </a:solidFill>
                <a:latin typeface="Microsoft YaHei"/>
              </a:rPr>
              <a:t>▶ 系统拓扑 · 节点配置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3895344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发射节点（海面）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Tx1 / Tx2  |  纵向间距 ±12 km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载频 fc = 500 MHz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带宽 B = 2 MHz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接收节点（空中）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Rx1 / Rx2 / Rx3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飞行高度 3.5 – 3.8 km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双基链路总数 L = 6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OFDM子载波分配：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Tx1 → 奇数子载波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Tx2 → 偶数子载波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目标场景（协议）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Jet1 · RCS = 25 m²  · v ≈ 181 m/s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Jet2 · RCS = 5 m²   · v ≈ 320 m/s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Jet3(F-22) · RCS = 0.5 m² · v &gt; 400 m/s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868680"/>
            <a:ext cx="3291840" cy="5303520"/>
          </a:xfrm>
          <a:prstGeom prst="rect">
            <a:avLst/>
          </a:prstGeom>
          <a:solidFill>
            <a:srgbClr val="0F2755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9144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C2FF"/>
                </a:solidFill>
                <a:latin typeface="Microsoft YaHei"/>
              </a:rPr>
              <a:t>▶ 完整处理链路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325880"/>
            <a:ext cx="3072384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① OFDM发射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   子载波正交分配（Tx1/Tx2）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      ↓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② 双基回波接收（×6链路）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      ↓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③ 距离维匹配滤波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   IFFT解压 · 75 m分辨率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      ↓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④ 三通道并行 MTI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   SLOW(1阶) / FAST(2阶) / VFAST(3阶)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      ↓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⑤ 慢时间FFT → RD图成像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   δv ≈ 33.5 m/s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      ↓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⑥ OS-CFAR + 相位一致性检验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   Pfa = 1×10⁻³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      ↓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⑦ RANSAC + 高斯-牛顿解算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      ↓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⑧ 多链路相参合成 + KF跟踪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868680"/>
            <a:ext cx="4114800" cy="5303520"/>
          </a:xfrm>
          <a:prstGeom prst="rect">
            <a:avLst/>
          </a:prstGeom>
          <a:solidFill>
            <a:srgbClr val="0F2755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9144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C2FF"/>
                </a:solidFill>
                <a:latin typeface="Microsoft YaHei"/>
              </a:rPr>
              <a:t>▶ 核心数学关系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1325880"/>
            <a:ext cx="3895344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双基距离和（等效单程）：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rℓ = ½(‖p−rTℓ‖ + ‖p−rRℓ‖)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双基径向速度：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vℓ = ½(v·û_Tℓ + v·û_Rℓ)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双基多普勒频率：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fd,ℓ = 2vℓ·fc / c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关键系统参数：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c = 3×10⁸ m/s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fc = 500 MHz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λ = c/fc = 0.6 m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B = 2 MHz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Nsc = 1024（子载波）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Nc = 64（积累脉冲数）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TPRI = 140 μs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" y="6291072"/>
            <a:ext cx="1179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700"/>
                </a:solidFill>
                <a:latin typeface="Microsoft YaHei"/>
              </a:rPr>
              <a:t>结论：6条双基链路覆盖全速域目标，OFDM分频保证正交性，处理链路从回波到跟踪全自动闭环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45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信号处理机理：三通道并行MTI · RD成像 · OS-CFAR检测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C2FF"/>
                </a:solidFill>
                <a:latin typeface="Microsoft YaHei"/>
              </a:rPr>
              <a:t>全速域覆盖 · 弱目标增强 · 镜像假峰抑制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868680"/>
            <a:ext cx="5760720" cy="2560320"/>
          </a:xfrm>
          <a:prstGeom prst="rect">
            <a:avLst/>
          </a:prstGeom>
          <a:solidFill>
            <a:srgbClr val="0F2755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9144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C2FF"/>
                </a:solidFill>
                <a:latin typeface="Microsoft YaHei"/>
              </a:rPr>
              <a:t>▶ 三通道并行MTI（核心创新）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554126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通道        阶数   系数                     适用速度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SLOW    1阶   [1, −1]               |v| &lt; 230 m/s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FAST      2阶   [1, −2, 1]          230 – 400 m/s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VFAST   3阶   [1, −3, 3, −1]   |v| &gt; 400 m/s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MTI传递函数：  H_m(e^jω) = (1 − e^{−jω})^m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      m = 1（SLOW）  m = 2（FAST）  m = 3（VFAST）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零多普勒抑制比：  ≥ 40 dB（3阶）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3520440"/>
            <a:ext cx="5760720" cy="2651760"/>
          </a:xfrm>
          <a:prstGeom prst="rect">
            <a:avLst/>
          </a:prstGeom>
          <a:solidFill>
            <a:srgbClr val="0F2755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35661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C2FF"/>
                </a:solidFill>
                <a:latin typeface="Microsoft YaHei"/>
              </a:rPr>
              <a:t>▶ RD图成像 · 分辨率计算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977640"/>
            <a:ext cx="5541264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距离分辨率：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  δr = c / (2B) = 3×10⁸ / (2×2×10⁶) = 75 m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多普勒分辨率：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  δfd = 1 / (Nc·TPRI) = 1 / (64×140μs) ≈ 111.6 Hz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速度分辨率：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  δv = δfd · λ / 2 ≈ 33.5 m/s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不模糊速度范围：  ±357 m/s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868680"/>
            <a:ext cx="5852160" cy="2560320"/>
          </a:xfrm>
          <a:prstGeom prst="rect">
            <a:avLst/>
          </a:prstGeom>
          <a:solidFill>
            <a:srgbClr val="0F2755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C2FF"/>
                </a:solidFill>
                <a:latin typeface="Microsoft YaHei"/>
              </a:rPr>
              <a:t>▶ OS-CFAR 检测准则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325880"/>
            <a:ext cx="563270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检测判决：  P(ℓ,k) &gt; α · x_(r)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  参考单元 2T = 8，保护单元 2G = 4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  排序秩：  r = floor(0.75 × 2T) = 6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虚警概率控制：  Pfa = 10⁻³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  α_CA = 2T·(Pfa^{−1/(2T)} − 1)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亚像素精化（距离/多普勒）：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  δr = ½ · [P(ℓ−1,k)−P(ℓ+1,k)] /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           [P(ℓ−1,k)−2P(ℓ,k)+P(ℓ+1,k)]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520440"/>
            <a:ext cx="5852160" cy="2651760"/>
          </a:xfrm>
          <a:prstGeom prst="rect">
            <a:avLst/>
          </a:prstGeom>
          <a:solidFill>
            <a:srgbClr val="0F2755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5661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C2FF"/>
                </a:solidFill>
                <a:latin typeface="Microsoft YaHei"/>
              </a:rPr>
              <a:t>▶ 相位一致性检验 · 综合检测评分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3977640"/>
            <a:ext cx="5632704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相位斜率一致性系数 ρ_ph：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  |fd_phase − f₀| &lt; 2.2·δfd  → ρ_ph = 1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  否则  ρ_ph = exp(−|偏差| / (2.5·δfd))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综合检测评分（抑制镜像假峰）：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  Score = SNR × (0.3 + 0.7·ρ_coh)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               × (0.4 + 0.6·ρ_ph)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● 分值越高 → 真实目标概率越大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● 镜像假峰因相位不一致被压制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" y="6291072"/>
            <a:ext cx="1179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700"/>
                </a:solidFill>
                <a:latin typeface="Microsoft YaHei"/>
              </a:rPr>
              <a:t>结论：三通道并行MTI覆盖全速域 · OS-CFAR(Pfa=10⁻³)+相位一致性有效抑制镜像假峰 · 亚像素精化提升定位精度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45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多链路相参合成 · 克拉美-罗下界 · 卡尔曼滤波跟踪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C2FF"/>
                </a:solidFill>
                <a:latin typeface="Microsoft YaHei"/>
              </a:rPr>
              <a:t>6链路增益 ≤ 7.78 dB · 融合位置精度提升 √6 ≈ 2.45 倍 · 误差逼近CRLB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868680"/>
            <a:ext cx="5760720" cy="2560320"/>
          </a:xfrm>
          <a:prstGeom prst="rect">
            <a:avLst/>
          </a:prstGeom>
          <a:solidFill>
            <a:srgbClr val="0F2755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9144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C2FF"/>
                </a:solidFill>
                <a:latin typeface="Microsoft YaHei"/>
              </a:rPr>
              <a:t>▶ 高斯-牛顿位置解算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554126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雅可比矩阵（每条链路ℓ，第k分量）：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J_ℓk = ½·[(p_k−T_ℓk)/‖p−r_Tℓ‖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           + (p_k−R_ℓk)/‖p−r_Rℓ‖]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LM迭代（正则化防奇异）：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Δp = −(J^T J + λ_reg·I)^{−1} · J^T·r(p)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λ_reg = 0.05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SNR加权速度解算：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v̂ = (A^T W A + 10⁻³I)^{−1} A^T W b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W = diag(√SNR₁, …, √SNR_L)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3520440"/>
            <a:ext cx="5760720" cy="2651760"/>
          </a:xfrm>
          <a:prstGeom prst="rect">
            <a:avLst/>
          </a:prstGeom>
          <a:solidFill>
            <a:srgbClr val="0F2755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35661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C2FF"/>
                </a:solidFill>
                <a:latin typeface="Microsoft YaHei"/>
              </a:rPr>
              <a:t>▶ 多链路相参合成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977640"/>
            <a:ext cx="5541264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相位对齐：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Ẽℓ = Eℓ · exp(j2π·fc·τℓ)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τℓ = 2·r_fold,ℓ / c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相参合成增益：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G_coh = 10·log₁₀( |ΣẼℓ|² / Σ|Eℓ|² 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理论最大增益（L = 6）：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G_coh,max = 10·log₁₀(6) ≈ 7.78 dB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● 相位不对齐时增益退化 → 精确时延补偿是关键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868680"/>
            <a:ext cx="5852160" cy="2560320"/>
          </a:xfrm>
          <a:prstGeom prst="rect">
            <a:avLst/>
          </a:prstGeom>
          <a:solidFill>
            <a:srgbClr val="0F2755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C2FF"/>
                </a:solidFill>
                <a:latin typeface="Microsoft YaHei"/>
              </a:rPr>
              <a:t>▶ 联合费希尔信息矩阵 &amp; CRLB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325880"/>
            <a:ext cx="563270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量测噪声标准差：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σ_r,ℓ = c / (2B·√(2·SNRℓ)·√2)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σ_v,ℓ = λ / (2Tc·√SNRℓ)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联合FIM：  J = Σ H_ℓ^T · R_ℓ^{−1} · H_ℓ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位置RMSE下界：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CRLB_pos = √tr([J⁻¹]_{1:3,1:3})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多节点精度提升（L=6链路）：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CRLB_multi ≈ CRLB_single / √6 ≈ CRLB/2.45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520440"/>
            <a:ext cx="5852160" cy="2651760"/>
          </a:xfrm>
          <a:prstGeom prst="rect">
            <a:avLst/>
          </a:prstGeom>
          <a:solidFill>
            <a:srgbClr val="0F2755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5661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C2FF"/>
                </a:solidFill>
                <a:latin typeface="Microsoft YaHei"/>
              </a:rPr>
              <a:t>▶ 卡尔曼滤波跟踪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3977640"/>
            <a:ext cx="5632704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状态向量：  x = [位置(3D); 速度(3D)]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预测步：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x_{k|k-1} = F·x_{k-1}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P_{k|k-1} = F·P·F^T + Q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F = [I₃  Δt·I₃ ; 0₃  I₃]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更新步：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K = P·H^T·(H·P·H^T + R)^{−1}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x ← x + K·(z − H·x)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  P ← (I − K·H)·P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" y="6291072"/>
            <a:ext cx="1179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700"/>
                </a:solidFill>
                <a:latin typeface="Microsoft YaHei"/>
              </a:rPr>
              <a:t>结论：6链路相参合成增益 ≤ 7.78 dB · 多节点融合定位精度提升 √6 ≈ 2.45 倍 · KF跟踪稳定，实测误差逼近CRLB理论下界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