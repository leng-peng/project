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空海平台多节点协同探测 · 相参合成机理分析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Coherent Synthesis Mechanism: Range-Doppler Signal-Level Fusion &amp; Data Conversion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1/2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042416"/>
            <a:ext cx="1827276" cy="566928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原始回波
(N=6链路)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9884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7900" y="1042416"/>
            <a:ext cx="1827276" cy="566928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7900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脉冲压缩
Pulse Comp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5176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3192" y="1042416"/>
            <a:ext cx="1827276" cy="566928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3192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距离多普勒图
R-D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0468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4" y="1042416"/>
            <a:ext cx="1827276" cy="566928"/>
          </a:xfrm>
          <a:prstGeom prst="roundRect">
            <a:avLst/>
          </a:prstGeom>
          <a:solidFill>
            <a:srgbClr val="B54A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8484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数据转换
Data Conv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5760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3776" y="1042416"/>
            <a:ext cx="1827276" cy="566928"/>
          </a:xfrm>
          <a:prstGeom prst="roundRect">
            <a:avLst/>
          </a:prstGeom>
          <a:solidFill>
            <a:srgbClr val="0D2A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3776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信号级融合
R-D 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41052" y="1184148"/>
            <a:ext cx="12801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69068" y="1042416"/>
            <a:ext cx="1827276" cy="566928"/>
          </a:xfrm>
          <a:prstGeom prst="roundRect">
            <a:avLst/>
          </a:prstGeom>
          <a:solidFill>
            <a:srgbClr val="007C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69068" y="1042416"/>
            <a:ext cx="18272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CFAR检测
目标输出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72122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27414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29184" y="1792224"/>
            <a:ext cx="5499567" cy="384048"/>
          </a:xfrm>
          <a:prstGeom prst="rect">
            <a:avLst/>
          </a:prstGeom>
          <a:solidFill>
            <a:srgbClr val="CCD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" y="1755648"/>
            <a:ext cx="5499567" cy="384048"/>
          </a:xfrm>
          <a:prstGeom prst="rect">
            <a:avLst/>
          </a:prstGeom>
          <a:solidFill>
            <a:srgbClr val="B5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" y="1755648"/>
            <a:ext cx="91440" cy="384048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" y="18013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1810512"/>
            <a:ext cx="4987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数据转换   Data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1993392"/>
            <a:ext cx="498750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E0B0"/>
                </a:solidFill>
              </a:rPr>
              <a:t>双基地量测→统一参考域：时延配准 / 多普勒统一 / 坐标配准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258568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" y="2231136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" y="2231136"/>
            <a:ext cx="5499567" cy="320040"/>
          </a:xfrm>
          <a:prstGeom prst="rect">
            <a:avLst/>
          </a:prstGeom>
          <a:solidFill>
            <a:srgbClr val="C86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38328" y="22539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C86210"/>
                </a:solidFill>
              </a:rPr>
              <a:t>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2276856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双基地时延配准（等效斜距折叠）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260604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等效双程距离：r_eq = r_tx + r_rx  (双基地路径和)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2615394"/>
            <a:ext cx="5408127" cy="25603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" y="2633682"/>
            <a:ext cx="53166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r</m:t>
                    </m:r>
                  </m:e>
                  <m:sub>
                    <m:r>
                      <m:t>fold</m:t>
                    </m:r>
                  </m:sub>
                </m:sSub>
                <m:r>
                  <m:t xml:space="preserve"> = mod(</m:t>
                </m:r>
                <m:sSub>
                  <m:e>
                    <m:r>
                      <m:t>r</m:t>
                    </m:r>
                  </m:e>
                  <m:sub>
                    <m:r>
                      <m:t>eq</m:t>
                    </m:r>
                  </m:sub>
                </m:sSub>
                <m:r>
                  <m:t xml:space="preserve">, </m:t>
                </m:r>
                <m:sSub>
                  <m:e>
                    <m:r>
                      <m:t>R</m:t>
                    </m:r>
                  </m:e>
                  <m:sub>
                    <m:r>
                      <m:t>unamb</m:t>
                    </m:r>
                  </m:sub>
                </m:sSub>
                <m:r>
                  <m:t>)</m:t>
                </m:r>
              </m:oMath>
            </a14:m>
          </a:p>
        </p:txBody>
      </p:sp>
      <p:sp>
        <p:nvSpPr>
          <p:cNvPr id="41" name="Rectangle 40"/>
          <p:cNvSpPr/>
          <p:nvPr/>
        </p:nvSpPr>
        <p:spPr>
          <a:xfrm>
            <a:off x="347472" y="2898858"/>
            <a:ext cx="5408127" cy="25603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" y="2917146"/>
            <a:ext cx="53166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r</m:t>
                    </m:r>
                  </m:e>
                  <m:sub>
                    <m:r>
                      <m:t>bin</m:t>
                    </m:r>
                  </m:sub>
                </m:sSub>
                <m:r>
                  <m:t xml:space="preserve"> = round</m:t>
                </m:r>
                <m:d>
                  <m:dPr>
                    <m:ctrlPr/>
                  </m:dPr>
                  <m:e>
                    <m:f>
                      <m:num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t>fold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t>res</m:t>
                            </m:r>
                          </m:sub>
                        </m:sSub>
                      </m:den>
                    </m:f>
                  </m:e>
                </m:d>
                <m:r>
                  <m:t xml:space="preserve"> + 1</m:t>
                </m:r>
              </m:oMath>
            </a14:m>
          </a:p>
        </p:txBody>
      </p:sp>
      <p:sp>
        <p:nvSpPr>
          <p:cNvPr id="43" name="TextBox 42"/>
          <p:cNvSpPr txBox="1"/>
          <p:nvPr/>
        </p:nvSpPr>
        <p:spPr>
          <a:xfrm>
            <a:off x="384048" y="3182322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精度要求：Δτ &lt; λ/(4c) ≈ 0.5 ns ≡ Δr &lt; 7.5 cm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666744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2608" y="3639312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2608" y="3639312"/>
            <a:ext cx="5499567" cy="320040"/>
          </a:xfrm>
          <a:prstGeom prst="rect">
            <a:avLst/>
          </a:prstGeom>
          <a:solidFill>
            <a:srgbClr val="D4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38328" y="36621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D47820"/>
                </a:solidFill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3685032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多普勒域统一（速度转换）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4014216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双基地多普勒：f_d,k = (v_T·cosα_T + v_R·cosα_R) / 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402357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速度转换因子：K_v = cos(β/2)，β 为双基地角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" y="4032924"/>
            <a:ext cx="5408127" cy="25603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" y="4051212"/>
            <a:ext cx="53166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v</m:t>
                    </m:r>
                  </m:e>
                  <m:sub>
                    <m:r>
                      <m:t>eq</m:t>
                    </m:r>
                  </m:sub>
                </m:sSub>
                <m:r>
                  <m:t xml:space="preserve"> = </m:t>
                </m:r>
                <m:f>
                  <m:num>
                    <m:sSub>
                      <m:e>
                        <m:r>
                          <m:t>f</m:t>
                        </m:r>
                      </m:e>
                      <m:sub>
                        <m:r>
                          <m:t>d</m:t>
                        </m:r>
                      </m:sub>
                    </m:sSub>
                    <m:r>
                      <m:t xml:space="preserve">⋅λ</m:t>
                    </m:r>
                  </m:num>
                  <m:den>
                    <m:r>
                      <m:t xml:space="preserve">2⋅</m:t>
                    </m:r>
                    <m:func>
                      <m:funcPr>
                        <m:ctrlPr/>
                      </m:funcPr>
                      <m:fName>
                        <m:r>
                          <m:rPr>
                            <m:sty m:val="p"/>
                          </m:rPr>
                          <m:t>cos</m:t>
                        </m:r>
                      </m:fName>
                      <m:e>
                        <m:d>
                          <m:dPr>
                            <m:ctrlPr/>
                          </m:dPr>
                          <m:e>
                            <m:f>
                              <m:num>
                                <m:r>
                                  <m:t>β</m:t>
                                </m:r>
                              </m:num>
                              <m:den>
                                <m: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den>
                </m:f>
              </m:oMath>
            </a14:m>
          </a:p>
        </p:txBody>
      </p:sp>
      <p:sp>
        <p:nvSpPr>
          <p:cNvPr id="53" name="TextBox 52"/>
          <p:cNvSpPr txBox="1"/>
          <p:nvPr/>
        </p:nvSpPr>
        <p:spPr>
          <a:xfrm>
            <a:off x="384048" y="4316388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各链路统一到等效单基地速度轴，消除多普勒偏差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074920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2608" y="5047488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92608" y="5047488"/>
            <a:ext cx="5499567" cy="320040"/>
          </a:xfrm>
          <a:prstGeom prst="rect">
            <a:avLst/>
          </a:prstGeom>
          <a:solidFill>
            <a:srgbClr val="E09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38328" y="507034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E09030"/>
                </a:solidFill>
              </a:rPr>
              <a:t>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" y="5093208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坐标系配准与平台运动补偿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" y="5422392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各平台坐标 → 统一 ECEF/ENU 参考系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" y="5431746"/>
            <a:ext cx="5408127" cy="25603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2336" y="5450034"/>
            <a:ext cx="5316687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Δφ</m:t>
                    </m:r>
                  </m:e>
                  <m:sub>
                    <m:r>
                      <m:t>motion</m:t>
                    </m:r>
                  </m:sub>
                </m:sSub>
                <m:r>
                  <m:t xml:space="preserve"> = 2π⋅</m:t>
                </m:r>
                <m:sSub>
                  <m:e>
                    <m:r>
                      <m:t>f</m:t>
                    </m:r>
                  </m:e>
                  <m:sub>
                    <m:r>
                      <m:t>c</m:t>
                    </m:r>
                  </m:sub>
                </m:sSub>
                <m:r>
                  <m:t xml:space="preserve">⋅</m:t>
                </m:r>
                <m:sSub>
                  <m:e>
                    <m:r>
                      <m:t>Δτ</m:t>
                    </m:r>
                  </m:e>
                  <m:sub>
                    <m:r>
                      <m:t>motion</m:t>
                    </m:r>
                  </m:sub>
                </m:sSub>
              </m:oMath>
            </a14:m>
          </a:p>
        </p:txBody>
      </p:sp>
      <p:sp>
        <p:nvSpPr>
          <p:cNvPr id="62" name="TextBox 61"/>
          <p:cNvSpPr txBox="1"/>
          <p:nvPr/>
        </p:nvSpPr>
        <p:spPr>
          <a:xfrm>
            <a:off x="384048" y="571521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INS/DVL 辅助：精度 0.1 m/s、0.01°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" y="572456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北斗/GPS 双频授时：时间基准同步 &lt; 10 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75055" y="1792224"/>
            <a:ext cx="5957864" cy="384048"/>
          </a:xfrm>
          <a:prstGeom prst="rect">
            <a:avLst/>
          </a:prstGeom>
          <a:solidFill>
            <a:srgbClr val="C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938479" y="1755648"/>
            <a:ext cx="5957864" cy="38404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38479" y="1755648"/>
            <a:ext cx="91440" cy="384048"/>
          </a:xfrm>
          <a:prstGeom prst="rect">
            <a:avLst/>
          </a:prstGeom>
          <a:solidFill>
            <a:srgbClr val="8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66495" y="18013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95679" y="1810512"/>
            <a:ext cx="544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距离多普勒域信号级融合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95679" y="1993392"/>
            <a:ext cx="5445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D8FF"/>
                </a:solidFill>
              </a:rPr>
              <a:t>Range-Doppler Domain Signal-Level Coherent Fusion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65911" y="2258568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38479" y="2231136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38479" y="2231136"/>
            <a:ext cx="5957864" cy="320040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984199" y="22539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40815" y="2276856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RD图生成与信号模型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29919" y="260604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各链路距离多普勒图：X_k[r,d] = CFFT{ s_k(t)·e^{-j2πf_d·t} }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93343" y="2615394"/>
            <a:ext cx="5866424" cy="25603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48207" y="2633682"/>
            <a:ext cx="5774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rPr>
                        <m:sty m:val="i"/>
                      </m:rPr>
                      <m:t>s</m:t>
                    </m:r>
                  </m:e>
                  <m:sub>
                    <m:r>
                      <m:t>k</m:t>
                    </m:r>
                  </m:sub>
                </m:sSub>
                <m:d>
                  <m:dPr>
                    <m:ctrlPr/>
                  </m:dPr>
                  <m:e>
                    <m:r>
                      <m:rPr>
                        <m:sty m:val="i"/>
                      </m:rPr>
                      <m:t>t</m:t>
                    </m:r>
                  </m:e>
                </m:d>
                <m:r>
                  <m:t xml:space="preserve"> = A⋅exp</m:t>
                </m:r>
                <m:d>
                  <m:dPr>
                    <m:begChr m:val="["/>
                    <m:endChr m:val="]"/>
                    <m:ctrlPr/>
                  </m:dPr>
                  <m:e>
                    <m:r>
                      <m:t xml:space="preserve">j⋅</m:t>
                    </m:r>
                    <m:d>
                      <m:dPr>
                        <m:ctrlPr/>
                      </m:dPr>
                      <m:e>
                        <m:r>
                          <m:t xml:space="preserve">2π⋅</m:t>
                        </m:r>
                        <m:sSub>
                          <m:e>
                            <m:r>
                              <m:t>f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</m:sSub>
                        <m:r>
                          <m:t xml:space="preserve">⋅</m:t>
                        </m:r>
                        <m:sSub>
                          <m:e>
                            <m:r>
                              <m:t>τ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  <m:r>
                          <m:t xml:space="preserve"> + </m:t>
                        </m:r>
                        <m:sSub>
                          <m:e>
                            <m:r>
                              <m:t>φ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</m:e>
                    </m:d>
                  </m:e>
                </m:d>
                <m:r>
                  <m:t xml:space="preserve"> + </m:t>
                </m:r>
                <m:sSub>
                  <m:e>
                    <m:r>
                      <m:t>n</m:t>
                    </m:r>
                  </m:e>
                  <m:sub>
                    <m:r>
                      <m:t>k</m:t>
                    </m:r>
                  </m:sub>
                </m:sSub>
                <m:d>
                  <m:dPr>
                    <m:ctrlPr/>
                  </m:dPr>
                  <m:e>
                    <m:r>
                      <m:t>t</m:t>
                    </m:r>
                  </m:e>
                </m:d>
              </m:oMath>
            </a14:m>
          </a:p>
        </p:txBody>
      </p:sp>
      <p:sp>
        <p:nvSpPr>
          <p:cNvPr id="78" name="TextBox 77"/>
          <p:cNvSpPr txBox="1"/>
          <p:nvPr/>
        </p:nvSpPr>
        <p:spPr>
          <a:xfrm>
            <a:off x="6029919" y="2898858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信号级融合：在复数域（检测前）完成，保留完整相位信息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29919" y="2908212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区别于数据级（检测后）融合：信噪比增益 N² vs 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65911" y="3666744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938479" y="3639312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938479" y="3639312"/>
            <a:ext cx="5957864" cy="32004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984199" y="36621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7C78"/>
                </a:solidFill>
              </a:rPr>
              <a:t>②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40815" y="3685032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相参合并公式（MRC加权）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93343" y="4014216"/>
            <a:ext cx="5866424" cy="25603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48207" y="4032504"/>
            <a:ext cx="5774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X</m:t>
                    </m:r>
                  </m:e>
                  <m:sub>
                    <m:r>
                      <m:t>coh</m:t>
                    </m:r>
                  </m:sub>
                </m:sSub>
                <m:d>
                  <m:dPr>
                    <m:begChr m:val="["/>
                    <m:endChr m:val="]"/>
                    <m:ctrlPr/>
                  </m:dPr>
                  <m:e>
                    <m:r>
                      <m:t>r, d</m:t>
                    </m:r>
                  </m:e>
                </m:d>
                <m:r>
                  <m:t xml:space="preserve"> = </m:t>
                </m:r>
                <m:nary>
                  <m:naryPr>
                    <m:chr m:val="∑"/>
                    <m:limLoc m:val="subSup"/>
                    <m:subHide m:val="0"/>
                    <m:supHide m:val="1"/>
                    <m:ctrlPr/>
                  </m:naryPr>
                  <m:sub>
                    <m:r>
                      <m:t>k</m:t>
                    </m:r>
                  </m:sub>
                  <m:sup/>
                  <m:e>
                    <m:sSub>
                      <m:e>
                        <m:r>
                          <m:t>w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r>
                      <m:t xml:space="preserve">⋅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k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/>
                      </m:dPr>
                      <m:e>
                        <m:r>
                          <m:t>r, d</m:t>
                        </m:r>
                      </m:e>
                    </m:d>
                    <m:r>
                      <m:t xml:space="preserve">⋅exp</m:t>
                    </m:r>
                    <m:d>
                      <m:dPr>
                        <m:ctrlPr/>
                      </m:dPr>
                      <m:e>
                        <m:r>
                          <m:t xml:space="preserve">j⋅</m:t>
                        </m:r>
                        <m:sSub>
                          <m:e>
                            <m:r>
                              <m:t>φ</m:t>
                            </m:r>
                          </m:e>
                          <m:sub>
                            <m:r>
                              <m:t>k</m:t>
                            </m:r>
                          </m:sub>
                        </m:sSub>
                      </m:e>
                    </m:d>
                  </m:e>
                </m:nary>
              </m:oMath>
            </a14:m>
          </a:p>
        </p:txBody>
      </p:sp>
      <p:sp>
        <p:nvSpPr>
          <p:cNvPr id="87" name="TextBox 86"/>
          <p:cNvSpPr txBox="1"/>
          <p:nvPr/>
        </p:nvSpPr>
        <p:spPr>
          <a:xfrm>
            <a:off x="6029919" y="429768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MRC权值：w_k = SNR_k · coh_k · ph_cons_k  ← 三因子积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93343" y="4307034"/>
            <a:ext cx="5866424" cy="25603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48207" y="4325322"/>
            <a:ext cx="5774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coh</m:t>
                    </m:r>
                  </m:e>
                  <m:sub>
                    <m:r>
                      <m:t>k</m:t>
                    </m:r>
                  </m:sub>
                </m:sSub>
                <m:r>
                  <m:t xml:space="preserve"> = </m:t>
                </m:r>
                <m:f>
                  <m:num>
                    <m:d>
                      <m:dPr>
                        <m:begChr m:val="|"/>
                        <m:endChr m:val="|"/>
                        <m:ctrlPr/>
                      </m:dPr>
                      <m:e>
                        <m:nary>
                          <m:naryPr>
                            <m:chr m:val="∑"/>
                            <m:subHide m:val="1"/>
                            <m:supHide m:val="1"/>
                            <m:ctrlPr/>
                          </m:naryPr>
                          <m:sub/>
                          <m:sup/>
                          <m:e>
                            <m:sSub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rot</m:t>
                                </m:r>
                              </m:sub>
                            </m:sSub>
                          </m:e>
                        </m:nary>
                      </m:e>
                    </m:d>
                  </m:num>
                  <m:den>
                    <m:nary>
                      <m:naryPr>
                        <m:chr m:val="∑"/>
                        <m:subHide m:val="1"/>
                        <m:supHide m:val="1"/>
                        <m:ctrlPr/>
                      </m:naryPr>
                      <m:sub/>
                      <m:sup/>
                      <m:e>
                        <m:d>
                          <m:dPr>
                            <m:begChr m:val="|"/>
                            <m:endChr m:val="|"/>
                            <m:ctrlPr/>
                          </m:dPr>
                          <m:e>
                            <m:sSub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rot</m:t>
                                </m:r>
                              </m:sub>
                            </m:sSub>
                          </m:e>
                        </m:d>
                      </m:e>
                    </m:nary>
                  </m:den>
                </m:f>
              </m:oMath>
            </a14:m>
          </a:p>
        </p:txBody>
      </p:sp>
      <p:sp>
        <p:nvSpPr>
          <p:cNvPr id="90" name="Rectangle 89"/>
          <p:cNvSpPr/>
          <p:nvPr/>
        </p:nvSpPr>
        <p:spPr>
          <a:xfrm>
            <a:off x="5993343" y="4590498"/>
            <a:ext cx="5866424" cy="25603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48207" y="4608786"/>
            <a:ext cx="5774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ph</m:t>
                    </m:r>
                  </m:e>
                  <m:sub>
                    <m:r>
                      <m:t>cons</m:t>
                    </m:r>
                  </m:sub>
                </m:sSub>
                <m:r>
                  <m:t xml:space="preserve"> = exp</m:t>
                </m:r>
                <m:d>
                  <m:dPr>
                    <m:ctrlPr/>
                  </m:dPr>
                  <m:e>
                    <m:r>
                      <m:t>−</m:t>
                    </m:r>
                    <m:f>
                      <m:num>
                        <m:d>
                          <m:dPr>
                            <m:begChr m:val="|"/>
                            <m:endChr m:val="|"/>
                            <m:ctrlPr/>
                          </m:dPr>
                          <m:e>
                            <m:sSub>
                              <m:e>
                                <m:r>
                                  <m:t>Δf</m:t>
                                </m:r>
                              </m:e>
                              <m:sub>
                                <m:r>
                                  <m:t>d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e>
                            <m:r>
                              <m:t>Δf</m:t>
                            </m:r>
                          </m:e>
                          <m:sub>
                            <m:r>
                              <m:t>d,ref</m:t>
                            </m:r>
                          </m:sub>
                        </m:sSub>
                      </m:den>
                    </m:f>
                  </m:e>
                </m:d>
              </m:oMath>
            </a14:m>
          </a:p>
        </p:txBody>
      </p:sp>
      <p:sp>
        <p:nvSpPr>
          <p:cNvPr id="92" name="Rectangle 91"/>
          <p:cNvSpPr/>
          <p:nvPr/>
        </p:nvSpPr>
        <p:spPr>
          <a:xfrm>
            <a:off x="5965911" y="5074920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938479" y="5047488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38479" y="5047488"/>
            <a:ext cx="5957864" cy="320040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984199" y="507034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6A2BB5"/>
                </a:solidFill>
              </a:rPr>
              <a:t>③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40815" y="5093208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增益退化律与效能分析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29919" y="5422392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理想相参增益：G_coh = 20·lg(N) = 15.6 dB（N=6）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29919" y="5431746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非相参基准：G_incoh = 10·lg(N) = 7.8 dB，净增益 +7.8 dB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93343" y="5441100"/>
            <a:ext cx="5866424" cy="256032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048207" y="5459388"/>
            <a:ext cx="577498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G</m:t>
                    </m:r>
                  </m:e>
                  <m:sub>
                    <m:r>
                      <m:t>eff</m:t>
                    </m:r>
                  </m:sub>
                </m:sSub>
                <m:r>
                  <m:t xml:space="preserve"> = G⋅exp</m:t>
                </m:r>
                <m:d>
                  <m:dPr>
                    <m:ctrlPr/>
                  </m:dPr>
                  <m:e>
                    <m:r>
                      <m:t>−</m:t>
                    </m:r>
                    <m:sSup>
                      <m:e>
                        <m:sSub>
                          <m:e>
                            <m:r>
                              <m:t>σ</m:t>
                            </m:r>
                          </m:e>
                          <m:sub>
                            <m:r>
                              <m:t>φ</m:t>
                            </m:r>
                          </m:sub>
                        </m:sSub>
                      </m:e>
                      <m:sup>
                        <m:r>
                          <m:t>2</m:t>
                        </m:r>
                      </m:sup>
                    </m:sSup>
                  </m:e>
                </m:d>
              </m:oMath>
            </a14:m>
          </a:p>
        </p:txBody>
      </p:sp>
      <p:sp>
        <p:nvSpPr>
          <p:cNvPr id="101" name="TextBox 100"/>
          <p:cNvSpPr txBox="1"/>
          <p:nvPr/>
        </p:nvSpPr>
        <p:spPr>
          <a:xfrm>
            <a:off x="6029919" y="572456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σ_φ &lt; π/8 → G_eff ≥ 90%·G；σ_φ = π/4 → G_eff ≈ 64%·G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292608" y="6400800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292608" y="6492240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84048" y="6483096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核心机理：各链路双基地量测经数据转换配准至统一时延/多普勒/坐标域后，在距离多普勒复数域实施信号级相参合并，实现 N² 量级 SNR 增益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空海平台多节点协同探测 · 相参合成方法设计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Coherent Synthesis Method Design — Processing Pipeline &amp; Synchronization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896112"/>
            <a:ext cx="5801868" cy="713232"/>
          </a:xfrm>
          <a:prstGeom prst="rect">
            <a:avLst/>
          </a:prstGeom>
          <a:solidFill>
            <a:srgbClr val="DCE8F8"/>
          </a:solidFill>
          <a:ln w="7620">
            <a:solidFill>
              <a:srgbClr val="B0C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896112"/>
            <a:ext cx="5801868" cy="713232"/>
          </a:xfrm>
          <a:prstGeom prst="rect">
            <a:avLst/>
          </a:prstGeom>
          <a:solidFill>
            <a:srgbClr val="D8EEE8"/>
          </a:solidFill>
          <a:ln w="7620">
            <a:solidFill>
              <a:srgbClr val="A0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914400"/>
            <a:ext cx="556979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6BC4"/>
                </a:solidFill>
              </a:rPr>
              <a:t>Round 1 · 强目标检测（无MTI）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7628" y="914400"/>
            <a:ext cx="556979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C78"/>
                </a:solidFill>
              </a:rPr>
              <a:t>Round 2 · 弱目标检测（三MTI并行）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4476.0" y="896112"/>
            <a:ext cx="0.0" cy="713232"/>
          </a:xfrm>
          <a:prstGeom prst="line">
            <a:avLst/>
          </a:prstGeom>
          <a:ln w="2540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" y="1078992"/>
            <a:ext cx="1179850" cy="512064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1078992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总回波输入
N=6链路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458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82186" y="1078992"/>
            <a:ext cx="1287109" cy="512064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82186" y="1078992"/>
            <a:ext cx="128710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无MTI积累
CFAR&gt;12dB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9295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9023" y="1078992"/>
            <a:ext cx="1072591" cy="512064"/>
          </a:xfrm>
          <a:prstGeom prst="roundRect">
            <a:avLst/>
          </a:prstGeom>
          <a:solidFill>
            <a:srgbClr val="6A2B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9023" y="1078992"/>
            <a:ext cx="107259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GN定位
强目标解算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1614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1342" y="1078992"/>
            <a:ext cx="965332" cy="512064"/>
          </a:xfrm>
          <a:prstGeom prst="roundRect">
            <a:avLst/>
          </a:prstGeom>
          <a:solidFill>
            <a:srgbClr val="A8121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1342" y="1078992"/>
            <a:ext cx="96533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SIC
强目标对消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6675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6403" y="1078992"/>
            <a:ext cx="1394368" cy="512064"/>
          </a:xfrm>
          <a:prstGeom prst="roundRect">
            <a:avLst/>
          </a:prstGeom>
          <a:solidFill>
            <a:srgbClr val="007C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6403" y="1078992"/>
            <a:ext cx="13943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三MTI并行
SLOW/FAST/VFAST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0771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0499" y="1078992"/>
            <a:ext cx="1179850" cy="512064"/>
          </a:xfrm>
          <a:prstGeom prst="roundRect">
            <a:avLst/>
          </a:prstGeom>
          <a:solidFill>
            <a:srgbClr val="007C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0499" y="1078992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CFAR&gt;6dB
NMS去重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349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0077" y="1078992"/>
            <a:ext cx="1179850" cy="512064"/>
          </a:xfrm>
          <a:prstGeom prst="roundRect">
            <a:avLst/>
          </a:prstGeom>
          <a:solidFill>
            <a:srgbClr val="6A2BB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0077" y="1078992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RANSAC+GN
精化定位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9928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19656" y="1078992"/>
            <a:ext cx="1287109" cy="512064"/>
          </a:xfrm>
          <a:prstGeom prst="roundRect">
            <a:avLst/>
          </a:prstGeom>
          <a:solidFill>
            <a:srgbClr val="157A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19656" y="1078992"/>
            <a:ext cx="128710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卡尔曼跟踪
相参增益估计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6765" y="1222369"/>
            <a:ext cx="109728" cy="225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16493" y="1078992"/>
            <a:ext cx="1179850" cy="512064"/>
          </a:xfrm>
          <a:prstGeom prst="roundRect">
            <a:avLst/>
          </a:prstGeom>
          <a:solidFill>
            <a:srgbClr val="157A35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493" y="1078992"/>
            <a:ext cx="117985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目标输出
位置/速度/ID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" y="1792224"/>
            <a:ext cx="2818638" cy="2779776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2608" y="1755648"/>
            <a:ext cx="2818638" cy="2779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2608" y="1755648"/>
            <a:ext cx="2818638" cy="347472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38328" y="177393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1810512"/>
            <a:ext cx="2306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时延对齐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5760.0" y="2103120"/>
            <a:ext cx="2690622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56616" y="2121408"/>
            <a:ext cx="2754630" cy="243230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218541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北斗/GPS 双频授时 &lt; 10 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" y="2450592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互相关峰值 + 亚像素插值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2715768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2734056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r</m:t>
                    </m:r>
                  </m:e>
                  <m:sub>
                    <m:r>
                      <m:t>fold</m:t>
                    </m:r>
                  </m:sub>
                </m:sSub>
                <m:r>
                  <m:t xml:space="preserve"> = mod(</m:t>
                </m:r>
                <m:sSub>
                  <m:e>
                    <m:r>
                      <m:t>r</m:t>
                    </m:r>
                  </m:e>
                  <m:sub>
                    <m:r>
                      <m:t>eq</m:t>
                    </m:r>
                  </m:sub>
                </m:sSub>
                <m:r>
                  <m:t xml:space="preserve">, </m:t>
                </m:r>
                <m:sSub>
                  <m:e>
                    <m:r>
                      <m:t>R</m:t>
                    </m:r>
                  </m:e>
                  <m:sub>
                    <m:r>
                      <m:t>unamb</m:t>
                    </m:r>
                  </m:sub>
                </m:sSub>
                <m:r>
                  <m:t>)</m:t>
                </m:r>
              </m:oMath>
            </a14:m>
          </a:p>
        </p:txBody>
      </p:sp>
      <p:sp>
        <p:nvSpPr>
          <p:cNvPr id="50" name="Rectangle 49"/>
          <p:cNvSpPr/>
          <p:nvPr/>
        </p:nvSpPr>
        <p:spPr>
          <a:xfrm>
            <a:off x="384048" y="3017520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3035808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r</m:t>
                    </m:r>
                  </m:e>
                  <m:sub>
                    <m:r>
                      <m:t>bin</m:t>
                    </m:r>
                  </m:sub>
                </m:sSub>
                <m:r>
                  <m:t xml:space="preserve"> = round</m:t>
                </m:r>
                <m:d>
                  <m:dPr>
                    <m:ctrlPr/>
                  </m:dPr>
                  <m:e>
                    <m:f>
                      <m:num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t>fold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>r</m:t>
                            </m:r>
                          </m:e>
                          <m:sub>
                            <m:r>
                              <m:t>res</m:t>
                            </m:r>
                          </m:sub>
                        </m:sSub>
                      </m:den>
                    </m:f>
                  </m:e>
                </m:d>
                <m:r>
                  <m:t xml:space="preserve"> + 1</m:t>
                </m:r>
              </m:oMath>
            </a14:m>
          </a:p>
        </p:txBody>
      </p:sp>
      <p:sp>
        <p:nvSpPr>
          <p:cNvPr id="52" name="TextBox 51"/>
          <p:cNvSpPr txBox="1"/>
          <p:nvPr/>
        </p:nvSpPr>
        <p:spPr>
          <a:xfrm>
            <a:off x="420624" y="3319272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INS/DVL 动态载体运动预测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" y="3584448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精度目标：Δτ &lt; 0.5 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57550" y="1792224"/>
            <a:ext cx="2818638" cy="2779776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20974" y="1755648"/>
            <a:ext cx="2818638" cy="2779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20974" y="1755648"/>
            <a:ext cx="2818638" cy="34747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266694" y="177393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7C78"/>
                </a:solidFill>
              </a:rPr>
              <a:t>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8174" y="1810512"/>
            <a:ext cx="2306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相位校正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294126.0" y="2103120"/>
            <a:ext cx="2690622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284982" y="2121408"/>
            <a:ext cx="2754630" cy="243230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48990" y="218541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相干度估计（cfar_detect_1d）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12414" y="2450592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67278" y="2468880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s</m:t>
                    </m:r>
                  </m:e>
                  <m:sub>
                    <m:r>
                      <m:t>rot</m:t>
                    </m:r>
                  </m:sub>
                </m:sSub>
                <m:r>
                  <m:t xml:space="preserve"> = s⋅exp</m:t>
                </m:r>
                <m:d>
                  <m:dPr>
                    <m:ctrlPr/>
                  </m:dPr>
                  <m:e>
                    <m:r>
                      <m:t xml:space="preserve">−j2π⋅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d0</m:t>
                        </m:r>
                      </m:sub>
                    </m:sSub>
                    <m:r>
                      <m:t xml:space="preserve">⋅PRI⋅n</m:t>
                    </m:r>
                  </m:e>
                </m:d>
              </m:oMath>
            </a14:m>
          </a:p>
        </p:txBody>
      </p:sp>
      <p:sp>
        <p:nvSpPr>
          <p:cNvPr id="64" name="Rectangle 63"/>
          <p:cNvSpPr/>
          <p:nvPr/>
        </p:nvSpPr>
        <p:spPr>
          <a:xfrm>
            <a:off x="3312414" y="2752344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67278" y="2770632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r>
                  <m:t xml:space="preserve">coh = </m:t>
                </m:r>
                <m:f>
                  <m:num>
                    <m:d>
                      <m:dPr>
                        <m:begChr m:val="|"/>
                        <m:endChr m:val="|"/>
                        <m:ctrlPr/>
                      </m:dPr>
                      <m:e>
                        <m:nary>
                          <m:naryPr>
                            <m:chr m:val="∑"/>
                            <m:subHide m:val="1"/>
                            <m:supHide m:val="1"/>
                            <m:ctrlPr/>
                          </m:naryPr>
                          <m:sub/>
                          <m:sup/>
                          <m:e>
                            <m:sSub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rot</m:t>
                                </m:r>
                              </m:sub>
                            </m:sSub>
                          </m:e>
                        </m:nary>
                      </m:e>
                    </m:d>
                  </m:num>
                  <m:den>
                    <m:nary>
                      <m:naryPr>
                        <m:chr m:val="∑"/>
                        <m:subHide m:val="1"/>
                        <m:supHide m:val="1"/>
                        <m:ctrlPr/>
                      </m:naryPr>
                      <m:sub/>
                      <m:sup/>
                      <m:e>
                        <m:d>
                          <m:dPr>
                            <m:begChr m:val="|"/>
                            <m:endChr m:val="|"/>
                            <m:ctrlPr/>
                          </m:dPr>
                          <m:e>
                            <m:sSub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rot</m:t>
                                </m:r>
                              </m:sub>
                            </m:sSub>
                          </m:e>
                        </m:d>
                      </m:e>
                    </m:nary>
                  </m:den>
                </m:f>
              </m:oMath>
            </a14:m>
          </a:p>
        </p:txBody>
      </p:sp>
      <p:sp>
        <p:nvSpPr>
          <p:cNvPr id="66" name="TextBox 65"/>
          <p:cNvSpPr txBox="1"/>
          <p:nvPr/>
        </p:nvSpPr>
        <p:spPr>
          <a:xfrm>
            <a:off x="3348990" y="305409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相位斜率一致性（抑制镜像峰）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12414" y="3319272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67278" y="3337560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sSub>
                  <m:e>
                    <m:r>
                      <m:t>ph</m:t>
                    </m:r>
                  </m:e>
                  <m:sub>
                    <m:r>
                      <m:t>cons</m:t>
                    </m:r>
                  </m:sub>
                </m:sSub>
                <m:r>
                  <m:t xml:space="preserve"> = exp</m:t>
                </m:r>
                <m:d>
                  <m:dPr>
                    <m:ctrlPr/>
                  </m:dPr>
                  <m:e>
                    <m:r>
                      <m:t>−</m:t>
                    </m:r>
                    <m:f>
                      <m:num>
                        <m:d>
                          <m:dPr>
                            <m:begChr m:val="|"/>
                            <m:endChr m:val="|"/>
                            <m:ctrlPr/>
                          </m:dPr>
                          <m:e>
                            <m:sSub>
                              <m:e>
                                <m:r>
                                  <m:t>Δf</m:t>
                                </m:r>
                              </m:e>
                              <m:sub>
                                <m:r>
                                  <m:t>d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e>
                            <m:r>
                              <m:t>Δf</m:t>
                            </m:r>
                          </m:e>
                          <m:sub>
                            <m:r>
                              <m:t>d,ref</m:t>
                            </m:r>
                          </m:sub>
                        </m:sSub>
                      </m:den>
                    </m:f>
                  </m:e>
                </m:d>
              </m:oMath>
            </a14:m>
          </a:p>
        </p:txBody>
      </p:sp>
      <p:sp>
        <p:nvSpPr>
          <p:cNvPr id="69" name="TextBox 68"/>
          <p:cNvSpPr txBox="1"/>
          <p:nvPr/>
        </p:nvSpPr>
        <p:spPr>
          <a:xfrm>
            <a:off x="3348990" y="3621024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EKF/PLL 实时跟踪相位漂移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85916" y="1792224"/>
            <a:ext cx="2818638" cy="2779776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49340" y="1755648"/>
            <a:ext cx="2818638" cy="2779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49340" y="1755648"/>
            <a:ext cx="2818638" cy="347472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195060" y="177393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6A2BB5"/>
                </a:solidFill>
              </a:rPr>
              <a:t>③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06540" y="1810512"/>
            <a:ext cx="2306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MRC 合并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222492.0" y="2103120"/>
            <a:ext cx="2690622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213348" y="2121408"/>
            <a:ext cx="2754630" cy="243230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77356" y="218541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综合评分（cfar_detect_1d）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40780" y="2450592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95644" y="2468880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r>
                  <m:t xml:space="preserve">score = SNR × </m:t>
                </m:r>
                <m:d>
                  <m:dPr>
                    <m:ctrlPr/>
                  </m:dPr>
                  <m:e>
                    <m:r>
                      <m:t xml:space="preserve">0.3 + 0.7⋅coh</m:t>
                    </m:r>
                  </m:e>
                </m:d>
                <m:r>
                  <m:t xml:space="preserve"> × </m:t>
                </m:r>
                <m:d>
                  <m:dPr>
                    <m:ctrlPr/>
                  </m:dPr>
                  <m:e>
                    <m:r>
                      <m:t xml:space="preserve">0.4 + 0.6⋅</m:t>
                    </m:r>
                    <m:sSub>
                      <m:e>
                        <m:r>
                          <m:t>ph</m:t>
                        </m:r>
                      </m:e>
                      <m:sub>
                        <m:r>
                          <m:t>cons</m:t>
                        </m:r>
                      </m:sub>
                    </m:sSub>
                  </m:e>
                </m:d>
              </m:oMath>
            </a14:m>
          </a:p>
        </p:txBody>
      </p:sp>
      <p:sp>
        <p:nvSpPr>
          <p:cNvPr id="80" name="TextBox 79"/>
          <p:cNvSpPr txBox="1"/>
          <p:nvPr/>
        </p:nvSpPr>
        <p:spPr>
          <a:xfrm>
            <a:off x="6277356" y="2752344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MRC 合并：Σ cell·e^{jφ}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40780" y="3017520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95644" y="3035808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r>
                  <m:t xml:space="preserve">G = 10⋅lg</m:t>
                </m:r>
                <m:d>
                  <m:dPr>
                    <m:ctrlPr/>
                  </m:dPr>
                  <m:e>
                    <m:f>
                      <m:num>
                        <m:sSup>
                          <m:e>
                            <m:d>
                              <m:dPr>
                                <m:begChr m:val="|"/>
                                <m:endChr m:val="|"/>
                                <m:ctrlPr/>
                              </m:dPr>
                              <m:e>
                                <m:r>
                                  <m:t>coh</m:t>
                                </m:r>
                              </m:e>
                            </m:d>
                          </m:e>
                          <m:sup>
                            <m:r>
                              <m:t>2</m:t>
                            </m:r>
                          </m:sup>
                        </m:sSup>
                      </m:num>
                      <m:den>
                        <m:r>
                          <m:t>incoh</m:t>
                        </m:r>
                      </m:den>
                    </m:f>
                  </m:e>
                </m:d>
              </m:oMath>
            </a14:m>
          </a:p>
        </p:txBody>
      </p:sp>
      <p:sp>
        <p:nvSpPr>
          <p:cNvPr id="83" name="TextBox 82"/>
          <p:cNvSpPr txBox="1"/>
          <p:nvPr/>
        </p:nvSpPr>
        <p:spPr>
          <a:xfrm>
            <a:off x="6277356" y="3319272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分层相参：质量异构时组内相参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14282" y="1792224"/>
            <a:ext cx="2818638" cy="2779776"/>
          </a:xfrm>
          <a:prstGeom prst="rect">
            <a:avLst/>
          </a:prstGeom>
          <a:solidFill>
            <a:srgbClr val="CCD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77706" y="1755648"/>
            <a:ext cx="2818638" cy="2779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77706" y="1755648"/>
            <a:ext cx="2818638" cy="347472"/>
          </a:xfrm>
          <a:prstGeom prst="rect">
            <a:avLst/>
          </a:prstGeom>
          <a:solidFill>
            <a:srgbClr val="C85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123426" y="1773936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C8550A"/>
                </a:solidFill>
              </a:rPr>
              <a:t>④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34906" y="1810512"/>
            <a:ext cx="230657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三MTI + SIC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150858.0" y="2103120"/>
            <a:ext cx="2690622.0" cy="0"/>
          </a:xfrm>
          <a:prstGeom prst="line">
            <a:avLst/>
          </a:prstGeom>
          <a:ln w="6350">
            <a:solidFill>
              <a:srgbClr val="E0EA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9141714" y="2121408"/>
            <a:ext cx="2754630" cy="2432304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05722" y="2185416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三通道并行 MTI 滤波：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69146" y="2450592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24010" y="2468880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r>
                  <m:t xml:space="preserve">SLOW: </m:t>
                </m:r>
                <m:r>
                  <m:rPr>
                    <m:sty m:val="bi"/>
                  </m:rPr>
                  <m:t>h</m:t>
                </m:r>
                <m:r>
                  <m:t xml:space="preserve"> = </m:t>
                </m:r>
                <m:d>
                  <m:dPr>
                    <m:begChr m:val="["/>
                    <m:endChr m:val="]"/>
                    <m:ctrlPr/>
                  </m:dPr>
                  <m:e>
                    <m:r>
                      <m:t xml:space="preserve">1, −1</m:t>
                    </m:r>
                  </m:e>
                </m:d>
                <m:r>
                  <m:t xml:space="preserve">  (&lt; 230 m/s)</m:t>
                </m:r>
              </m:oMath>
            </a14:m>
          </a:p>
        </p:txBody>
      </p:sp>
      <p:sp>
        <p:nvSpPr>
          <p:cNvPr id="94" name="Rectangle 93"/>
          <p:cNvSpPr/>
          <p:nvPr/>
        </p:nvSpPr>
        <p:spPr>
          <a:xfrm>
            <a:off x="9169146" y="2752344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24010" y="2770632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r>
                  <m:t xml:space="preserve">FAST: </m:t>
                </m:r>
                <m:r>
                  <m:rPr>
                    <m:sty m:val="bi"/>
                  </m:rPr>
                  <m:t>h</m:t>
                </m:r>
                <m:r>
                  <m:t xml:space="preserve"> = </m:t>
                </m:r>
                <m:d>
                  <m:dPr>
                    <m:begChr m:val="["/>
                    <m:endChr m:val="]"/>
                    <m:ctrlPr/>
                  </m:dPr>
                  <m:e>
                    <m:r>
                      <m:t xml:space="preserve">1, −2, 1</m:t>
                    </m:r>
                  </m:e>
                </m:d>
                <m:r>
                  <m:t xml:space="preserve">  (230~400 m/s)</m:t>
                </m:r>
              </m:oMath>
            </a14:m>
          </a:p>
        </p:txBody>
      </p:sp>
      <p:sp>
        <p:nvSpPr>
          <p:cNvPr id="96" name="Rectangle 95"/>
          <p:cNvSpPr/>
          <p:nvPr/>
        </p:nvSpPr>
        <p:spPr>
          <a:xfrm>
            <a:off x="9169146" y="3054096"/>
            <a:ext cx="2654046" cy="274320"/>
          </a:xfrm>
          <a:prstGeom prst="rect">
            <a:avLst/>
          </a:prstGeom>
          <a:solidFill>
            <a:srgbClr val="E8F2FF"/>
          </a:solidFill>
          <a:ln w="1016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24010" y="3072384"/>
            <a:ext cx="256260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 xmlns:m="http://schemas.openxmlformats.org/officeDocument/2006/math">
              <m:oMath>
                <m:r>
                  <m:t xml:space="preserve">VFAST: </m:t>
                </m:r>
                <m:r>
                  <m:rPr>
                    <m:sty m:val="bi"/>
                  </m:rPr>
                  <m:t>h</m:t>
                </m:r>
                <m:r>
                  <m:t xml:space="preserve"> = </m:t>
                </m:r>
                <m:d>
                  <m:dPr>
                    <m:begChr m:val="["/>
                    <m:endChr m:val="]"/>
                    <m:ctrlPr/>
                  </m:dPr>
                  <m:e>
                    <m:r>
                      <m:t xml:space="preserve">1, −3, 3, −1</m:t>
                    </m:r>
                  </m:e>
                </m:d>
                <m:r>
                  <m:t xml:space="preserve">  (&gt; 400 m/s)</m:t>
                </m:r>
              </m:oMath>
            </a14:m>
          </a:p>
        </p:txBody>
      </p:sp>
      <p:sp>
        <p:nvSpPr>
          <p:cNvPr id="98" name="TextBox 97"/>
          <p:cNvSpPr txBox="1"/>
          <p:nvPr/>
        </p:nvSpPr>
        <p:spPr>
          <a:xfrm>
            <a:off x="9205722" y="3355848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多帧积累：beta=0.65 powBank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205722" y="3621024"/>
            <a:ext cx="261747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SIC 强目标对消 → 弱目标提取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92608" y="4315968"/>
            <a:ext cx="54864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84048" y="4315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2A6E"/>
                </a:solidFill>
              </a:rPr>
              <a:t>  关键性能指标 — 合并策略对比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292608" y="4590288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3" name="Table 102"/>
          <p:cNvGraphicFramePr>
            <a:graphicFrameLocks noGrp="1"/>
          </p:cNvGraphicFramePr>
          <p:nvPr/>
        </p:nvGraphicFramePr>
        <p:xfrm>
          <a:off x="292608" y="4645152"/>
          <a:ext cx="1160373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0747"/>
                <a:gridCol w="2320747"/>
                <a:gridCol w="2320747"/>
                <a:gridCol w="2320747"/>
                <a:gridCol w="2320748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合并策略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同步精度要求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算法延迟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MATLAB 参数 / 函数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导频相参合并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时延 &lt; 10 ns，Δφ &lt; π/8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&lt; 1 ms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sys.fc=500M, cfar.min_snr_db=6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协同组网、慢机动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回波自校准合并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时延 &lt; 50 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1~10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track_aided_coherent, ≥3 链路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无导频、通信受限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三MTI 分层合并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Δτ &lt; 100 ns, coh ≥ 0.08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mti_filter1/2/3, beta=0.65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节点多、同步异构</a:t>
                      </a:r>
                    </a:p>
                  </a:txBody>
                  <a:tcPr>
                    <a:solidFill>
                      <a:srgbClr val="E8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SIC + 相参合并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强目标 SNR &gt; 12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3A"/>
                          </a:solidFill>
                        </a:rPr>
                        <a:t>两轮 ~2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process_all_links_sic, sic_targets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3A"/>
                          </a:solidFill>
                        </a:rPr>
                        <a:t>强弱目标共存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Rectangle 10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92608" y="6400800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292608" y="6492240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4048" y="6483096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核心权衡：空海高动态平台需在「估计精度 — 计算实时性 — 通信开销」三者间最优平衡；分层相参策略（SIC强目标 → 三MTI弱目标 → MRC合并）是算法设计核心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