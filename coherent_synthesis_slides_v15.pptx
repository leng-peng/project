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2322576" cy="6858000"/>
          </a:xfrm>
          <a:prstGeom prst="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0" cy="54864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01168"/>
            <a:ext cx="512064" cy="512064"/>
          </a:xfrm>
          <a:prstGeom prst="ellipse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34747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0E8"/>
                </a:solidFill>
              </a:rPr>
              <a:t>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804672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相参合成
机理分析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" y="1481328"/>
            <a:ext cx="2121408" cy="0"/>
          </a:xfrm>
          <a:prstGeom prst="line">
            <a:avLst/>
          </a:prstGeom>
          <a:ln w="12700">
            <a:solidFill>
              <a:srgbClr val="2E5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" y="1536192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8C0E8"/>
                </a:solidFill>
              </a:rPr>
              <a:t>Coherent Synthesis Mechanism:
Range-Doppler Signal-Level Fusion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" y="2450592"/>
            <a:ext cx="54864" cy="54864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395728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信号处理链路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706624"/>
            <a:ext cx="54864" cy="54864"/>
          </a:xfrm>
          <a:prstGeom prst="rect">
            <a:avLst/>
          </a:prstGeom>
          <a:solidFill>
            <a:srgbClr val="E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651760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数据转换配准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" y="2962656"/>
            <a:ext cx="54864" cy="54864"/>
          </a:xfrm>
          <a:prstGeom prst="rect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907792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信号级融合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" y="5120640"/>
            <a:ext cx="2121408" cy="457200"/>
          </a:xfrm>
          <a:prstGeom prst="rect">
            <a:avLst/>
          </a:prstGeom>
          <a:solidFill>
            <a:srgbClr val="0D1B35"/>
          </a:solidFill>
          <a:ln w="15240">
            <a:solidFill>
              <a:srgbClr val="2E5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016" y="5120640"/>
            <a:ext cx="54864" cy="457200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" y="5157216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C0E8"/>
                </a:solidFill>
              </a:rPr>
              <a:t>节点链路数量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" y="532180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 = 6 链路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" y="5632704"/>
            <a:ext cx="2121408" cy="457200"/>
          </a:xfrm>
          <a:prstGeom prst="rect">
            <a:avLst/>
          </a:prstGeom>
          <a:solidFill>
            <a:srgbClr val="0D1B35"/>
          </a:solidFill>
          <a:ln w="15240">
            <a:solidFill>
              <a:srgbClr val="E5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" y="5632704"/>
            <a:ext cx="54864" cy="457200"/>
          </a:xfrm>
          <a:prstGeom prst="rect">
            <a:avLst/>
          </a:prstGeom>
          <a:solidFill>
            <a:srgbClr val="E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" y="566928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C0E8"/>
                </a:solidFill>
              </a:rPr>
              <a:t>SNR 增益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" y="5833872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15.6 dB（N=6）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" y="6144768"/>
            <a:ext cx="2121408" cy="457200"/>
          </a:xfrm>
          <a:prstGeom prst="rect">
            <a:avLst/>
          </a:prstGeom>
          <a:solidFill>
            <a:srgbClr val="0D1B35"/>
          </a:solidFill>
          <a:ln w="15240">
            <a:solidFill>
              <a:srgbClr val="115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" y="6144768"/>
            <a:ext cx="54864" cy="457200"/>
          </a:xfrm>
          <a:prstGeom prst="rect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" y="6181344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C0E8"/>
                </a:solidFill>
              </a:rPr>
              <a:t>时延精度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" y="63459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&lt; 0.5 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2377440" cy="54864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77440" y="0"/>
            <a:ext cx="981151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377440" y="0"/>
            <a:ext cx="0" cy="0"/>
          </a:xfrm>
          <a:prstGeom prst="line">
            <a:avLst/>
          </a:prstGeom>
          <a:ln>
            <a:solidFill>
              <a:srgbClr val="2E5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377440" y="0"/>
            <a:ext cx="36576" cy="6858000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78608" y="219456"/>
            <a:ext cx="1469136" cy="603504"/>
          </a:xfrm>
          <a:prstGeom prst="roundRect">
            <a:avLst/>
          </a:prstGeom>
          <a:solidFill>
            <a:srgbClr val="2060C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78608" y="219456"/>
            <a:ext cx="14691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原始回波
(N=6链路)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7744" y="388437"/>
            <a:ext cx="118872" cy="265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B0"/>
                </a:solidFill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6616" y="219456"/>
            <a:ext cx="1469136" cy="603504"/>
          </a:xfrm>
          <a:prstGeom prst="roundRect">
            <a:avLst/>
          </a:prstGeom>
          <a:solidFill>
            <a:srgbClr val="2060C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6616" y="219456"/>
            <a:ext cx="14691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脉冲压缩
Pulse Comp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5752" y="388437"/>
            <a:ext cx="118872" cy="265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B0"/>
                </a:solidFill>
              </a:rP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54624" y="219456"/>
            <a:ext cx="1469136" cy="603504"/>
          </a:xfrm>
          <a:prstGeom prst="roundRect">
            <a:avLst/>
          </a:prstGeom>
          <a:solidFill>
            <a:srgbClr val="2060C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54624" y="219456"/>
            <a:ext cx="14691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距离多普勒图
R-D 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388437"/>
            <a:ext cx="118872" cy="265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B0"/>
                </a:solidFill>
              </a:rPr>
              <a:t>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42632" y="219456"/>
            <a:ext cx="1469136" cy="603504"/>
          </a:xfrm>
          <a:prstGeom prst="roundRect">
            <a:avLst/>
          </a:prstGeom>
          <a:solidFill>
            <a:srgbClr val="E55C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42632" y="219456"/>
            <a:ext cx="14691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数据转换
Data Conv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1768" y="388437"/>
            <a:ext cx="118872" cy="265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B0"/>
                </a:solidFill>
              </a:rPr>
              <a:t>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30640" y="219456"/>
            <a:ext cx="1469136" cy="603504"/>
          </a:xfrm>
          <a:prstGeom prst="roundRect">
            <a:avLst/>
          </a:prstGeom>
          <a:solidFill>
            <a:srgbClr val="1155B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30640" y="219456"/>
            <a:ext cx="14691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信号级融合
R-D Fusion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99776" y="388437"/>
            <a:ext cx="118872" cy="265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80B0"/>
                </a:solidFill>
              </a:rPr>
              <a:t>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8648" y="219456"/>
            <a:ext cx="1469136" cy="603504"/>
          </a:xfrm>
          <a:prstGeom prst="roundRect">
            <a:avLst/>
          </a:prstGeom>
          <a:solidFill>
            <a:srgbClr val="00827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8648" y="219456"/>
            <a:ext cx="146913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CFAR检测
目标输出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077200.0" y="694944"/>
            <a:ext cx="0.0" cy="146304"/>
          </a:xfrm>
          <a:prstGeom prst="line">
            <a:avLst/>
          </a:prstGeom>
          <a:ln w="15240">
            <a:solidFill>
              <a:srgbClr val="88A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665208.0" y="694944"/>
            <a:ext cx="0.0" cy="146304"/>
          </a:xfrm>
          <a:prstGeom prst="line">
            <a:avLst/>
          </a:prstGeom>
          <a:ln w="15240">
            <a:solidFill>
              <a:srgbClr val="88AA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2578608" y="1005840"/>
            <a:ext cx="4454956" cy="402336"/>
          </a:xfrm>
          <a:prstGeom prst="rect">
            <a:avLst/>
          </a:prstGeom>
          <a:solidFill>
            <a:srgbClr val="E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78608" y="1005840"/>
            <a:ext cx="731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6624" y="105156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54096" y="1042416"/>
            <a:ext cx="3906316" cy="22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数据转换   Data Conversion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54096" y="1215054"/>
            <a:ext cx="3906316" cy="185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E8CC"/>
                </a:solidFill>
              </a:rPr>
              <a:t>双基地量测 → 统一时延 / 多普勒 / 坐标域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61580" y="1005840"/>
            <a:ext cx="4826203" cy="402336"/>
          </a:xfrm>
          <a:prstGeom prst="rect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61580" y="1005840"/>
            <a:ext cx="73152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89596" y="105156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7068" y="1042416"/>
            <a:ext cx="4277563" cy="22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距离多普勒域信号级融合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7068" y="1215054"/>
            <a:ext cx="4277563" cy="185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0D8FF"/>
                </a:solidFill>
              </a:rPr>
              <a:t>Range-Doppler Domain Signal-Level Coherent Fusion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78608" y="1499616"/>
            <a:ext cx="4454956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78608" y="1499616"/>
            <a:ext cx="45720" cy="1572768"/>
          </a:xfrm>
          <a:prstGeom prst="rect">
            <a:avLst/>
          </a:prstGeom>
          <a:solidFill>
            <a:srgbClr val="E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24328" y="1499616"/>
            <a:ext cx="4409236" cy="292608"/>
          </a:xfrm>
          <a:prstGeom prst="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624328" y="1792224.0"/>
            <a:ext cx="4409236.8" cy="0.0"/>
          </a:xfrm>
          <a:prstGeom prst="line">
            <a:avLst/>
          </a:prstGeom>
          <a:ln w="7620">
            <a:solidFill>
              <a:srgbClr val="D0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697480" y="1517904"/>
            <a:ext cx="256032" cy="256032"/>
          </a:xfrm>
          <a:prstGeom prst="ellipse">
            <a:avLst/>
          </a:prstGeom>
          <a:solidFill>
            <a:srgbClr val="E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26664" y="1536192"/>
            <a:ext cx="39337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E55C00"/>
                </a:solidFill>
              </a:rPr>
              <a:t>双基地时延配准（等效斜距折叠）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1828800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等效双程距离：r_eq = r_tx + r_rx  (双基地路径和)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97480" y="1836326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r_fold = mod(r_eq, R_unamb)  ← 距离折叠处理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97480" y="1843852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rbin = round(r_fold / r_res) + 1  ← 距离门索引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97480" y="1851379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精度要求：Δτ &lt; λ/(4c) ≈ 0.5 ns ≡ Δr &lt; 7.5 cm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61580" y="1499616"/>
            <a:ext cx="4826203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161580" y="1499616"/>
            <a:ext cx="45720" cy="1572768"/>
          </a:xfrm>
          <a:prstGeom prst="rect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07300" y="1499616"/>
            <a:ext cx="4780483" cy="29260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7207300.8" y="1792224.0"/>
            <a:ext cx="4780483.2" cy="0.0"/>
          </a:xfrm>
          <a:prstGeom prst="line">
            <a:avLst/>
          </a:prstGeom>
          <a:ln w="7620">
            <a:solidFill>
              <a:srgbClr val="D0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7280452" y="1517904"/>
            <a:ext cx="256032" cy="256032"/>
          </a:xfrm>
          <a:prstGeom prst="ellipse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09636" y="1536192"/>
            <a:ext cx="43049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1155BB"/>
                </a:solidFill>
              </a:rPr>
              <a:t>RD图生成与信号模型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80452" y="1828800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各链路：X_k[r,d] = CFFT{ s_k(t)·e^{-j2πf_d·t} }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80452" y="1836326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sₖ(t) = A·exp[j(2π·fc·τₖ + φₖ)] + nₖ(t)  ← 复数基带信号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80452" y="1843852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信号级融合：在复数域（检测前）完成，保留完整相位信息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80452" y="1851379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区别于数据级融合：信噪比增益 N² vs 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78608" y="3154680"/>
            <a:ext cx="4454956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78608" y="3154680"/>
            <a:ext cx="45720" cy="1572768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24328" y="3154680"/>
            <a:ext cx="4409236" cy="292608"/>
          </a:xfrm>
          <a:prstGeom prst="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2624328" y="3447288.0"/>
            <a:ext cx="4409236.8" cy="0.0"/>
          </a:xfrm>
          <a:prstGeom prst="line">
            <a:avLst/>
          </a:prstGeom>
          <a:ln w="7620">
            <a:solidFill>
              <a:srgbClr val="D0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2697480" y="3172968"/>
            <a:ext cx="256032" cy="256032"/>
          </a:xfrm>
          <a:prstGeom prst="ellipse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26664" y="3191256"/>
            <a:ext cx="39337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CC5500"/>
                </a:solidFill>
              </a:rPr>
              <a:t>多普勒域统一（速度转换）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97480" y="3483864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双基地多普勒：f_d,k = (v_T·cosα_T + v_R·cosα_R) / 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97480" y="3491390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速度转换因子：K_v = cos(β/2)，β 为双基地角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97480" y="3498916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等效速度：v_eq = f_d·λ / (2·cos(β/2))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97480" y="3506443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各链路统一到等效单基地速度轴，消除多普勒偏差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61580" y="3154680"/>
            <a:ext cx="4826203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161580" y="3154680"/>
            <a:ext cx="45720" cy="1572768"/>
          </a:xfrm>
          <a:prstGeom prst="rect">
            <a:avLst/>
          </a:prstGeom>
          <a:solidFill>
            <a:srgbClr val="00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207300" y="3154680"/>
            <a:ext cx="4780483" cy="29260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7207300.8" y="3447288.0"/>
            <a:ext cx="4780483.2" cy="0.0"/>
          </a:xfrm>
          <a:prstGeom prst="line">
            <a:avLst/>
          </a:prstGeom>
          <a:ln w="7620">
            <a:solidFill>
              <a:srgbClr val="D0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7280452" y="3172968"/>
            <a:ext cx="256032" cy="256032"/>
          </a:xfrm>
          <a:prstGeom prst="ellipse">
            <a:avLst/>
          </a:prstGeom>
          <a:solidFill>
            <a:srgbClr val="00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09636" y="3191256"/>
            <a:ext cx="43049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00827E"/>
                </a:solidFill>
              </a:rPr>
              <a:t>相参合并公式（MRC加权）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80452" y="3483864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X_coh[r,d] = Σ_k  w_k · X_k[r,d] · exp(j·φ_k)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80452" y="3491390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MRC权值：w_k = SNR_k · coh_k · ph_cons_k  ← 三因子积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80452" y="3498916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相干度：coh_k = |Σ s_rot| / Σ|s_rot|  ← 回波自校准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80452" y="3506443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相位斜率一致性：ph_cons = exp(−|Δfd|/Δfd_ref)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78608" y="4809744"/>
            <a:ext cx="4454956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578608" y="4809744"/>
            <a:ext cx="45720" cy="1572768"/>
          </a:xfrm>
          <a:prstGeom prst="rect">
            <a:avLst/>
          </a:prstGeom>
          <a:solidFill>
            <a:srgbClr val="B3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624328" y="4809744"/>
            <a:ext cx="4409236" cy="292608"/>
          </a:xfrm>
          <a:prstGeom prst="rect">
            <a:avLst/>
          </a:prstGeom>
          <a:solidFill>
            <a:srgbClr val="FF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2624328" y="5102352.0"/>
            <a:ext cx="4409236.8" cy="0.0"/>
          </a:xfrm>
          <a:prstGeom prst="line">
            <a:avLst/>
          </a:prstGeom>
          <a:ln w="7620">
            <a:solidFill>
              <a:srgbClr val="D0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2697480" y="4828032"/>
            <a:ext cx="256032" cy="256032"/>
          </a:xfrm>
          <a:prstGeom prst="ellipse">
            <a:avLst/>
          </a:prstGeom>
          <a:solidFill>
            <a:srgbClr val="B3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26664" y="4846320"/>
            <a:ext cx="39337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B34E00"/>
                </a:solidFill>
              </a:rPr>
              <a:t>坐标系配准与平台运动补偿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97480" y="5138928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各平台坐标 → 统一 ECEF/ENU 参考系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97480" y="5146454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Δφ_motion = 2π·fc·Δτ_motion  ← 运动相位误差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97480" y="5153980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INS/DVL 辅助：精度 0.1 m/s、0.01°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97480" y="5161507"/>
            <a:ext cx="4281220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北斗/GPS 双频授时：时间基准同步 &lt; 10 ns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161580" y="4809744"/>
            <a:ext cx="4826203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161580" y="4809744"/>
            <a:ext cx="45720" cy="1572768"/>
          </a:xfrm>
          <a:prstGeom prst="rect">
            <a:avLst/>
          </a:prstGeom>
          <a:solidFill>
            <a:srgbClr val="622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207300" y="4809744"/>
            <a:ext cx="4780483" cy="292608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7207300.8" y="5102352.0"/>
            <a:ext cx="4780483.2" cy="0.0"/>
          </a:xfrm>
          <a:prstGeom prst="line">
            <a:avLst/>
          </a:prstGeom>
          <a:ln w="7620">
            <a:solidFill>
              <a:srgbClr val="D0DC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7280452" y="4828032"/>
            <a:ext cx="256032" cy="256032"/>
          </a:xfrm>
          <a:prstGeom prst="ellipse">
            <a:avLst/>
          </a:prstGeom>
          <a:solidFill>
            <a:srgbClr val="622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09636" y="4846320"/>
            <a:ext cx="430499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6225AA"/>
                </a:solidFill>
              </a:rPr>
              <a:t>增益退化律与效能分析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80452" y="5138928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理想相参增益：G_coh = 20·lg(N) = 15.6 dB（N=6）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80452" y="5146454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非相参基准：G_incoh = 10·lg(N) = 7.8 dB，净增益 +7.8 dB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80452" y="5153980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含误差退化：G_eff = G · exp(−σ_φ²)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80452" y="5161507"/>
            <a:ext cx="4652467" cy="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σ_φ &lt; π/8 → G_eff ≥ 90%·G；σ_φ = π/4 → G_eff ≈ 64%·G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377440" y="6437376"/>
            <a:ext cx="9811512" cy="420624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2377440" y="6437376"/>
            <a:ext cx="9811512" cy="0"/>
          </a:xfrm>
          <a:prstGeom prst="line">
            <a:avLst/>
          </a:prstGeom>
          <a:ln w="19050">
            <a:solidFill>
              <a:srgbClr val="2E5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2578608" y="6528816"/>
            <a:ext cx="45720" cy="237744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670048" y="6510528"/>
            <a:ext cx="9427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8C0E8"/>
                </a:solidFill>
              </a:rPr>
              <a:t>  核心机理：各链路双基地量测经数据转换配准至统一时延/多普勒/坐标域后，在距离多普勒复数域实施信号级相参合并，实现 N² 量级 SNR 增益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" y="0"/>
            <a:ext cx="2322576" cy="6858000"/>
          </a:xfrm>
          <a:prstGeom prst="rect">
            <a:avLst/>
          </a:prstGeom>
          <a:solidFill>
            <a:srgbClr val="16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77440" cy="54864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01168"/>
            <a:ext cx="512064" cy="512064"/>
          </a:xfrm>
          <a:prstGeom prst="ellipse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347472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8C0E8"/>
                </a:solidFill>
              </a:rPr>
              <a:t>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804672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相参合成
方法设计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" y="1481328"/>
            <a:ext cx="2121408" cy="0"/>
          </a:xfrm>
          <a:prstGeom prst="line">
            <a:avLst/>
          </a:prstGeom>
          <a:ln w="12700">
            <a:solidFill>
              <a:srgbClr val="2E5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8016" y="1536192"/>
            <a:ext cx="21762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8C0E8"/>
                </a:solidFill>
              </a:rPr>
              <a:t>Coherent Synthesis Method Design:
Processing Pipeline &amp; Synchronization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" y="2450592"/>
            <a:ext cx="54864" cy="54864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395728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两轮检测流水线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706624"/>
            <a:ext cx="54864" cy="54864"/>
          </a:xfrm>
          <a:prstGeom prst="rect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651760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时延对齐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" y="2962656"/>
            <a:ext cx="54864" cy="54864"/>
          </a:xfrm>
          <a:prstGeom prst="rect">
            <a:avLst/>
          </a:prstGeom>
          <a:solidFill>
            <a:srgbClr val="00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907792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相位校正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3218688"/>
            <a:ext cx="54864" cy="54864"/>
          </a:xfrm>
          <a:prstGeom prst="rect">
            <a:avLst/>
          </a:prstGeom>
          <a:solidFill>
            <a:srgbClr val="622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163824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MRC合并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" y="3474720"/>
            <a:ext cx="54864" cy="54864"/>
          </a:xfrm>
          <a:prstGeom prst="rect">
            <a:avLst/>
          </a:prstGeom>
          <a:solidFill>
            <a:srgbClr val="C8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419856"/>
            <a:ext cx="2029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三MTI + SIC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" y="5120640"/>
            <a:ext cx="2121408" cy="457200"/>
          </a:xfrm>
          <a:prstGeom prst="rect">
            <a:avLst/>
          </a:prstGeom>
          <a:solidFill>
            <a:srgbClr val="0D1B35"/>
          </a:solidFill>
          <a:ln w="15240">
            <a:solidFill>
              <a:srgbClr val="2E5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" y="5120640"/>
            <a:ext cx="54864" cy="457200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" y="5157216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C0E8"/>
                </a:solidFill>
              </a:rPr>
              <a:t>两轮级联检测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" y="532180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Round 1 + Round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" y="5632704"/>
            <a:ext cx="2121408" cy="457200"/>
          </a:xfrm>
          <a:prstGeom prst="rect">
            <a:avLst/>
          </a:prstGeom>
          <a:solidFill>
            <a:srgbClr val="0D1B35"/>
          </a:solidFill>
          <a:ln w="15240">
            <a:solidFill>
              <a:srgbClr val="E5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" y="5632704"/>
            <a:ext cx="54864" cy="457200"/>
          </a:xfrm>
          <a:prstGeom prst="rect">
            <a:avLst/>
          </a:prstGeom>
          <a:solidFill>
            <a:srgbClr val="E5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" y="5669280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C0E8"/>
                </a:solidFill>
              </a:rPr>
              <a:t>CFAR 门限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" y="5833872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6 / 12 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" y="6144768"/>
            <a:ext cx="2121408" cy="457200"/>
          </a:xfrm>
          <a:prstGeom prst="rect">
            <a:avLst/>
          </a:prstGeom>
          <a:solidFill>
            <a:srgbClr val="0D1B35"/>
          </a:solidFill>
          <a:ln w="15240">
            <a:solidFill>
              <a:srgbClr val="115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8016" y="6144768"/>
            <a:ext cx="54864" cy="457200"/>
          </a:xfrm>
          <a:prstGeom prst="rect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" y="6181344"/>
            <a:ext cx="1993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C0E8"/>
                </a:solidFill>
              </a:rPr>
              <a:t>MTI 通道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" y="634593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3 通道并行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03136"/>
            <a:ext cx="2377440" cy="54864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40" y="0"/>
            <a:ext cx="981151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77440" y="0"/>
            <a:ext cx="36576" cy="6858000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78608" y="128016"/>
            <a:ext cx="4704588" cy="731520"/>
          </a:xfrm>
          <a:prstGeom prst="rect">
            <a:avLst/>
          </a:prstGeom>
          <a:solidFill>
            <a:srgbClr val="DCEBF8"/>
          </a:solidFill>
          <a:ln w="7620">
            <a:solidFill>
              <a:srgbClr val="B0C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83196" y="128016"/>
            <a:ext cx="4704588" cy="731520"/>
          </a:xfrm>
          <a:prstGeom prst="rect">
            <a:avLst/>
          </a:prstGeom>
          <a:solidFill>
            <a:srgbClr val="D8EEE8"/>
          </a:solidFill>
          <a:ln w="7620">
            <a:solidFill>
              <a:srgbClr val="A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0048" y="146304"/>
            <a:ext cx="45164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55BB"/>
                </a:solidFill>
              </a:rPr>
              <a:t>Round 1 · 强目标检测（无MTI）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4636" y="146304"/>
            <a:ext cx="45164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827E"/>
                </a:solidFill>
              </a:rPr>
              <a:t>Round 2 · 弱目标检测（三MTI并行）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83196.0" y="128016"/>
            <a:ext cx="0.0" cy="731520"/>
          </a:xfrm>
          <a:prstGeom prst="line">
            <a:avLst/>
          </a:prstGeom>
          <a:ln w="2540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578608" y="310896"/>
            <a:ext cx="938448" cy="530352"/>
          </a:xfrm>
          <a:prstGeom prst="roundRect">
            <a:avLst/>
          </a:prstGeom>
          <a:solidFill>
            <a:srgbClr val="1155B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8608" y="310896"/>
            <a:ext cx="93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总回波输入
N=6链路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7056" y="459394"/>
            <a:ext cx="109728" cy="23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070A0"/>
                </a:solidFill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26784" y="310896"/>
            <a:ext cx="1023762" cy="530352"/>
          </a:xfrm>
          <a:prstGeom prst="roundRect">
            <a:avLst/>
          </a:prstGeom>
          <a:solidFill>
            <a:srgbClr val="1155B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26784" y="310896"/>
            <a:ext cx="102376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无MTI积累
CFAR&gt;12dB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0546" y="459394"/>
            <a:ext cx="109728" cy="23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070A0"/>
                </a:solidFill>
              </a:rPr>
              <a:t>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60274" y="310896"/>
            <a:ext cx="853135" cy="530352"/>
          </a:xfrm>
          <a:prstGeom prst="roundRect">
            <a:avLst/>
          </a:prstGeom>
          <a:solidFill>
            <a:srgbClr val="6225A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60274" y="310896"/>
            <a:ext cx="85313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GN定位
强目标解算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13410" y="459394"/>
            <a:ext cx="109728" cy="23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070A0"/>
                </a:solidFill>
              </a:rPr>
              <a:t>▶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23138" y="310896"/>
            <a:ext cx="767821" cy="530352"/>
          </a:xfrm>
          <a:prstGeom prst="roundRect">
            <a:avLst/>
          </a:prstGeom>
          <a:solidFill>
            <a:srgbClr val="AA151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23138" y="310896"/>
            <a:ext cx="76782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SIC
强目标对消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0959" y="459394"/>
            <a:ext cx="109728" cy="23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070A0"/>
                </a:solidFill>
              </a:rPr>
              <a:t>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00687" y="310896"/>
            <a:ext cx="1109075" cy="530352"/>
          </a:xfrm>
          <a:prstGeom prst="roundRect">
            <a:avLst/>
          </a:prstGeom>
          <a:solidFill>
            <a:srgbClr val="00827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0687" y="310896"/>
            <a:ext cx="110907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三MTI并行
SLOW/FAST/VFAST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09763" y="459394"/>
            <a:ext cx="109728" cy="23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070A0"/>
                </a:solidFill>
              </a:rPr>
              <a:t>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19491" y="310896"/>
            <a:ext cx="938448" cy="530352"/>
          </a:xfrm>
          <a:prstGeom prst="roundRect">
            <a:avLst/>
          </a:prstGeom>
          <a:solidFill>
            <a:srgbClr val="00827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19491" y="310896"/>
            <a:ext cx="93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CFAR&gt;6dB
NMS去重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57940" y="459394"/>
            <a:ext cx="109728" cy="23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070A0"/>
                </a:solidFill>
              </a:rPr>
              <a:t>▶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67668" y="310896"/>
            <a:ext cx="938448" cy="530352"/>
          </a:xfrm>
          <a:prstGeom prst="roundRect">
            <a:avLst/>
          </a:prstGeom>
          <a:solidFill>
            <a:srgbClr val="6225A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7668" y="310896"/>
            <a:ext cx="93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RANSAC+GN
精化定位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06117" y="459394"/>
            <a:ext cx="109728" cy="23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070A0"/>
                </a:solidFill>
              </a:rPr>
              <a:t>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15845" y="310896"/>
            <a:ext cx="1023762" cy="530352"/>
          </a:xfrm>
          <a:prstGeom prst="roundRect">
            <a:avLst/>
          </a:prstGeom>
          <a:solidFill>
            <a:srgbClr val="14783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15845" y="310896"/>
            <a:ext cx="102376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卡尔曼跟踪
相参增益估计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39607" y="459394"/>
            <a:ext cx="109728" cy="233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070A0"/>
                </a:solidFill>
              </a:rPr>
              <a:t>▶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049335" y="310896"/>
            <a:ext cx="938448" cy="530352"/>
          </a:xfrm>
          <a:prstGeom prst="roundRect">
            <a:avLst/>
          </a:prstGeom>
          <a:solidFill>
            <a:srgbClr val="14783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49335" y="310896"/>
            <a:ext cx="93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目标输出
位置/速度/ID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78608" y="1005840"/>
            <a:ext cx="2269998" cy="3547872"/>
          </a:xfrm>
          <a:prstGeom prst="rect">
            <a:avLst/>
          </a:prstGeom>
          <a:solidFill>
            <a:srgbClr val="FFFFFF"/>
          </a:solidFill>
          <a:ln w="8890">
            <a:solidFill>
              <a:srgbClr val="D0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78608" y="1005840"/>
            <a:ext cx="45720" cy="3547872"/>
          </a:xfrm>
          <a:prstGeom prst="rect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24328" y="1005840"/>
            <a:ext cx="2224278" cy="34747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624328.0" y="1353312"/>
            <a:ext cx="2224278.0" cy="0"/>
          </a:xfrm>
          <a:prstGeom prst="line">
            <a:avLst/>
          </a:prstGeom>
          <a:ln w="7620">
            <a:solidFill>
              <a:srgbClr val="C0D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2679192" y="1033272"/>
            <a:ext cx="292608" cy="292608"/>
          </a:xfrm>
          <a:prstGeom prst="ellipse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4952" y="1051560"/>
            <a:ext cx="17213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55BB"/>
                </a:solidFill>
              </a:rPr>
              <a:t>时延对齐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88336" y="1389888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北斗/GPS 双频授时 &lt; 10 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88336" y="1650491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互相关峰值 + 亚像素插值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88336" y="1911094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r_fold = mod(r_eq, R_unamb)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88336" y="2171697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rbin = round(r_fold/r_res)+1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88336" y="2432300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INS/DVL 动态载体运动预测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88336" y="2692903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精度目标：Δτ &lt; 0.5 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8334" y="1005840"/>
            <a:ext cx="2269998" cy="3547872"/>
          </a:xfrm>
          <a:prstGeom prst="rect">
            <a:avLst/>
          </a:prstGeom>
          <a:solidFill>
            <a:srgbClr val="FFFFFF"/>
          </a:solidFill>
          <a:ln w="8890">
            <a:solidFill>
              <a:srgbClr val="D0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8334" y="1005840"/>
            <a:ext cx="45720" cy="3547872"/>
          </a:xfrm>
          <a:prstGeom prst="rect">
            <a:avLst/>
          </a:prstGeom>
          <a:solidFill>
            <a:srgbClr val="00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004054" y="1005840"/>
            <a:ext cx="2224278" cy="34747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5004054.0" y="1353312"/>
            <a:ext cx="2224278.0" cy="0"/>
          </a:xfrm>
          <a:prstGeom prst="line">
            <a:avLst/>
          </a:prstGeom>
          <a:ln w="7620">
            <a:solidFill>
              <a:srgbClr val="C0D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5058918" y="1033272"/>
            <a:ext cx="292608" cy="292608"/>
          </a:xfrm>
          <a:prstGeom prst="ellipse">
            <a:avLst/>
          </a:prstGeom>
          <a:solidFill>
            <a:srgbClr val="008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24678" y="1051560"/>
            <a:ext cx="17213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27E"/>
                </a:solidFill>
              </a:rPr>
              <a:t>相位校正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68062" y="1389888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相干度估计（cfar_detect_1d）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68062" y="1650491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s_rot = s·exp(−j2π·fd0·PRI·n)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68062" y="1911094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coh = |Σs_rot| / Σ|s_rot|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68062" y="2171697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相位斜率一致性（抑制镜像峰）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68062" y="2432300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ph_cons = exp(−|Δfd|/Δfd_ref)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68062" y="2692903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EKF/PLL 实时跟踪相位漂移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38060" y="1005840"/>
            <a:ext cx="2269998" cy="3547872"/>
          </a:xfrm>
          <a:prstGeom prst="rect">
            <a:avLst/>
          </a:prstGeom>
          <a:solidFill>
            <a:srgbClr val="FFFFFF"/>
          </a:solidFill>
          <a:ln w="8890">
            <a:solidFill>
              <a:srgbClr val="D0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338060" y="1005840"/>
            <a:ext cx="45720" cy="3547872"/>
          </a:xfrm>
          <a:prstGeom prst="rect">
            <a:avLst/>
          </a:prstGeom>
          <a:solidFill>
            <a:srgbClr val="622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0" y="1005840"/>
            <a:ext cx="2224278" cy="34747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7383780.0" y="1353312"/>
            <a:ext cx="2224278.0" cy="0"/>
          </a:xfrm>
          <a:prstGeom prst="line">
            <a:avLst/>
          </a:prstGeom>
          <a:ln w="7620">
            <a:solidFill>
              <a:srgbClr val="C0D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7438644" y="1033272"/>
            <a:ext cx="292608" cy="292608"/>
          </a:xfrm>
          <a:prstGeom prst="ellipse">
            <a:avLst/>
          </a:prstGeom>
          <a:solidFill>
            <a:srgbClr val="622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04404" y="1051560"/>
            <a:ext cx="17213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225AA"/>
                </a:solidFill>
              </a:rPr>
              <a:t>MRC 合并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47788" y="1389888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综合评分（cfar_detect_1d）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47788" y="1650491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score = SNR × (0.3+0.7·coh)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47788" y="1911094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       × (0.4+0.6·ph_cons)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47788" y="2171697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MRC 合并：Σ cell·e^{jφ}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47788" y="2432300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G = 10·lg(|coh|²/incoh)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47788" y="2692903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分层相参：质量异构时组内相参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17786" y="1005840"/>
            <a:ext cx="2269998" cy="3547872"/>
          </a:xfrm>
          <a:prstGeom prst="rect">
            <a:avLst/>
          </a:prstGeom>
          <a:solidFill>
            <a:srgbClr val="FFFFFF"/>
          </a:solidFill>
          <a:ln w="8890">
            <a:solidFill>
              <a:srgbClr val="D0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717786" y="1005840"/>
            <a:ext cx="45720" cy="3547872"/>
          </a:xfrm>
          <a:prstGeom prst="rect">
            <a:avLst/>
          </a:prstGeom>
          <a:solidFill>
            <a:srgbClr val="C8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63506" y="1005840"/>
            <a:ext cx="2224278" cy="347472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9763506.0" y="1353312"/>
            <a:ext cx="2224278.0" cy="0"/>
          </a:xfrm>
          <a:prstGeom prst="line">
            <a:avLst/>
          </a:prstGeom>
          <a:ln w="7620">
            <a:solidFill>
              <a:srgbClr val="C0D0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9818370" y="1033272"/>
            <a:ext cx="292608" cy="292608"/>
          </a:xfrm>
          <a:prstGeom prst="ellipse">
            <a:avLst/>
          </a:prstGeom>
          <a:solidFill>
            <a:srgbClr val="C8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84130" y="1051560"/>
            <a:ext cx="172135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550A"/>
                </a:solidFill>
              </a:rPr>
              <a:t>三MTI + SIC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27514" y="1389888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三通道并行 MTI 滤波：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27514" y="1650491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SLOW  → [1,−1]    &lt; 230 m/s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827514" y="1911094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FAST  → [1,−2,1]  230~400 m/s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27514" y="2171697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84090"/>
                </a:solidFill>
              </a:rPr>
              <a:t>   VFAST → [1,−3,3,−1]  &gt; 400 m/s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27514" y="2432300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多帧积累：beta=0.65 powBank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27514" y="2692903"/>
            <a:ext cx="2087118" cy="260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035"/>
                </a:solidFill>
              </a:rPr>
              <a:t>• SIC 强目标对消 → 弱目标提取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578608" y="4315968"/>
            <a:ext cx="45720" cy="256032"/>
          </a:xfrm>
          <a:prstGeom prst="rect">
            <a:avLst/>
          </a:prstGeom>
          <a:solidFill>
            <a:srgbClr val="11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670048" y="4315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3070"/>
                </a:solidFill>
              </a:rPr>
              <a:t>  关键性能指标 — 合并策略对比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2578608" y="4590288"/>
            <a:ext cx="9409176" cy="0"/>
          </a:xfrm>
          <a:prstGeom prst="line">
            <a:avLst/>
          </a:prstGeom>
          <a:ln w="19050">
            <a:solidFill>
              <a:srgbClr val="1155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2578608" y="4663440"/>
          <a:ext cx="940917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835"/>
                <a:gridCol w="1881835"/>
                <a:gridCol w="1881835"/>
                <a:gridCol w="1881835"/>
                <a:gridCol w="1881836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合并策略</a:t>
                      </a:r>
                    </a:p>
                  </a:txBody>
                  <a:tcPr>
                    <a:solidFill>
                      <a:srgbClr val="0D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同步精度要求</a:t>
                      </a:r>
                    </a:p>
                  </a:txBody>
                  <a:tcPr>
                    <a:solidFill>
                      <a:srgbClr val="0D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算法延迟</a:t>
                      </a:r>
                    </a:p>
                  </a:txBody>
                  <a:tcPr>
                    <a:solidFill>
                      <a:srgbClr val="0D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MATLAB 参数 / 函数</a:t>
                      </a:r>
                    </a:p>
                  </a:txBody>
                  <a:tcPr>
                    <a:solidFill>
                      <a:srgbClr val="0D1B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0D1B3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导频相参合并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35"/>
                          </a:solidFill>
                        </a:rPr>
                        <a:t>时延 &lt; 10 ns，Δφ &lt; π/8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35"/>
                          </a:solidFill>
                        </a:rPr>
                        <a:t>&lt; 1 ms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sys.fc=500M, cfar.min_snr_db=6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协同组网、慢机动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回波自校准合并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35"/>
                          </a:solidFill>
                        </a:rPr>
                        <a:t>时延 &lt; 50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35"/>
                          </a:solidFill>
                        </a:rPr>
                        <a:t>1~10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track_aided_coherent, ≥3 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无导频、通信受限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三MTI 分层合并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35"/>
                          </a:solidFill>
                        </a:rPr>
                        <a:t>Δτ &lt; 100 ns, coh ≥ 0.08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35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mti_filter1/2/3, beta=0.65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节点多、同步异构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SIC + 相参合并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35"/>
                          </a:solidFill>
                        </a:rPr>
                        <a:t>强目标 SNR &gt; 12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2035"/>
                          </a:solidFill>
                        </a:rPr>
                        <a:t>两轮 ~2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process_all_links_sic, sic_targets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035"/>
                          </a:solidFill>
                        </a:rPr>
                        <a:t>强弱目标共存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8" name="Rectangle 117"/>
          <p:cNvSpPr/>
          <p:nvPr/>
        </p:nvSpPr>
        <p:spPr>
          <a:xfrm>
            <a:off x="2377440" y="6437376"/>
            <a:ext cx="9811512" cy="420624"/>
          </a:xfrm>
          <a:prstGeom prst="rect">
            <a:avLst/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2377440" y="6437376"/>
            <a:ext cx="9811512" cy="0"/>
          </a:xfrm>
          <a:prstGeom prst="line">
            <a:avLst/>
          </a:prstGeom>
          <a:ln w="19050">
            <a:solidFill>
              <a:srgbClr val="2E5F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2578608" y="6528816"/>
            <a:ext cx="45720" cy="237744"/>
          </a:xfrm>
          <a:prstGeom prst="rect">
            <a:avLst/>
          </a:prstGeom>
          <a:solidFill>
            <a:srgbClr val="2E5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670048" y="6510528"/>
            <a:ext cx="9427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8C0E8"/>
                </a:solidFill>
              </a:rPr>
              <a:t>  核心权衡：空海高动态平台需在「估计精度 — 计算实时性 — 通信开销」三者间最优平衡；分层相参策略（SIC强目标 → 三MTI弱目标 → MRC合并）是算法设计核心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