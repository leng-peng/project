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空海平台多节点协同探测 · 相参合成机理分析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Coherent Synthesis Mechanism: Range-Doppler Signal-Level Fusion &amp; Data Conversion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042416"/>
            <a:ext cx="1827276" cy="566928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原始回波
(N=6链路)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9884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7900" y="1042416"/>
            <a:ext cx="1827276" cy="566928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7900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脉冲压缩
Pulse Comp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5176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3192" y="1042416"/>
            <a:ext cx="1827276" cy="566928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3192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距离多普勒图
R-D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0468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4" y="1042416"/>
            <a:ext cx="1827276" cy="566928"/>
          </a:xfrm>
          <a:prstGeom prst="roundRect">
            <a:avLst/>
          </a:prstGeom>
          <a:solidFill>
            <a:srgbClr val="B54A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8484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数据转换
Data Conv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5760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3776" y="1042416"/>
            <a:ext cx="1827276" cy="566928"/>
          </a:xfrm>
          <a:prstGeom prst="roundRect">
            <a:avLst/>
          </a:prstGeom>
          <a:solidFill>
            <a:srgbClr val="0D2A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3776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信号级融合
R-D 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1052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69068" y="1042416"/>
            <a:ext cx="1827276" cy="566928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69068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CFAR检测
目标输出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72122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27414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29184" y="1792224"/>
            <a:ext cx="5499567" cy="384048"/>
          </a:xfrm>
          <a:prstGeom prst="rect">
            <a:avLst/>
          </a:prstGeom>
          <a:solidFill>
            <a:srgbClr val="CCD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" y="1755648"/>
            <a:ext cx="5499567" cy="384048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1755648"/>
            <a:ext cx="91440" cy="384048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" y="18013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1810512"/>
            <a:ext cx="4987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数据转换   Data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1993392"/>
            <a:ext cx="498750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E0B0"/>
                </a:solidFill>
              </a:rPr>
              <a:t>双基地量测→统一参考域：时延配准 / 多普勒统一 / 坐标配准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258568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" y="2231136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" y="2231136"/>
            <a:ext cx="5499567" cy="320040"/>
          </a:xfrm>
          <a:prstGeom prst="rect">
            <a:avLst/>
          </a:prstGeom>
          <a:solidFill>
            <a:srgbClr val="C86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38328" y="22539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C86210"/>
                </a:solidFill>
              </a:rPr>
              <a:t>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2276856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双基地时延配准（等效斜距折叠）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260604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等效双程距离：r_eq = r_tx + r_rx  (双基地路径和)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261539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r_fold = mod(r_eq, R_unamb)  ← 距离折叠处理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2624748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rbin = round(r_fold / r_res) + 1  ← 距离门索引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2634102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精度要求：Δτ &lt; λ/(4c) ≈ 0.5 ns ≡ Δr &lt; 7.5 cm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666744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2608" y="3639312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2608" y="3639312"/>
            <a:ext cx="5499567" cy="320040"/>
          </a:xfrm>
          <a:prstGeom prst="rect">
            <a:avLst/>
          </a:prstGeom>
          <a:solidFill>
            <a:srgbClr val="D4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38328" y="36621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D47820"/>
                </a:solidFill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3685032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多普勒域统一（速度转换）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4014216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双基地多普勒：f_d,k = (v_T·cosα_T + v_R·cosα_R) / 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402357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速度转换因子：K_v = cos(β/2)，β 为双基地角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403292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等效速度：v_eq = f_d·λ / (2·cos(β/2))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4042278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各链路统一到等效单基地速度轴，消除多普勒偏差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074920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92608" y="5047488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2608" y="5047488"/>
            <a:ext cx="5499567" cy="320040"/>
          </a:xfrm>
          <a:prstGeom prst="rect">
            <a:avLst/>
          </a:prstGeom>
          <a:solidFill>
            <a:srgbClr val="E09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38328" y="507034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E09030"/>
                </a:solidFill>
              </a:rPr>
              <a:t>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5093208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坐标系配准与平台运动补偿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5422392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各平台坐标 → 统一 ECEF/ENU 参考系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5431746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Δφ_motion = 2π·fc·Δτ_motion  ← 运动相位误差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" y="544110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INS/DVL 辅助：精度 0.1 m/s、0.01°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" y="545045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北斗/GPS 双频授时：时间基准同步 &lt; 10 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75055" y="1792224"/>
            <a:ext cx="5957864" cy="384048"/>
          </a:xfrm>
          <a:prstGeom prst="rect">
            <a:avLst/>
          </a:prstGeom>
          <a:solidFill>
            <a:srgbClr val="C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38479" y="1755648"/>
            <a:ext cx="5957864" cy="38404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38479" y="1755648"/>
            <a:ext cx="91440" cy="384048"/>
          </a:xfrm>
          <a:prstGeom prst="rect">
            <a:avLst/>
          </a:prstGeom>
          <a:solidFill>
            <a:srgbClr val="8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66495" y="18013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5679" y="1810512"/>
            <a:ext cx="544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距离多普勒域信号级融合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95679" y="1993392"/>
            <a:ext cx="5445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D8FF"/>
                </a:solidFill>
              </a:rPr>
              <a:t>Range-Doppler Domain Signal-Level Coherent Fusion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65911" y="2258568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38479" y="2231136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38479" y="2231136"/>
            <a:ext cx="5957864" cy="320040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984199" y="22539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40815" y="2276856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RD图生成与信号模型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29919" y="260604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各链路距离多普勒图：X_k[r,d] = CFFT{ s_k(t)·e^{-j2πf_d·t} 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29919" y="261539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sₖ(t) = A·exp[j(2π·fc·τₖ + φₖ)] + nₖ(t)  ← 复数基带信号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29919" y="2624748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信号级融合：在复数域（检测前）完成，保留完整相位信息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29919" y="2634102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区别于数据级（检测后）融合：信噪比增益 N² vs 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65911" y="3666744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938479" y="3639312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938479" y="3639312"/>
            <a:ext cx="5957864" cy="32004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984199" y="36621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7C78"/>
                </a:solidFill>
              </a:rPr>
              <a:t>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40815" y="3685032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相参合并公式（MRC加权）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29919" y="4014216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X_coh[r,d] = Σ_k  w_k · X_k[r,d] · exp(j·φ_k)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29919" y="402357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MRC权值：w_k = SNR_k · coh_k · ph_cons_k  ← 三因子积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29919" y="403292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相干度：coh_k = |Σ s_rot| / Σ|s_rot|  ← 回波自校准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29919" y="4042278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相位斜率一致性：ph_cons = exp(−|Δfd|/Δfd_ref)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65911" y="5074920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38479" y="5047488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38479" y="5047488"/>
            <a:ext cx="5957864" cy="320040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984199" y="507034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A2BB5"/>
                </a:solidFill>
              </a:rPr>
              <a:t>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40815" y="5093208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增益退化律与效能分析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29919" y="5422392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理想相参增益：G_coh = 20·lg(N) = 15.6 dB（N=6）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29919" y="5431746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非相参基准：G_incoh = 10·lg(N) = 7.8 dB，净增益 +7.8 dB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29919" y="544110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含误差退化：G_eff = G · exp(−σ_φ²)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29919" y="545045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σ_φ &lt; π/8 → G_eff ≥ 90%·G；σ_φ = π/4 → G_eff ≈ 64%·G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核心机理：各链路双基地量测经数据转换配准至统一时延/多普勒/坐标域后，在距离多普勒复数域实施信号级相参合并，实现 N² 量级 SNR 增益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空海平台多节点协同探测 · 相参合成方法设计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Coherent Synthesis Method Design — Processing Pipeline &amp; Synchronization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896112"/>
            <a:ext cx="5801868" cy="713232"/>
          </a:xfrm>
          <a:prstGeom prst="rect">
            <a:avLst/>
          </a:prstGeom>
          <a:solidFill>
            <a:srgbClr val="DCE8F8"/>
          </a:solidFill>
          <a:ln w="7620">
            <a:solidFill>
              <a:srgbClr val="B0C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896112"/>
            <a:ext cx="5801868" cy="713232"/>
          </a:xfrm>
          <a:prstGeom prst="rect">
            <a:avLst/>
          </a:prstGeom>
          <a:solidFill>
            <a:srgbClr val="D8EEE8"/>
          </a:solidFill>
          <a:ln w="7620">
            <a:solidFill>
              <a:srgbClr val="A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14400"/>
            <a:ext cx="556979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6BC4"/>
                </a:solidFill>
              </a:rPr>
              <a:t>Round 1 · 强目标检测（无MTI）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7628" y="914400"/>
            <a:ext cx="556979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C78"/>
                </a:solidFill>
              </a:rPr>
              <a:t>Round 2 · 弱目标检测（三MTI并行）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4476.0" y="896112"/>
            <a:ext cx="0.0" cy="713232"/>
          </a:xfrm>
          <a:prstGeom prst="line">
            <a:avLst/>
          </a:prstGeom>
          <a:ln w="2540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" y="1078992"/>
            <a:ext cx="1179850" cy="512064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078992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总回波输入
N=6链路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458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82186" y="1078992"/>
            <a:ext cx="1287109" cy="512064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82186" y="1078992"/>
            <a:ext cx="128710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无MTI积累
CFAR&gt;12dB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9295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9023" y="1078992"/>
            <a:ext cx="1072591" cy="512064"/>
          </a:xfrm>
          <a:prstGeom prst="roundRect">
            <a:avLst/>
          </a:prstGeom>
          <a:solidFill>
            <a:srgbClr val="6A2B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9023" y="1078992"/>
            <a:ext cx="107259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GN定位
强目标解算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1614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1342" y="1078992"/>
            <a:ext cx="965332" cy="512064"/>
          </a:xfrm>
          <a:prstGeom prst="roundRect">
            <a:avLst/>
          </a:prstGeom>
          <a:solidFill>
            <a:srgbClr val="A8121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1342" y="1078992"/>
            <a:ext cx="9653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SIC
强目标对消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6675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6403" y="1078992"/>
            <a:ext cx="1394368" cy="512064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6403" y="1078992"/>
            <a:ext cx="13943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三MTI并行
SLOW/FAST/VFAST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0771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0499" y="1078992"/>
            <a:ext cx="1179850" cy="512064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0499" y="1078992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CFAR&gt;6dB
NMS去重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349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0077" y="1078992"/>
            <a:ext cx="1179850" cy="512064"/>
          </a:xfrm>
          <a:prstGeom prst="roundRect">
            <a:avLst/>
          </a:prstGeom>
          <a:solidFill>
            <a:srgbClr val="6A2B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0077" y="1078992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RANSAC+GN
精化定位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9928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19656" y="1078992"/>
            <a:ext cx="1287109" cy="512064"/>
          </a:xfrm>
          <a:prstGeom prst="roundRect">
            <a:avLst/>
          </a:prstGeom>
          <a:solidFill>
            <a:srgbClr val="157A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9656" y="1078992"/>
            <a:ext cx="128710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卡尔曼跟踪
相参增益估计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6765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16493" y="1078992"/>
            <a:ext cx="1179850" cy="512064"/>
          </a:xfrm>
          <a:prstGeom prst="roundRect">
            <a:avLst/>
          </a:prstGeom>
          <a:solidFill>
            <a:srgbClr val="157A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493" y="1078992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目标输出
位置/速度/ID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" y="1792224"/>
            <a:ext cx="2818638" cy="2779776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2608" y="1755648"/>
            <a:ext cx="2818638" cy="2779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2608" y="1755648"/>
            <a:ext cx="2818638" cy="347472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38328" y="17739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1810512"/>
            <a:ext cx="2306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时延对齐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5760.0" y="2103120"/>
            <a:ext cx="2690622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56616" y="2121408"/>
            <a:ext cx="2754630" cy="243230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218541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北斗/GPS 双频授时 &lt; 10 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" y="2450592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互相关峰值 + 亚像素插值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" y="2715768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r_fold = mod(r_eq, R_unamb)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" y="2980944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rbin = round(r_fold/r_res)+1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" y="3246120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INS/DVL 动态载体运动预测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" y="351129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精度目标：Δτ &lt; 0.5 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57550" y="1792224"/>
            <a:ext cx="2818638" cy="2779776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20974" y="1755648"/>
            <a:ext cx="2818638" cy="2779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20974" y="1755648"/>
            <a:ext cx="2818638" cy="34747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66694" y="17739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7C78"/>
                </a:solidFill>
              </a:rPr>
              <a:t>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8174" y="1810512"/>
            <a:ext cx="2306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相位校正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294126.0" y="2103120"/>
            <a:ext cx="2690622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3284982" y="2121408"/>
            <a:ext cx="2754630" cy="243230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48990" y="218541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相干度估计（cfar_detect_1d）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48990" y="2450592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s_rot = s·exp(−j2π·fd0·PRI·n)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48990" y="2715768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coh = |Σs_rot| / Σ|s_rot|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48990" y="2980944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相位斜率一致性（抑制镜像峰）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48990" y="3246120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ph_cons = exp(−|Δfd|/Δfd_ref)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48990" y="351129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EKF/PLL 实时跟踪相位漂移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85916" y="1792224"/>
            <a:ext cx="2818638" cy="2779776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49340" y="1755648"/>
            <a:ext cx="2818638" cy="2779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49340" y="1755648"/>
            <a:ext cx="2818638" cy="347472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195060" y="17739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A2BB5"/>
                </a:solidFill>
              </a:rPr>
              <a:t>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06540" y="1810512"/>
            <a:ext cx="2306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MRC 合并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22492.0" y="2103120"/>
            <a:ext cx="2690622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213348" y="2121408"/>
            <a:ext cx="2754630" cy="243230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77356" y="218541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综合评分（cfar_detect_1d）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7356" y="2450592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score = SNR × (0.3+0.7·coh)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77356" y="2715768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       × (0.4+0.6·ph_cons)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77356" y="2980944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MRC 合并：Σ cell·e^{jφ}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77356" y="3246120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G = 10·lg(|coh|²/incoh)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77356" y="351129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分层相参：质量异构时组内相参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14282" y="1792224"/>
            <a:ext cx="2818638" cy="2779776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77706" y="1755648"/>
            <a:ext cx="2818638" cy="2779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077706" y="1755648"/>
            <a:ext cx="2818638" cy="347472"/>
          </a:xfrm>
          <a:prstGeom prst="rect">
            <a:avLst/>
          </a:prstGeom>
          <a:solidFill>
            <a:srgbClr val="C8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123426" y="17739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C8550A"/>
                </a:solidFill>
              </a:rPr>
              <a:t>④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34906" y="1810512"/>
            <a:ext cx="2306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三MTI + SIC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150858.0" y="2103120"/>
            <a:ext cx="2690622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9141714" y="2121408"/>
            <a:ext cx="2754630" cy="243230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05722" y="218541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三通道并行 MTI 滤波：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05722" y="2450592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SLOW  → [1,−1]    &lt; 230 m/s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05722" y="2715768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FAST  → [1,−2,1]  230~400 m/s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05722" y="2980944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6AC0"/>
                </a:solidFill>
              </a:rPr>
              <a:t>   VFAST → [1,−3,3,−1]  &gt; 400 m/s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05722" y="3246120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多帧积累：beta=0.65 powBank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05722" y="351129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SIC 强目标对消 → 弱目标提取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2608" y="4315968"/>
            <a:ext cx="54864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4048" y="4315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A6E"/>
                </a:solidFill>
              </a:rPr>
              <a:t>  关键性能指标 — 合并策略对比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92608" y="4590288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292608" y="4645152"/>
          <a:ext cx="1160373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747"/>
                <a:gridCol w="2320747"/>
                <a:gridCol w="2320747"/>
                <a:gridCol w="2320747"/>
                <a:gridCol w="2320748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合并策略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同步精度要求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算法延迟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MATLAB 参数 / 函数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导频相参合并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时延 &lt; 10 ns，Δφ &lt; π/8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&lt; 1 ms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sys.fc=500M, cfar.min_snr_db=6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协同组网、慢机动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回波自校准合并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时延 &lt; 50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1~10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track_aided_coherent, ≥3 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无导频、通信受限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三MTI 分层合并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Δτ &lt; 100 ns, coh ≥ 0.08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mti_filter1/2/3, beta=0.65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节点多、同步异构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SIC + 相参合并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强目标 SNR &gt; 12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两轮 ~2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process_all_links_sic, sic_targets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强弱目标共存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Rectangle 9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核心权衡：空海高动态平台需在「估计精度 — 计算实时性 — 通信开销」三者间最优平衡；分层相参策略（SIC强目标 → 三MTI弱目标 → MRC合并）是算法设计核心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