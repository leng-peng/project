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空海平台多节点协同探测 · 相参合成机理分析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Coherent Synthesis Mechanism — Air-Sea Multi-Node Distributed Radar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950976"/>
            <a:ext cx="2971251" cy="2674620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914400"/>
            <a:ext cx="2971251" cy="267462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914400"/>
            <a:ext cx="2971251" cy="347472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8" y="9326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969264"/>
            <a:ext cx="24408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时延同步误差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.0" y="1261872.0"/>
            <a:ext cx="2824947.3600000003" cy="0.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2336" y="132588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几何双程时延差 → 脉冲错位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133523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精度要求：Δτ &lt; λ/(4c) ≈ 0.5 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134459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r_fold = mod(r_eq, R_unamb)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135394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tau = 2·r_fold /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136330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方法：互相关 + 北斗/GPS 双频授时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1875" y="950976"/>
            <a:ext cx="2971251" cy="2674620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299" y="914400"/>
            <a:ext cx="2971251" cy="267462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5299" y="914400"/>
            <a:ext cx="2971251" cy="3474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01019" y="9326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2499" y="969264"/>
            <a:ext cx="24408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相位同步误差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28451.3600000003" y="1261872.0"/>
            <a:ext cx="2824947.3600000003" cy="0.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65027" y="132588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载频相位不一致 → 复数旋转偏差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027" y="133523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cell_c = cellv·exp(j2π·fc·τ)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027" y="134459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coh_sum += cell_c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027" y="135394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方法：导频估计 + EKF/PLL 联合跟踪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027" y="136330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无导频：回波自校准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" y="3717036"/>
            <a:ext cx="2971251" cy="2674620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" y="3680460"/>
            <a:ext cx="2971251" cy="267462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" y="3680460"/>
            <a:ext cx="2971251" cy="347472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8328" y="369874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735324"/>
            <a:ext cx="24408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频率同步误差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.0" y="4027932.0"/>
            <a:ext cx="2824947.3600000003" cy="0.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2336" y="409194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多普勒 + 振荡器频偏 → 相位漂移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" y="410129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ΔΦ = 2π · Δf · t（线性漂移）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" y="411065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ph_cons = exp(−|Δfd|/Δfd_ref)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412000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方法：相位斜率一致性检验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" y="412936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PLL 实时跟踪频偏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91875" y="3717036"/>
            <a:ext cx="2971251" cy="2674620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5299" y="3680460"/>
            <a:ext cx="2971251" cy="267462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55299" y="3680460"/>
            <a:ext cx="2971251" cy="347472"/>
          </a:xfrm>
          <a:prstGeom prst="rect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01019" y="369874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C8550A"/>
                </a:solidFill>
              </a:rPr>
              <a:t>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2499" y="3735324"/>
            <a:ext cx="24408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幅度一致性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428451.3600000003" y="4027932.0"/>
            <a:ext cx="2824947.3600000003" cy="0.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65027" y="409194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通道增益不均 → 合并旁瓣抬高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5027" y="410129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score = SNR × (0.3+0.7·coh)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5027" y="411065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      × (0.4+0.6·ph_cons)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65027" y="4120005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方法：MRC 自适应加权合并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65027" y="4129360"/>
            <a:ext cx="2806659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质量低链路自动降权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7990" y="950976"/>
            <a:ext cx="5441777" cy="1958644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54566" y="914400"/>
            <a:ext cx="5441777" cy="19586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54566" y="914400"/>
            <a:ext cx="5441777" cy="347472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4294" y="969264"/>
            <a:ext cx="52771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信号模型（OFDM 双基地体制）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4294" y="1298448"/>
            <a:ext cx="527718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3D6B"/>
                </a:solidFill>
              </a:rPr>
              <a:t>系统：2 Tx（海面 15~18 m/s）+ 3 Rx（空中 3500~3800 m）= 6 双基地链路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46006" y="1536192"/>
            <a:ext cx="5277185" cy="34747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37446" y="1591056"/>
            <a:ext cx="511259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6E"/>
                </a:solidFill>
              </a:rPr>
              <a:t>sₖ(t) = A · exp[ j(2π·fc·τₖ + φₖ) ] + nₖ(t)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4294" y="1920240"/>
            <a:ext cx="527718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6E"/>
                </a:solidFill>
              </a:rPr>
              <a:t>coh_sum = Σₖ cellₖ · exp(j·2π·fc·τₖ)
SNR_coh ∝ N²     vs.     SNR_incoh ∝ 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17990" y="3019348"/>
            <a:ext cx="5441777" cy="1795424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54566" y="2982772"/>
            <a:ext cx="5441777" cy="179542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54566" y="2982772"/>
            <a:ext cx="5441777" cy="3474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64294" y="3037636"/>
            <a:ext cx="52771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相参增益退化律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46006" y="3366820"/>
            <a:ext cx="5277185" cy="292608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37446" y="3421684"/>
            <a:ext cx="51125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6E"/>
                </a:solidFill>
              </a:rPr>
              <a:t>G = 10·lg( |Σ cellₖ·e^{j2πfcτₖ}|² / Σ|cellₖ|² 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64294" y="3696004"/>
            <a:ext cx="527718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A1A3A"/>
                </a:solidFill>
              </a:rPr>
              <a:t>σ²_φ = σ²_time·(2πfc)² + σ²_phase + σ²_freq·T²
σ_φ &lt; π/8  →  G &gt; 0.90·N²（效能 ≥ 90%）
σ_φ = π/4  →  G ≈ 0.64·N²（退化 36%）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17990" y="4924501"/>
            <a:ext cx="5441777" cy="1467154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54566" y="4887925"/>
            <a:ext cx="5441777" cy="146715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54566" y="4887925"/>
            <a:ext cx="5441777" cy="347472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64294" y="4942789"/>
            <a:ext cx="52771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CRLB 下界 &amp; 系统参数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4294" y="5271973"/>
            <a:ext cx="527718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测距下界：σ_r = c / (2B√(2·SNR))
测速下界：σ_v = λ / (2Tc√SNR)
FIM：J = Σₖ HₖᵀRₖ⁻¹Hₖ  →  6链路 ≈ 100 m
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7718" y="5857189"/>
            <a:ext cx="5313761" cy="219456"/>
          </a:xfrm>
          <a:prstGeom prst="rect">
            <a:avLst/>
          </a:prstGeom>
          <a:solidFill>
            <a:srgbClr val="E8F2FF"/>
          </a:solidFill>
          <a:ln w="508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64294" y="5884621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fc=500 MHz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21175" y="5884621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B=2 MHz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27718" y="6076645"/>
            <a:ext cx="5313761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64294" y="6104077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Nsc=1024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21175" y="6104077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PRI=140 μs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27718" y="6296101"/>
            <a:ext cx="5313761" cy="219456"/>
          </a:xfrm>
          <a:prstGeom prst="rect">
            <a:avLst/>
          </a:prstGeom>
          <a:solidFill>
            <a:srgbClr val="E8F2FF"/>
          </a:solidFill>
          <a:ln w="508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64294" y="6323533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Nc=64脉冲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21175" y="6323533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r_res=75 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27718" y="6515557"/>
            <a:ext cx="5313761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64294" y="6542989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N=6链路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21175" y="6542989"/>
            <a:ext cx="2602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A6E"/>
                </a:solidFill>
              </a:rPr>
              <a:t>λ=0.6 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核心挑战：空海高动态平台四大误差耦合非线性退化 — 同步要求 Δτ &lt; 0.5 ns、Δφ &lt; π/8（47 mrad），远超地基组网系统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空海平台多节点协同探测 · 相参合成方法设计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Coherent Synthesis Method Design — Processing Pipeline &amp; Synchronization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914400"/>
            <a:ext cx="5801868" cy="713232"/>
          </a:xfrm>
          <a:prstGeom prst="rect">
            <a:avLst/>
          </a:prstGeom>
          <a:solidFill>
            <a:srgbClr val="DCE8F8"/>
          </a:solidFill>
          <a:ln w="7620">
            <a:solidFill>
              <a:srgbClr val="B0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914400"/>
            <a:ext cx="5801868" cy="713232"/>
          </a:xfrm>
          <a:prstGeom prst="rect">
            <a:avLst/>
          </a:prstGeom>
          <a:solidFill>
            <a:srgbClr val="D8EEE8"/>
          </a:solidFill>
          <a:ln w="7620">
            <a:solidFill>
              <a:srgbClr val="A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32688"/>
            <a:ext cx="55697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6BC4"/>
                </a:solidFill>
              </a:rPr>
              <a:t>Round 1 · 强目标检测（无MTI）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7628" y="932688"/>
            <a:ext cx="55697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C78"/>
                </a:solidFill>
              </a:rPr>
              <a:t>Round 2 · 弱目标检测（三MTI并行）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.0" y="914400"/>
            <a:ext cx="0.0" cy="713232"/>
          </a:xfrm>
          <a:prstGeom prst="line">
            <a:avLst/>
          </a:prstGeom>
          <a:ln w="254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" y="1097280"/>
            <a:ext cx="1179850" cy="512064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097280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总回波输入
N=6链路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458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2186" y="1097280"/>
            <a:ext cx="1287109" cy="512064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2186" y="1097280"/>
            <a:ext cx="128710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无MTI积累
CFAR&gt;12dB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9295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9023" y="1097280"/>
            <a:ext cx="1072591" cy="512064"/>
          </a:xfrm>
          <a:prstGeom prst="roundRect">
            <a:avLst/>
          </a:prstGeom>
          <a:solidFill>
            <a:srgbClr val="6A2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9023" y="1097280"/>
            <a:ext cx="107259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GN定位
强目标解算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1614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1342" y="1097280"/>
            <a:ext cx="965332" cy="512064"/>
          </a:xfrm>
          <a:prstGeom prst="roundRect">
            <a:avLst/>
          </a:prstGeom>
          <a:solidFill>
            <a:srgbClr val="A8121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1342" y="1097280"/>
            <a:ext cx="9653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SIC
强目标对消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6675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6403" y="1097280"/>
            <a:ext cx="1394368" cy="512064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6403" y="1097280"/>
            <a:ext cx="1394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三MTI并行
SLOW/FAST/VFAST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0771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0499" y="1097280"/>
            <a:ext cx="1179850" cy="512064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0499" y="1097280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CFAR&gt;6dB
NMS去重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349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0077" y="1097280"/>
            <a:ext cx="1179850" cy="512064"/>
          </a:xfrm>
          <a:prstGeom prst="roundRect">
            <a:avLst/>
          </a:prstGeom>
          <a:solidFill>
            <a:srgbClr val="6A2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0077" y="1097280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RANSAC+GN
精化定位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9928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19656" y="1097280"/>
            <a:ext cx="1287109" cy="512064"/>
          </a:xfrm>
          <a:prstGeom prst="roundRect">
            <a:avLst/>
          </a:prstGeom>
          <a:solidFill>
            <a:srgbClr val="157A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9656" y="1097280"/>
            <a:ext cx="128710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卡尔曼跟踪
相参增益估计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6765" y="1240657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16493" y="1097280"/>
            <a:ext cx="1179850" cy="512064"/>
          </a:xfrm>
          <a:prstGeom prst="roundRect">
            <a:avLst/>
          </a:prstGeom>
          <a:solidFill>
            <a:srgbClr val="157A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493" y="1097280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目标输出
位置/速度/ID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1810512"/>
            <a:ext cx="2818638" cy="2761488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608" y="1773936"/>
            <a:ext cx="2818638" cy="2761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2608" y="1773936"/>
            <a:ext cx="2818638" cy="347472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8328" y="179222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1828800"/>
            <a:ext cx="22882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时延对齐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5760.0" y="2121408"/>
            <a:ext cx="2672334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02336" y="218541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北斗/GPS 双频授时 &lt; 10 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" y="219477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互相关峰值 + 亚像素插值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220412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r_fold = mod(r_eq, R_unamb)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" y="221348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rbin = round(r_fold/r_res)+1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" y="222283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INS/DVL 动态载体运动预测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" y="223219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精度目标：Δτ &lt; 0.5 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57550" y="1810512"/>
            <a:ext cx="2818638" cy="2761488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20974" y="1773936"/>
            <a:ext cx="2818638" cy="2761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20974" y="1773936"/>
            <a:ext cx="2818638" cy="3474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266694" y="179222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8174" y="1828800"/>
            <a:ext cx="22882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相位校正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94126.0" y="2121408"/>
            <a:ext cx="2672334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330702" y="218541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相干度估计（cfar_detect_1d）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0702" y="219477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s_rot = s·exp(−j2π·fd0·PRI·n)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0702" y="220412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coh = |Σs_rot| / Σ|s_rot|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0702" y="221348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相位斜率一致性（抑制镜像峰）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0702" y="222283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ph_cons = exp(−|Δfd|/Δfd_ref)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0702" y="223219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EKF/PLL 实时跟踪相位漂移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5916" y="1810512"/>
            <a:ext cx="2818638" cy="2761488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49340" y="1773936"/>
            <a:ext cx="2818638" cy="2761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49340" y="1773936"/>
            <a:ext cx="2818638" cy="347472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195060" y="179222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6540" y="1828800"/>
            <a:ext cx="22882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MRC 合并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222492.0" y="2121408"/>
            <a:ext cx="2672334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259068" y="218541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综合评分（cfar_detect_1d）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59068" y="219477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score = SNR × (0.3+0.7·coh)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9068" y="220412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       × (0.4+0.6·ph_cons)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59068" y="221348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MRC 合并：Σ cell·e^{jφ}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9068" y="222283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G = 10·lg(|coh|²/incoh)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9068" y="223219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分层相参：质量异构时组内相参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14282" y="1810512"/>
            <a:ext cx="2818638" cy="2761488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77706" y="1773936"/>
            <a:ext cx="2818638" cy="2761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77706" y="1773936"/>
            <a:ext cx="2818638" cy="347472"/>
          </a:xfrm>
          <a:prstGeom prst="rect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123426" y="179222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C8550A"/>
                </a:solidFill>
              </a:rPr>
              <a:t>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34906" y="1828800"/>
            <a:ext cx="22882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三MTI + SIC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150858.0" y="2121408"/>
            <a:ext cx="2672334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187434" y="218541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三通道并行 MTI 滤波：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87434" y="219477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SLOW  → [1,−1]    &lt; 230 m/s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87434" y="220412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FAST  → [1,−2,1]  230~400 m/s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7434" y="221348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6AC0"/>
                </a:solidFill>
              </a:rPr>
              <a:t>   VFAST → [1,−3,3,−1]  &gt; 400 m/s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87434" y="2222836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多帧积累：beta=0.65 powBank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7434" y="2232191"/>
            <a:ext cx="2654046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3A"/>
                </a:solidFill>
              </a:rPr>
              <a:t>• SIC 强目标对消 → 弱目标提取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2608" y="4315968"/>
            <a:ext cx="54864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4048" y="4315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A6E"/>
                </a:solidFill>
              </a:rPr>
              <a:t>  关键性能指标 — 合并策略对比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92608" y="4590288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292608" y="4645152"/>
          <a:ext cx="1160373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747"/>
                <a:gridCol w="2320747"/>
                <a:gridCol w="2320747"/>
                <a:gridCol w="2320747"/>
                <a:gridCol w="2320748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合并策略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MATLAB 参数 / 函数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时延 &lt; 10 ns，Δφ &lt; π/8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&lt; 1 ms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sys.fc=500M, cfar.min_snr_db=6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协同组网、慢机动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1~10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track_aided_coherent, ≥3 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无导频、通信受限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三MTI 分层合并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Δτ &lt; 100 ns, coh ≥ 0.08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mti_filter1/2/3, beta=0.65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节点多、同步异构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SIC + 相参合并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强目标 SNR &gt; 12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两轮 ~2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process_all_links_sic, sic_targets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强弱目标共存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Rectangle 9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核心权衡：空海高动态平台需在「估计精度 — 计算实时性 — 通信开销」三者间最优平衡；分层相参策略（SIC强目标 → 三MTI弱目标 → MRC合并）是算法设计核心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