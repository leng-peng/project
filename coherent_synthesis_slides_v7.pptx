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0D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7498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0" y="749808"/>
            <a:ext cx="12188952" cy="0"/>
          </a:xfrm>
          <a:prstGeom prst="line">
            <a:avLst/>
          </a:prstGeom>
          <a:ln w="317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29184" y="914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多节点信号级高效相参合成 · 问题分析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45720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CF0"/>
                </a:solidFill>
              </a:rPr>
              <a:t>Problem Analysis: Requirement → Scientific Questions &amp; Key Technical Challenges</a:t>
            </a:r>
          </a:p>
        </p:txBody>
      </p:sp>
      <p:sp>
        <p:nvSpPr>
          <p:cNvPr id="7" name="Oval 6"/>
          <p:cNvSpPr/>
          <p:nvPr/>
        </p:nvSpPr>
        <p:spPr>
          <a:xfrm>
            <a:off x="11457432" y="118872"/>
            <a:ext cx="512064" cy="512064"/>
          </a:xfrm>
          <a:prstGeom prst="ellipse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1/1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024128"/>
            <a:ext cx="2804922" cy="585216"/>
          </a:xfrm>
          <a:prstGeom prst="roundRect">
            <a:avLst/>
          </a:prstGeom>
          <a:solidFill>
            <a:srgbClr val="1F6BC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1024128"/>
            <a:ext cx="280492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工程需求
多节点协同高增益探测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7530" y="1170432"/>
            <a:ext cx="128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25546" y="1024128"/>
            <a:ext cx="2804922" cy="585216"/>
          </a:xfrm>
          <a:prstGeom prst="roundRect">
            <a:avLst/>
          </a:prstGeom>
          <a:solidFill>
            <a:srgbClr val="B54A0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5546" y="1024128"/>
            <a:ext cx="280492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需求拆解
量化→可研究科学问题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0468" y="1170432"/>
            <a:ext cx="128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8484" y="1024128"/>
            <a:ext cx="2804922" cy="585216"/>
          </a:xfrm>
          <a:prstGeom prst="roundRect">
            <a:avLst/>
          </a:prstGeom>
          <a:solidFill>
            <a:srgbClr val="0D2A6E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8484" y="1024128"/>
            <a:ext cx="280492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科学问题
增益律 / 融合条件 / CRLB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3406" y="1170432"/>
            <a:ext cx="128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A6E"/>
                </a:solidFill>
              </a:rPr>
              <a:t>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1422" y="1024128"/>
            <a:ext cx="2804922" cy="585216"/>
          </a:xfrm>
          <a:prstGeom prst="roundRect">
            <a:avLst/>
          </a:prstGeom>
          <a:solidFill>
            <a:srgbClr val="007C7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1422" y="1024128"/>
            <a:ext cx="280492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关键挑战
量测配准 / 相位补偿 / 实时性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60945.0" y="1609344"/>
            <a:ext cx="0.0" cy="128016"/>
          </a:xfrm>
          <a:prstGeom prst="line">
            <a:avLst/>
          </a:prstGeom>
          <a:ln w="1524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493883.0" y="1609344"/>
            <a:ext cx="0.0" cy="128016"/>
          </a:xfrm>
          <a:prstGeom prst="line">
            <a:avLst/>
          </a:prstGeom>
          <a:ln w="1524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29184" y="1792224"/>
            <a:ext cx="5499567" cy="384048"/>
          </a:xfrm>
          <a:prstGeom prst="rect">
            <a:avLst/>
          </a:prstGeom>
          <a:solidFill>
            <a:srgbClr val="CCD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2608" y="1755648"/>
            <a:ext cx="5499567" cy="384048"/>
          </a:xfrm>
          <a:prstGeom prst="rect">
            <a:avLst/>
          </a:prstGeom>
          <a:solidFill>
            <a:srgbClr val="B54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2608" y="1755648"/>
            <a:ext cx="91440" cy="384048"/>
          </a:xfrm>
          <a:prstGeom prst="rect">
            <a:avLst/>
          </a:prstGeom>
          <a:solidFill>
            <a:srgbClr val="FF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" y="1801368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1810512"/>
            <a:ext cx="498750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需求转化为可研究的科学问题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1993392"/>
            <a:ext cx="4987503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E0B0"/>
                </a:solidFill>
              </a:rPr>
              <a:t>将工程指标映射为可量化、可推导、可验证的科学命题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258568"/>
            <a:ext cx="5499567" cy="1316736"/>
          </a:xfrm>
          <a:prstGeom prst="rect">
            <a:avLst/>
          </a:prstGeom>
          <a:solidFill>
            <a:srgbClr val="C8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2608" y="2231136"/>
            <a:ext cx="5499567" cy="13167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2608" y="2231136"/>
            <a:ext cx="5499567" cy="320040"/>
          </a:xfrm>
          <a:prstGeom prst="rect">
            <a:avLst/>
          </a:prstGeom>
          <a:solidFill>
            <a:srgbClr val="C862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38328" y="2253996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C86210"/>
                </a:solidFill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2276856"/>
            <a:ext cx="50240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</a:rPr>
              <a:t>增益退化量化律（需求：高增益→量化关系）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2606040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工程需求"高增益"→ 问：G 如何随同步误差 (σ_τ, σ_φ, σ_f) 退化？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2615394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0D2A6E"/>
                </a:solidFill>
              </a:rPr>
              <a:t>   G_eff = G · exp(−σ_φ²)，G = 20·lg(N) = 15.6 dB（N=6）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2624748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效能临界点：σ_φ &lt; π/8 → G_eff ≥ 90%·G；超出则急剧退化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2634102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目标：建立误差源→合并增益的端到端量化传播模型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3666744"/>
            <a:ext cx="5499567" cy="1316736"/>
          </a:xfrm>
          <a:prstGeom prst="rect">
            <a:avLst/>
          </a:prstGeom>
          <a:solidFill>
            <a:srgbClr val="C8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92608" y="3639312"/>
            <a:ext cx="5499567" cy="13167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92608" y="3639312"/>
            <a:ext cx="5499567" cy="320040"/>
          </a:xfrm>
          <a:prstGeom prst="rect">
            <a:avLst/>
          </a:prstGeom>
          <a:solidFill>
            <a:srgbClr val="D47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38328" y="366217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D47820"/>
                </a:solidFill>
              </a:rPr>
              <a:t>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" y="3685032"/>
            <a:ext cx="50240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</a:rPr>
              <a:t>信号级融合层次与增益跃升条件（vs 数据级融合）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" y="4014216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需求：信号级融合 → 问：O(N²) vs O(N) 增益跃升的充要条件？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4023570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检测前复数域融合保留完整相位 → SNR增益 N²；检测后丢相位 → 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" y="4032924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双基地量测 (r_eq, f_d,bist) → 统一R-D域，映射精度保持是前提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" y="4042278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0D2A6E"/>
                </a:solidFill>
              </a:rPr>
              <a:t>   r_fold = mod(r_eq, R_unamb)，K_v = cos(β/2) 等效折叠精度？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5074920"/>
            <a:ext cx="5499567" cy="1316736"/>
          </a:xfrm>
          <a:prstGeom prst="rect">
            <a:avLst/>
          </a:prstGeom>
          <a:solidFill>
            <a:srgbClr val="C8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92608" y="5047488"/>
            <a:ext cx="5499567" cy="13167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92608" y="5047488"/>
            <a:ext cx="5499567" cy="320040"/>
          </a:xfrm>
          <a:prstGeom prst="rect">
            <a:avLst/>
          </a:prstGeom>
          <a:solidFill>
            <a:srgbClr val="E09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38328" y="507034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E09030"/>
                </a:solidFill>
              </a:rPr>
              <a:t>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" y="5093208"/>
            <a:ext cx="5024079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</a:rPr>
              <a:t>相位估计可辨识性与 CRLB（无导频自校准）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" y="5422392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需求：无导频回波自校准 → 问：相位偏差估计 CRLB 由什么决定？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" y="5431746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0D2A6E"/>
                </a:solidFill>
              </a:rPr>
              <a:t>   coh_k = |Σ s_rot| / Σ|s_rot|，CRLB ∝ 1/(N_c · SNR_k)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" y="5441100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高动态时变相位：Δφ_k(t) = 2π·fc·Δτ_motion(t)，非平稳建模难题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" y="5450454"/>
            <a:ext cx="5353263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问：需要多少节点才能保证无导频估计可收敛？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75055" y="1792224"/>
            <a:ext cx="5957864" cy="384048"/>
          </a:xfrm>
          <a:prstGeom prst="rect">
            <a:avLst/>
          </a:prstGeom>
          <a:solidFill>
            <a:srgbClr val="C0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938479" y="1755648"/>
            <a:ext cx="5957864" cy="384048"/>
          </a:xfrm>
          <a:prstGeom prst="rect">
            <a:avLst/>
          </a:prstGeom>
          <a:solidFill>
            <a:srgbClr val="0D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938479" y="1755648"/>
            <a:ext cx="91440" cy="384048"/>
          </a:xfrm>
          <a:prstGeom prst="rect">
            <a:avLst/>
          </a:prstGeom>
          <a:solidFill>
            <a:srgbClr val="80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66495" y="1801368"/>
            <a:ext cx="274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🔑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95679" y="1810512"/>
            <a:ext cx="5445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需要解决的关键问题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95679" y="1993392"/>
            <a:ext cx="5445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0D8FF"/>
                </a:solidFill>
              </a:rPr>
              <a:t>Key Technical Challenges — Bottlenecks Blocking Practical Deployment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65911" y="2258568"/>
            <a:ext cx="5957864" cy="1316736"/>
          </a:xfrm>
          <a:prstGeom prst="rect">
            <a:avLst/>
          </a:prstGeom>
          <a:solidFill>
            <a:srgbClr val="C8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38479" y="2231136"/>
            <a:ext cx="5957864" cy="13167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38479" y="2231136"/>
            <a:ext cx="5957864" cy="320040"/>
          </a:xfrm>
          <a:prstGeom prst="rect">
            <a:avLst/>
          </a:prstGeom>
          <a:solidFill>
            <a:srgbClr val="1F6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984199" y="2253996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1F6BC4"/>
                </a:solidFill>
              </a:rPr>
              <a:t>①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40815" y="2276856"/>
            <a:ext cx="5482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</a:rPr>
              <a:t>异构双基地量测→统一域转换的精度保持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29919" y="2606040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核心矛盾：各节点双基地角 β_k 不同，r_eq 与 f_d 无法直接对齐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29919" y="2615394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0D2A6E"/>
                </a:solidFill>
              </a:rPr>
              <a:t>   r_fold = mod(r_eq, R_unamb) 在大双基地角时距离门是否错位？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29919" y="2624748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0D2A6E"/>
                </a:solidFill>
              </a:rPr>
              <a:t>   K_v = cos(β/2) 在 β &gt; 60° 时引入的速度误差有多大？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29919" y="2634102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精度损失与相参增益收益之间的权衡无法简单公式化，需数值求解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65911" y="3666744"/>
            <a:ext cx="5957864" cy="1316736"/>
          </a:xfrm>
          <a:prstGeom prst="rect">
            <a:avLst/>
          </a:prstGeom>
          <a:solidFill>
            <a:srgbClr val="C8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38479" y="3639312"/>
            <a:ext cx="5957864" cy="13167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38479" y="3639312"/>
            <a:ext cx="5957864" cy="320040"/>
          </a:xfrm>
          <a:prstGeom prst="rect">
            <a:avLst/>
          </a:prstGeom>
          <a:solidFill>
            <a:srgbClr val="007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984199" y="366217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007C78"/>
                </a:solidFill>
              </a:rPr>
              <a:t>②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40815" y="3685032"/>
            <a:ext cx="5482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</a:rPr>
              <a:t>高动态时变相位误差的建模与实时补偿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29919" y="4014216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0D2A6E"/>
                </a:solidFill>
              </a:rPr>
              <a:t>   Δφ_k(t) = 2π·fc·Δτ_k(t) + δφ_osc,k(t)  ← 持续时变，非恒定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29919" y="4023570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GPS/北斗授时精度 10~50 ns vs 相参要求 Δτ &lt; 0.5 ns，差 1~2 量级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29919" y="4032924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互相关亚像素插值能否弥补？ → 低SNR时估计误差反而加剧退化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29919" y="4042278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待解决：σ_est—增益G—帧长N_c 的联合最优设计准则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965911" y="5074920"/>
            <a:ext cx="5957864" cy="1316736"/>
          </a:xfrm>
          <a:prstGeom prst="rect">
            <a:avLst/>
          </a:prstGeom>
          <a:solidFill>
            <a:srgbClr val="C8D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938479" y="5047488"/>
            <a:ext cx="5957864" cy="1316736"/>
          </a:xfrm>
          <a:prstGeom prst="rect">
            <a:avLst/>
          </a:prstGeom>
          <a:solidFill>
            <a:srgbClr val="FFFFFF"/>
          </a:solidFill>
          <a:ln w="8890">
            <a:solidFill>
              <a:srgbClr val="C8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938479" y="5047488"/>
            <a:ext cx="5957864" cy="320040"/>
          </a:xfrm>
          <a:prstGeom prst="rect">
            <a:avLst/>
          </a:prstGeom>
          <a:solidFill>
            <a:srgbClr val="6A2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984199" y="507034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6A2BB5"/>
                </a:solidFill>
              </a:rPr>
              <a:t>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40815" y="5093208"/>
            <a:ext cx="54823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 i="0">
                <a:solidFill>
                  <a:srgbClr val="FFFFFF"/>
                </a:solidFill>
              </a:rPr>
              <a:t>质量异构节点自适应加权与计算实时性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29919" y="5422392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w_k = SNR_k · coh_k · ph_cons_k，等权合并使劣质节点"污染"输出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029919" y="5431746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相位估计失败时须自动识别降权，避免合并输出突变（稳健机制）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29919" y="5441100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0D2A6E"/>
                </a:solidFill>
              </a:rPr>
              <a:t>   计算量 O(N·N_c·N_sc·lgN_c) ≈ 2.4×10⁶ 次/帧，需在 9 ms 内完成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29919" y="5450454"/>
            <a:ext cx="5811560" cy="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A1A3A"/>
                </a:solidFill>
              </a:rPr>
              <a:t>• 近似算法（稀疏采样/子带分解）：精度损失 vs 复杂度降一量级权衡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E8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292608" y="6400800"/>
            <a:ext cx="11603736" cy="0"/>
          </a:xfrm>
          <a:prstGeom prst="line">
            <a:avLst/>
          </a:prstGeom>
          <a:ln w="19050">
            <a:solidFill>
              <a:srgbClr val="2E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292608" y="6492240"/>
            <a:ext cx="45720" cy="25603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84048" y="6483096"/>
            <a:ext cx="11475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1">
                <a:solidFill>
                  <a:srgbClr val="0D2A6E"/>
                </a:solidFill>
              </a:rPr>
              <a:t>  核心纽带：「残余相位误差 σ_φ」连接所有关键问题 —— 量测转换精度 + 平台运动补偿 + 授时精度三者共同决定 σ_φ 分布，进而决定信号级融合能否突破 O(N²) 增益上界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