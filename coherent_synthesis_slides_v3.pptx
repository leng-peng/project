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F5C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218"/>
                </a:solidFill>
              </a:rPr>
              <a:t>空海平台多节点协同探测  ·  高效相参合成 — 机理分析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5D8EC"/>
                </a:solidFill>
              </a:rPr>
              <a:t>1 /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" y="749808"/>
            <a:ext cx="11969496" cy="0"/>
          </a:xfrm>
          <a:prstGeom prst="line">
            <a:avLst/>
          </a:prstGeom>
          <a:ln w="11430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46804.0" y="969264"/>
            <a:ext cx="0.0" cy="5486400"/>
          </a:xfrm>
          <a:prstGeom prst="line">
            <a:avLst/>
          </a:prstGeom>
          <a:ln w="635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3628.0" y="969264"/>
            <a:ext cx="0.0" cy="5486400"/>
          </a:xfrm>
          <a:prstGeom prst="line">
            <a:avLst/>
          </a:prstGeom>
          <a:ln w="635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" y="877824"/>
            <a:ext cx="3840480" cy="1325880"/>
          </a:xfrm>
          <a:prstGeom prst="roundRect">
            <a:avLst/>
          </a:prstGeom>
          <a:solidFill>
            <a:srgbClr val="0F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" y="877824"/>
            <a:ext cx="3840480" cy="310896"/>
          </a:xfrm>
          <a:prstGeom prst="roundRect">
            <a:avLst/>
          </a:prstGeom>
          <a:solidFill>
            <a:srgbClr val="0F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91440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218"/>
                </a:solidFill>
              </a:rPr>
              <a:t>① 时延同步误差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" y="1207008.0"/>
            <a:ext cx="3657600" cy="0.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6032" y="1216152"/>
            <a:ext cx="3840480" cy="987552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43584"/>
            <a:ext cx="367588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几何双程时延差 → 脉冲错位
精度要求：Δτ &lt; λ/(4c)
代码：r_fold = mod(r_eq, R_unamb)
       tau = 2·r_fold / c
方法：互相关峰值 + 亚像素插值
       北斗/GPS 双频授时辅助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2295144"/>
            <a:ext cx="3840480" cy="1325880"/>
          </a:xfrm>
          <a:prstGeom prst="roundRect">
            <a:avLst/>
          </a:prstGeom>
          <a:solidFill>
            <a:srgbClr val="0B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6032" y="2295144"/>
            <a:ext cx="3840480" cy="310896"/>
          </a:xfrm>
          <a:prstGeom prst="roundRect">
            <a:avLst/>
          </a:prstGeom>
          <a:solidFill>
            <a:srgbClr val="0B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3172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218"/>
                </a:solidFill>
              </a:rPr>
              <a:t>② 相位同步误差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" y="2624328.0"/>
            <a:ext cx="3657600" cy="0.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56032" y="2633472"/>
            <a:ext cx="3840480" cy="987552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60904"/>
            <a:ext cx="367588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载频相位不一致 → 复数旋转偏差
代码：cell_c = cellv·exp(j·2π·fc·τ)
       coh_sum += cell_c
方法：导频估计 + EKF/PLL 联合跟踪
       回波自校准（无导频场景）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3712464"/>
            <a:ext cx="3840480" cy="1325880"/>
          </a:xfrm>
          <a:prstGeom prst="roundRect">
            <a:avLst/>
          </a:prstGeom>
          <a:solidFill>
            <a:srgbClr val="492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" y="3712464"/>
            <a:ext cx="3840480" cy="310896"/>
          </a:xfrm>
          <a:prstGeom prst="roundRect">
            <a:avLst/>
          </a:prstGeom>
          <a:solidFill>
            <a:srgbClr val="492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4904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218"/>
                </a:solidFill>
              </a:rPr>
              <a:t>③ 频率同步误差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" y="4041648.0"/>
            <a:ext cx="3657600" cy="0.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6032" y="4050792"/>
            <a:ext cx="3840480" cy="987552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78224"/>
            <a:ext cx="367588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多普勒 + 振荡器频偏
→ 相位线性漂移：ΔΦ = 2π·Δf·t
代码：fd_phase = median(diff(unwrap(angle(s))))
       ph_cons = exp(−|Δfd|/Δfd_ref)
方法：相位斜率一致性检验 + PLL 锁定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" y="5129784"/>
            <a:ext cx="3840480" cy="1325880"/>
          </a:xfrm>
          <a:prstGeom prst="roundRect">
            <a:avLst/>
          </a:prstGeom>
          <a:solidFill>
            <a:srgbClr val="783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" y="5129784"/>
            <a:ext cx="3840480" cy="310896"/>
          </a:xfrm>
          <a:prstGeom prst="roundRect">
            <a:avLst/>
          </a:prstGeom>
          <a:solidFill>
            <a:srgbClr val="783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218"/>
                </a:solidFill>
              </a:rPr>
              <a:t>④ 幅度一致性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" y="5458968.0"/>
            <a:ext cx="3657600" cy="0.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56032" y="5468112"/>
            <a:ext cx="3840480" cy="987552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495544"/>
            <a:ext cx="367588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通道增益不均 → 旁瓣抬高
SNR 权值：score ∝ SNRₖ·coh·ph_cons
代码：score = snr .* (0.3+0.7·coh)
              .* (0.4+0.6·ph_cons)
方法：MRC 自适应权值 + 自动降权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97096" y="877824"/>
            <a:ext cx="4206240" cy="273405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97096" y="877824"/>
            <a:ext cx="4206240" cy="31089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9144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218"/>
                </a:solidFill>
              </a:rPr>
              <a:t>信号模型（基于 OFDM 双基地体制）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88536" y="1207008"/>
            <a:ext cx="4023360" cy="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25112" y="1243584"/>
            <a:ext cx="4005072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第 k 节点（共 N=6 链路）接收信号：
  sₖ(t) = A · exp[j(2π·fc·τₖ + φₖ)] + nₖ(t)
  fc = 500 MHz，B = 2 MHz，PRI = 140 μs，Nc = 64
相参合并输出：
  coh_sum = Σₖ  cellₖ · exp(j·2π·fc·τₖ)
  y = coh_sum  →  SNR ∝ N²
最优对齐条件：∠wₖ = −(2π·fc·τₖ + φₖ)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97096" y="3721608"/>
            <a:ext cx="4206240" cy="273405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97096" y="3721608"/>
            <a:ext cx="4206240" cy="31089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7581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218"/>
                </a:solidFill>
              </a:rPr>
              <a:t>相参增益估计（代码 track_aided_coherent）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288536" y="4050792.0"/>
            <a:ext cx="4023360" cy="0.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288536" y="4105656"/>
            <a:ext cx="4023360" cy="420624"/>
          </a:xfrm>
          <a:prstGeom prst="rect">
            <a:avLst/>
          </a:prstGeom>
          <a:solidFill>
            <a:srgbClr val="00488C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4123944"/>
            <a:ext cx="3986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218"/>
                </a:solidFill>
              </a:rPr>
              <a:t>  G = 10·lg( |Σ cellₖ·e^{j2πfcτₖ}|² / Σ|cellₖ|² 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4581144"/>
            <a:ext cx="4005072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联合相位误差方差：
  σ²_φ = σ²_time·(2π·fc)² + σ²_phase + σ²_freq·T²
性能边界（代码 efficiency_boundary_report）：
  σ_φ &lt; π/8  →  G &gt; 0.90·N²  （效能 ≥ 90%）
  σ_φ = π/4  →  G ≈ 0.64·N²  （退化 36%）
  实测阈值：used ≥ 3 链路方计算增益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877824"/>
            <a:ext cx="3429000" cy="31089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648" y="914400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218"/>
                </a:solidFill>
              </a:rPr>
              <a:t>系统参数（MATLAB sys.*）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77072" y="1188720"/>
            <a:ext cx="3282696" cy="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03920" y="1188720"/>
            <a:ext cx="3429000" cy="310896"/>
          </a:xfrm>
          <a:prstGeom prst="rect">
            <a:avLst/>
          </a:prstGeom>
          <a:solidFill>
            <a:srgbClr val="0C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0355580.0" y="1188720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58784" y="1207008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sys.fc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0444" y="1207008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500 MHz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1499616"/>
            <a:ext cx="3429000" cy="31089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355580.0" y="1499616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58784" y="1517904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10444" y="1517904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MHz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1810512"/>
            <a:ext cx="3429000" cy="310896"/>
          </a:xfrm>
          <a:prstGeom prst="rect">
            <a:avLst/>
          </a:prstGeom>
          <a:solidFill>
            <a:srgbClr val="0C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355580.0" y="1810512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58784" y="1828800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sys.Nsc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10444" y="1828800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1024 子载波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2121408"/>
            <a:ext cx="3429000" cy="31089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0355580.0" y="2121408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58784" y="2139696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sys.PRI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10444" y="2139696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140 μs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2432304"/>
            <a:ext cx="3429000" cy="310896"/>
          </a:xfrm>
          <a:prstGeom prst="rect">
            <a:avLst/>
          </a:prstGeom>
          <a:solidFill>
            <a:srgbClr val="0C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355580.0" y="2432304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558784" y="2450592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sys.Nc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10444" y="2450592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64 脉冲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3920" y="2743200"/>
            <a:ext cx="3429000" cy="31089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0355580.0" y="2743200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558784" y="2761488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sys.r_res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10444" y="2761488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75 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3054096"/>
            <a:ext cx="3429000" cy="310896"/>
          </a:xfrm>
          <a:prstGeom prst="rect">
            <a:avLst/>
          </a:prstGeom>
          <a:solidFill>
            <a:srgbClr val="0C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0355580.0" y="3054096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558784" y="3072384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N 节点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10444" y="3072384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Tx + 3 Rx = 6 链路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3364992"/>
            <a:ext cx="3429000" cy="31089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355580.0" y="3364992"/>
            <a:ext cx="0.0" cy="310896"/>
          </a:xfrm>
          <a:prstGeom prst="line">
            <a:avLst/>
          </a:prstGeom>
          <a:ln w="508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558784" y="3383280"/>
            <a:ext cx="17785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sys.lambda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10444" y="3383280"/>
            <a:ext cx="15041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0.6 m（c/500MHz）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3767328"/>
            <a:ext cx="3429000" cy="268833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503920" y="3767328"/>
            <a:ext cx="3429000" cy="310896"/>
          </a:xfrm>
          <a:prstGeom prst="round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13648" y="3803904"/>
            <a:ext cx="3282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218"/>
                </a:solidFill>
              </a:rPr>
              <a:t>增益对比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577072" y="4096512"/>
            <a:ext cx="3282696" cy="0"/>
          </a:xfrm>
          <a:prstGeom prst="line">
            <a:avLst/>
          </a:prstGeom>
          <a:ln w="571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613648" y="4133088"/>
            <a:ext cx="326440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相参合并：  SNR ∝ N²
非相参合并：SNR ∝ N
优势倍数：  ×N = ×6
             = +7.8 dB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56032" y="6437376"/>
            <a:ext cx="11676888" cy="0"/>
          </a:xfrm>
          <a:prstGeom prst="line">
            <a:avLst/>
          </a:prstGeom>
          <a:ln w="635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56032" y="6492240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5D8EC"/>
                </a:solidFill>
              </a:rPr>
              <a:t>★ 核心挑战：空海平台载体运动导致基线动态变化，多普勒快变，四大误差耦合非线性退化，同步维持难度远高于地基系统（sys.fc=500 MHz 时 λ=0.6 m，相位误差要求 &lt; 47 mrad）。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1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F5C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0607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218"/>
                </a:solidFill>
              </a:rPr>
              <a:t>空海平台多节点协同探测  ·  高效相参合成 — 方法设计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5D8EC"/>
                </a:solidFill>
              </a:rPr>
              <a:t>2 /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" y="749808"/>
            <a:ext cx="11969496" cy="0"/>
          </a:xfrm>
          <a:prstGeom prst="line">
            <a:avLst/>
          </a:prstGeom>
          <a:ln w="11430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" y="877824"/>
            <a:ext cx="1694200" cy="640080"/>
          </a:xfrm>
          <a:prstGeom prst="roundRect">
            <a:avLst/>
          </a:prstGeom>
          <a:solidFill>
            <a:srgbClr val="0F599C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877824"/>
            <a:ext cx="169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Round 1
强目标检测
（无MTI/积累）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0232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5680" y="877824"/>
            <a:ext cx="1482425" cy="640080"/>
          </a:xfrm>
          <a:prstGeom prst="roundRect">
            <a:avLst/>
          </a:prstGeom>
          <a:solidFill>
            <a:srgbClr val="0B7474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5680" y="877824"/>
            <a:ext cx="148242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CFAR
粗检测
SNR &gt; 12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8105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3553" y="877824"/>
            <a:ext cx="1270650" cy="640080"/>
          </a:xfrm>
          <a:prstGeom prst="roundRect">
            <a:avLst/>
          </a:prstGeom>
          <a:solidFill>
            <a:srgbClr val="492178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3553" y="877824"/>
            <a:ext cx="127065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GN 优化
定位解算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4203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9651" y="877824"/>
            <a:ext cx="1058875" cy="640080"/>
          </a:xfrm>
          <a:prstGeom prst="roundRect">
            <a:avLst/>
          </a:prstGeom>
          <a:solidFill>
            <a:srgbClr val="6A1717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9651" y="877824"/>
            <a:ext cx="10588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8527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3975" y="877824"/>
            <a:ext cx="1694200" cy="640080"/>
          </a:xfrm>
          <a:prstGeom prst="roundRect">
            <a:avLst/>
          </a:prstGeom>
          <a:solidFill>
            <a:srgbClr val="0F599C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3975" y="877824"/>
            <a:ext cx="169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Round 2
弱目标检测
（三MTI并行）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8175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3623" y="877824"/>
            <a:ext cx="1482425" cy="640080"/>
          </a:xfrm>
          <a:prstGeom prst="roundRect">
            <a:avLst/>
          </a:prstGeom>
          <a:solidFill>
            <a:srgbClr val="0B7474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3623" y="877824"/>
            <a:ext cx="148242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三MTI
融合 + 去重
CFAR SNR&gt;6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6048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1496" y="877824"/>
            <a:ext cx="1058875" cy="640080"/>
          </a:xfrm>
          <a:prstGeom prst="roundRect">
            <a:avLst/>
          </a:prstGeom>
          <a:solidFill>
            <a:srgbClr val="492178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1496" y="877824"/>
            <a:ext cx="10588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GN 优化
+RANSAC
定位解算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30371" y="973836"/>
            <a:ext cx="15544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C218"/>
                </a:solidFill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85819" y="877824"/>
            <a:ext cx="847100" cy="640080"/>
          </a:xfrm>
          <a:prstGeom prst="roundRect">
            <a:avLst/>
          </a:prstGeom>
          <a:solidFill>
            <a:srgbClr val="196A2C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85819" y="877824"/>
            <a:ext cx="8471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KF 跟踪
+ 相参增益
估计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6251.04" y="841248"/>
            <a:ext cx="0.0" cy="713232"/>
          </a:xfrm>
          <a:prstGeom prst="line">
            <a:avLst/>
          </a:prstGeom>
          <a:ln w="12700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" y="1645920"/>
            <a:ext cx="2836926" cy="338328"/>
          </a:xfrm>
          <a:prstGeom prst="roundRect">
            <a:avLst/>
          </a:prstGeom>
          <a:solidFill>
            <a:srgbClr val="0F599C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1645920"/>
            <a:ext cx="283692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218"/>
                </a:solidFill>
              </a:rPr>
              <a:t>① 时延对齐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1984248"/>
            <a:ext cx="2836926" cy="245973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03911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北斗/GPS 双频授时（&lt; 10 ns）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31800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互相关峰值 + 亚像素插值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259689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r_fold = mod(r_eq, R_unamb)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2875788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rbin = round(r_fold/r_res)+1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3154680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INS/DVL 动态预测载体运动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343357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精度目标：Δτ &lt; λ/(4c) ≈ 0.5 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2686" y="1645920"/>
            <a:ext cx="2836926" cy="338328"/>
          </a:xfrm>
          <a:prstGeom prst="roundRect">
            <a:avLst/>
          </a:prstGeom>
          <a:solidFill>
            <a:srgbClr val="0B7474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2686" y="1645920"/>
            <a:ext cx="283692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218"/>
                </a:solidFill>
              </a:rPr>
              <a:t>② 相位校正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2686" y="1984248"/>
            <a:ext cx="2836926" cy="245973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4126" y="203911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相干度估计（cfar_detect_1d）：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4126" y="231800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s_rot = s·exp(−j2π·fd0·PRI·n)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4126" y="259689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coh = |Σs_rot|/Σ|s_rot|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4126" y="2875788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相位斜率一致性（抑制镜像）：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4126" y="3154680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ph = unwrap(angle(s))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4126" y="343357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fd_phase = median(diff(ph))/PRI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4126" y="371246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ph_cons = exp(−|Δfd|/Δfd_ref)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4126" y="399135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EKF/PLL 实时跟踪相位漂移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9340" y="1645920"/>
            <a:ext cx="2836926" cy="338328"/>
          </a:xfrm>
          <a:prstGeom prst="roundRect">
            <a:avLst/>
          </a:prstGeom>
          <a:solidFill>
            <a:srgbClr val="492178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9340" y="1645920"/>
            <a:ext cx="283692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218"/>
                </a:solidFill>
              </a:rPr>
              <a:t>③ 权值与合并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9340" y="1984248"/>
            <a:ext cx="2836926" cy="245973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0780" y="203911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综合评分（代码 cfar_detect_1d）：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0780" y="231800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score = SNR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0780" y="259689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  × (0.3+0.7·coh)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0780" y="2875788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  × (0.4+0.6·ph_cons)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0780" y="3154680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MRC 合并：coh_sum = Σ cell·e^{jφ}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0780" y="343357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incoh_sum = Σ |cell|²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0780" y="371246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增益：G = 10·lg(|coh|²/incoh)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0780" y="399135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分层相参：质量异构时组内相参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5994" y="1645920"/>
            <a:ext cx="2836926" cy="338328"/>
          </a:xfrm>
          <a:prstGeom prst="roundRect">
            <a:avLst/>
          </a:prstGeom>
          <a:solidFill>
            <a:srgbClr val="783810"/>
          </a:solidFill>
          <a:ln w="8890">
            <a:solidFill>
              <a:srgbClr val="F5C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95994" y="1645920"/>
            <a:ext cx="283692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218"/>
                </a:solidFill>
              </a:rPr>
              <a:t>④ 三MTI + 空海增强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95994" y="1984248"/>
            <a:ext cx="2836926" cy="2459736"/>
          </a:xfrm>
          <a:prstGeom prst="rect">
            <a:avLst/>
          </a:prstGeom>
          <a:solidFill>
            <a:srgbClr val="0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87434" y="203911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三通道并行 MTI：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7434" y="231800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SLOW  → 1阶: [1,−1]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7434" y="259689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FAST  → 2阶: [1,−2,1]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7434" y="2875788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8EC"/>
                </a:solidFill>
              </a:rPr>
              <a:t>     VFAST → 3阶: [1,−3,3,−1]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7434" y="3154680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速度分簇：SpeedSplit=[230,400] m/s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7434" y="3433572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多帧能量积累：beta=0.65（powBank）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7434" y="3712464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SIC 强目标对消 → 弱目标提取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87434" y="3991356"/>
            <a:ext cx="270891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• 姿态补偿：IMU 横摇/纵摇修正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" y="418795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218"/>
                </a:solidFill>
              </a:rPr>
              <a:t>▶  关键性能指标（代码 efficiency_boundary_report + cfar 参数）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56032" y="4498848"/>
            <a:ext cx="11676888" cy="0"/>
          </a:xfrm>
          <a:prstGeom prst="line">
            <a:avLst/>
          </a:prstGeom>
          <a:ln w="9525">
            <a:solidFill>
              <a:srgbClr val="F5C2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6032" y="4535424"/>
          <a:ext cx="1167688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377"/>
                <a:gridCol w="2335377"/>
                <a:gridCol w="2335377"/>
                <a:gridCol w="2335377"/>
                <a:gridCol w="2335380"/>
              </a:tblGrid>
              <a:tr h="30723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218"/>
                          </a:solidFill>
                        </a:rPr>
                        <a:t>指标项</a:t>
                      </a:r>
                    </a:p>
                  </a:txBody>
                  <a:tcPr>
                    <a:solidFill>
                      <a:srgbClr val="113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218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13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218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13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218"/>
                          </a:solidFill>
                        </a:rPr>
                        <a:t>MATLAB 参数/函数</a:t>
                      </a:r>
                    </a:p>
                  </a:txBody>
                  <a:tcPr>
                    <a:solidFill>
                      <a:srgbClr val="113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218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1386A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10 ns，相位误差 &lt; π/8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低（&lt; 1 ms）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sys.fc=500M，Nc=64，cfar.min_snr_db=6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中（1~10 ms）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track_aided_coherent，used ≥ 3 链路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三MTI分层合并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100 ns，coh ≥ 0.08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mti_filter1/2/3，beta=0.65，SpeedSplit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0F2A50"/>
                    </a:solidFill>
                  </a:tcPr>
                </a:tc>
              </a:tr>
              <a:tr h="3072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SIC+相参合并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两轮（约2ms）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process_all_links_sic，sic_targets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081C38"/>
                    </a:solidFill>
                  </a:tcPr>
                </a:tc>
              </a:tr>
            </a:tbl>
          </a:graphicData>
        </a:graphic>
      </p:graphicFrame>
      <p:cxnSp>
        <p:nvCxnSpPr>
          <p:cNvPr id="76" name="Connector 75"/>
          <p:cNvCxnSpPr/>
          <p:nvPr/>
        </p:nvCxnSpPr>
        <p:spPr>
          <a:xfrm>
            <a:off x="256032" y="6437376"/>
            <a:ext cx="11676888" cy="0"/>
          </a:xfrm>
          <a:prstGeom prst="line">
            <a:avLst/>
          </a:prstGeom>
          <a:ln w="6350">
            <a:solidFill>
              <a:srgbClr val="2858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56032" y="6492240"/>
            <a:ext cx="11676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5D8EC"/>
                </a:solidFill>
              </a:rPr>
              <a:t>★ 核心权衡：空海高动态平台需在「估计精度 — 计算实时性 — 通信开销」三者间最优平衡；分层相参策略（强目标SIC → 三MTI弱目标 → MRC合并）是代码设计核心。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