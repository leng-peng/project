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5C518"/>
                </a:solidFill>
              </a:rPr>
              <a:t>空海平台多节点协同探测  ·  高效相参合成 — 机理分析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1945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8EA"/>
                </a:solidFill>
              </a:rPr>
              <a:t>1 /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" y="749808"/>
            <a:ext cx="11969496" cy="0"/>
          </a:xfrm>
          <a:prstGeom prst="line">
            <a:avLst/>
          </a:prstGeom>
          <a:ln w="1270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128515.0" y="978408"/>
            <a:ext cx="0.0" cy="5468112"/>
          </a:xfrm>
          <a:prstGeom prst="line">
            <a:avLst/>
          </a:prstGeom>
          <a:ln w="6350">
            <a:solidFill>
              <a:srgbClr val="2A5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53627.0" y="978408"/>
            <a:ext cx="0.0" cy="5468112"/>
          </a:xfrm>
          <a:prstGeom prst="line">
            <a:avLst/>
          </a:prstGeom>
          <a:ln w="6350">
            <a:solidFill>
              <a:srgbClr val="2A5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6032" y="886968"/>
            <a:ext cx="3822191" cy="1307592"/>
          </a:xfrm>
          <a:prstGeom prst="roundRect">
            <a:avLst/>
          </a:prstGeom>
          <a:solidFill>
            <a:srgbClr val="10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032" y="886968"/>
            <a:ext cx="3822191" cy="329184"/>
          </a:xfrm>
          <a:prstGeom prst="roundRect">
            <a:avLst/>
          </a:prstGeom>
          <a:solidFill>
            <a:srgbClr val="10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923544"/>
            <a:ext cx="36393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① 时延同步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7472" y="1234440.0"/>
            <a:ext cx="3639311" cy="0.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6032" y="1234440"/>
            <a:ext cx="3822191" cy="96012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271016"/>
            <a:ext cx="363931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几何时延差 → 脉冲对齐补偿
精度要求：Δτ &lt; λ / (4c)
方法：互相关峰值估计 + GPS授时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" y="2304288"/>
            <a:ext cx="3822191" cy="1307592"/>
          </a:xfrm>
          <a:prstGeom prst="roundRect">
            <a:avLst/>
          </a:prstGeom>
          <a:solidFill>
            <a:srgbClr val="0C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6032" y="2304288"/>
            <a:ext cx="3822191" cy="329184"/>
          </a:xfrm>
          <a:prstGeom prst="roundRect">
            <a:avLst/>
          </a:prstGeom>
          <a:solidFill>
            <a:srgbClr val="0C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340864"/>
            <a:ext cx="36393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② 相位同步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7472" y="2651760.0"/>
            <a:ext cx="3639311" cy="0.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56032" y="2651760"/>
            <a:ext cx="3822191" cy="96012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688336"/>
            <a:ext cx="363931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载频相位差 → 复数旋转校正
误差源：本振不一致、温漂
方法：导频估计 / 回波自校准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" y="3721608"/>
            <a:ext cx="3822191" cy="1307592"/>
          </a:xfrm>
          <a:prstGeom prst="roundRect">
            <a:avLst/>
          </a:prstGeom>
          <a:solidFill>
            <a:srgbClr val="4A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6032" y="3721608"/>
            <a:ext cx="3822191" cy="329184"/>
          </a:xfrm>
          <a:prstGeom prst="roundRect">
            <a:avLst/>
          </a:prstGeom>
          <a:solidFill>
            <a:srgbClr val="4A2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758184"/>
            <a:ext cx="36393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③ 频率同步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7472" y="4069080.0"/>
            <a:ext cx="3639311" cy="0.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56032" y="4069080"/>
            <a:ext cx="3822191" cy="96012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105656"/>
            <a:ext cx="363931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多普勒 + 振荡器频偏
→ 相位线性漂移：ΔΦ = 2π·Δf·t
方法：PLL / EKF 联合跟踪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" y="5138928"/>
            <a:ext cx="3822191" cy="1307592"/>
          </a:xfrm>
          <a:prstGeom prst="roundRect">
            <a:avLst/>
          </a:prstGeom>
          <a:solidFill>
            <a:srgbClr val="7A3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6032" y="5138928"/>
            <a:ext cx="3822191" cy="329184"/>
          </a:xfrm>
          <a:prstGeom prst="roundRect">
            <a:avLst/>
          </a:prstGeom>
          <a:solidFill>
            <a:srgbClr val="7A3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175504"/>
            <a:ext cx="36393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④ 幅度一致性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47472" y="5486400.0"/>
            <a:ext cx="3639311" cy="0.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56032" y="5486400"/>
            <a:ext cx="3822191" cy="96012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522976"/>
            <a:ext cx="363931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通道增益不均 → 旁瓣抬高
→ MRC 权值补偿：wₖ ∝ SNRₖ
方法：自适应归一化校准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78807" y="886968"/>
            <a:ext cx="4224528" cy="2724912"/>
          </a:xfrm>
          <a:prstGeom prst="roundRect">
            <a:avLst/>
          </a:prstGeom>
          <a:solidFill>
            <a:srgbClr val="1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178807" y="886968"/>
            <a:ext cx="4224528" cy="329184"/>
          </a:xfrm>
          <a:prstGeom prst="roundRect">
            <a:avLst/>
          </a:prstGeom>
          <a:solidFill>
            <a:srgbClr val="1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06823" y="932688"/>
            <a:ext cx="4041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信号模型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270247" y="1234440"/>
            <a:ext cx="4041648" cy="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306823" y="1289304"/>
            <a:ext cx="4041648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第 k 节点接收信号：
  sₖ(t) = A · exp[j(2πfc·τₖ + φₖ)] + nₖ(t)
相参合并输出：
  y(t) = Σₖ  wₖ*· sₖ(t)
最优相位对齐条件：
  ∠wₖ = −(2πfc·τₖ + φₖ)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78807" y="3721608"/>
            <a:ext cx="4224528" cy="2724912"/>
          </a:xfrm>
          <a:prstGeom prst="roundRect">
            <a:avLst/>
          </a:prstGeom>
          <a:solidFill>
            <a:srgbClr val="1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178807" y="3721608"/>
            <a:ext cx="4224528" cy="329184"/>
          </a:xfrm>
          <a:prstGeom prst="roundRect">
            <a:avLst/>
          </a:prstGeom>
          <a:solidFill>
            <a:srgbClr val="1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06823" y="3767328"/>
            <a:ext cx="4041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相参增益退化律（核心公式）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270247" y="4069080.0"/>
            <a:ext cx="4041648" cy="0.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4270247" y="4123944"/>
            <a:ext cx="4041648" cy="438912"/>
          </a:xfrm>
          <a:prstGeom prst="rect">
            <a:avLst/>
          </a:prstGeom>
          <a:solidFill>
            <a:srgbClr val="004A8F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06823" y="4142232"/>
            <a:ext cx="39684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  G = N² · sinc²(σ_φ_total)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06823" y="4617720"/>
            <a:ext cx="404164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联合相位误差方差：
  σ²_φ = σ²_time·(2πfc)² + σ²_phase + σ²_freq·T²
  σ_φ &lt; π/8  →  G &gt; 0.90·N²  （效能保持 90%）
  σ_φ = π/4  →  G ≈ 0.64·N²  （退化 36%）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03919" y="886968"/>
            <a:ext cx="3429000" cy="1261872"/>
          </a:xfrm>
          <a:prstGeom prst="roundRect">
            <a:avLst/>
          </a:prstGeom>
          <a:solidFill>
            <a:srgbClr val="1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503919" y="886968"/>
            <a:ext cx="3429000" cy="329184"/>
          </a:xfrm>
          <a:prstGeom prst="roundRect">
            <a:avLst/>
          </a:prstGeom>
          <a:solidFill>
            <a:srgbClr val="1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13647" y="93268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增益对比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595359" y="1234440"/>
            <a:ext cx="3246120" cy="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613647" y="1289304"/>
            <a:ext cx="3246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相参合并：  SNR ∝ N²
非相参合并：SNR ∝ N
相参优势：额外 ×N 增益（+10·lgN dB）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03919" y="2276856"/>
            <a:ext cx="3429000" cy="4169664"/>
          </a:xfrm>
          <a:prstGeom prst="roundRect">
            <a:avLst/>
          </a:prstGeom>
          <a:solidFill>
            <a:srgbClr val="1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503919" y="2276856"/>
            <a:ext cx="3429000" cy="329184"/>
          </a:xfrm>
          <a:prstGeom prst="roundRect">
            <a:avLst/>
          </a:prstGeom>
          <a:solidFill>
            <a:srgbClr val="1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13647" y="2322576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系统处理链路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595359" y="2624328"/>
            <a:ext cx="3246120" cy="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8631935" y="2679192"/>
            <a:ext cx="3172968" cy="402336"/>
          </a:xfrm>
          <a:prstGeom prst="roundRect">
            <a:avLst/>
          </a:prstGeom>
          <a:solidFill>
            <a:srgbClr val="105B9E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31935" y="2679192"/>
            <a:ext cx="3172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节点 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08691" y="3122127"/>
            <a:ext cx="219456" cy="189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C518"/>
                </a:solidFill>
              </a:rPr>
              <a:t>▼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31935" y="3352190"/>
            <a:ext cx="3172968" cy="402336"/>
          </a:xfrm>
          <a:prstGeom prst="roundRect">
            <a:avLst/>
          </a:prstGeom>
          <a:solidFill>
            <a:srgbClr val="105B9E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31935" y="3352190"/>
            <a:ext cx="3172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节点 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08691" y="3795125"/>
            <a:ext cx="219456" cy="189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C518"/>
                </a:solidFill>
              </a:rPr>
              <a:t>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631935" y="4025188"/>
            <a:ext cx="3172968" cy="402336"/>
          </a:xfrm>
          <a:prstGeom prst="roundRect">
            <a:avLst/>
          </a:prstGeom>
          <a:solidFill>
            <a:srgbClr val="105B9E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31935" y="4025188"/>
            <a:ext cx="3172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节点 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08691" y="4468124"/>
            <a:ext cx="219456" cy="189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C518"/>
                </a:solidFill>
              </a:rPr>
              <a:t>▼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31935" y="4698187"/>
            <a:ext cx="3172968" cy="402336"/>
          </a:xfrm>
          <a:prstGeom prst="roundRect">
            <a:avLst/>
          </a:prstGeom>
          <a:solidFill>
            <a:srgbClr val="0C7676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31935" y="4698187"/>
            <a:ext cx="3172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时延对齐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08691" y="5141122"/>
            <a:ext cx="219456" cy="189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C518"/>
                </a:solidFill>
              </a:rPr>
              <a:t>▼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631935" y="5371185"/>
            <a:ext cx="3172968" cy="402336"/>
          </a:xfrm>
          <a:prstGeom prst="roundRect">
            <a:avLst/>
          </a:prstGeom>
          <a:solidFill>
            <a:srgbClr val="4A227A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31935" y="5371185"/>
            <a:ext cx="3172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相位校正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08691" y="5814120"/>
            <a:ext cx="219456" cy="189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C518"/>
                </a:solidFill>
              </a:rPr>
              <a:t>▼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631935" y="6044184"/>
            <a:ext cx="3172968" cy="402336"/>
          </a:xfrm>
          <a:prstGeom prst="roundRect">
            <a:avLst/>
          </a:prstGeom>
          <a:solidFill>
            <a:srgbClr val="1A6B2E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31935" y="6044184"/>
            <a:ext cx="3172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MRC 合并 → N²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256032" y="6446520"/>
            <a:ext cx="11676888" cy="0"/>
          </a:xfrm>
          <a:prstGeom prst="line">
            <a:avLst/>
          </a:prstGeom>
          <a:ln w="6350">
            <a:solidFill>
              <a:srgbClr val="2A5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256032" y="6492240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8D8EA"/>
                </a:solidFill>
              </a:rPr>
              <a:t>★ 空海特殊挑战：载体运动导致基线动态变化，多普勒快变，四大误差耦合非线性退化，同步维持难度远高于地基系统。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5C518"/>
                </a:solidFill>
              </a:rPr>
              <a:t>空海平台多节点协同探测  ·  高效相参合成 — 方法设计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1945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8EA"/>
                </a:solidFill>
              </a:rPr>
              <a:t>2 /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" y="749808"/>
            <a:ext cx="11969496" cy="0"/>
          </a:xfrm>
          <a:prstGeom prst="line">
            <a:avLst/>
          </a:prstGeom>
          <a:ln w="1270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6032" y="886968"/>
            <a:ext cx="1793748" cy="676656"/>
          </a:xfrm>
          <a:prstGeom prst="roundRect">
            <a:avLst/>
          </a:prstGeom>
          <a:solidFill>
            <a:srgbClr val="105B9E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886968"/>
            <a:ext cx="179374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① 原始回波
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9780" y="1008766"/>
            <a:ext cx="182880" cy="43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C518"/>
                </a:solidFill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32660" y="886968"/>
            <a:ext cx="1793748" cy="676656"/>
          </a:xfrm>
          <a:prstGeom prst="roundRect">
            <a:avLst/>
          </a:prstGeom>
          <a:solidFill>
            <a:srgbClr val="0C7676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32660" y="886968"/>
            <a:ext cx="179374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② 时延估计
与对齐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6408" y="1008766"/>
            <a:ext cx="182880" cy="43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C518"/>
                </a:solidFill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9288" y="886968"/>
            <a:ext cx="1793748" cy="676656"/>
          </a:xfrm>
          <a:prstGeom prst="roundRect">
            <a:avLst/>
          </a:prstGeom>
          <a:solidFill>
            <a:srgbClr val="4A227A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9288" y="886968"/>
            <a:ext cx="179374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③ 相位估计
与校正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3036" y="1008766"/>
            <a:ext cx="182880" cy="43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C518"/>
                </a:solidFill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886968"/>
            <a:ext cx="1793748" cy="676656"/>
          </a:xfrm>
          <a:prstGeom prst="roundRect">
            <a:avLst/>
          </a:prstGeom>
          <a:solidFill>
            <a:srgbClr val="7A3A10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886968"/>
            <a:ext cx="179374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④ 自适应
权值计算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9664" y="1008766"/>
            <a:ext cx="182880" cy="43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C518"/>
                </a:solidFill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62544" y="886968"/>
            <a:ext cx="1793748" cy="676656"/>
          </a:xfrm>
          <a:prstGeom prst="roundRect">
            <a:avLst/>
          </a:prstGeom>
          <a:solidFill>
            <a:srgbClr val="1A6B2E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2544" y="886968"/>
            <a:ext cx="179374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⑤ 相参合并
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56292" y="1008766"/>
            <a:ext cx="182880" cy="43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C518"/>
                </a:solidFill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39172" y="886968"/>
            <a:ext cx="1793748" cy="676656"/>
          </a:xfrm>
          <a:prstGeom prst="roundRect">
            <a:avLst/>
          </a:prstGeom>
          <a:solidFill>
            <a:srgbClr val="6B1818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39172" y="886968"/>
            <a:ext cx="179374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⑥ 目标检测
处理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" y="1700784"/>
            <a:ext cx="2830068" cy="347472"/>
          </a:xfrm>
          <a:prstGeom prst="roundRect">
            <a:avLst/>
          </a:prstGeom>
          <a:solidFill>
            <a:srgbClr val="105B9E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" y="1700784"/>
            <a:ext cx="2830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5C518"/>
                </a:solidFill>
              </a:rPr>
              <a:t>① 时延对齐方法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2048256"/>
            <a:ext cx="2830068" cy="2340864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103120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北斗/GPS 双频授时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2391156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硬件同步精度 &lt; 10 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2679192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互相关峰值精估精度 ≈ 1/BW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2967228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INS/DVL 动态时延预测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" y="3255264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补偿载体机动时延抖动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" y="3543300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EA"/>
                </a:solidFill>
              </a:rPr>
              <a:t>    目标：Δτ &lt; λ / (4c)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4972" y="1700784"/>
            <a:ext cx="2830068" cy="347472"/>
          </a:xfrm>
          <a:prstGeom prst="roundRect">
            <a:avLst/>
          </a:prstGeom>
          <a:solidFill>
            <a:srgbClr val="0C7676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4972" y="1700784"/>
            <a:ext cx="2830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5C518"/>
                </a:solidFill>
              </a:rPr>
              <a:t>② 相位校正方法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4972" y="2048256"/>
            <a:ext cx="2830068" cy="2340864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6412" y="2103120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导频信号法（有导频）：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6412" y="2391156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EA"/>
                </a:solidFill>
              </a:rPr>
              <a:t>      周期发送相位参考信号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6412" y="2679192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EA"/>
                </a:solidFill>
              </a:rPr>
              <a:t>      LS 拟合载波相位漂移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6412" y="2967228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EA"/>
                </a:solidFill>
              </a:rPr>
              <a:t>      实时反馈补偿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6412" y="3255264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回波自校准（无导频）：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6412" y="3543300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EA"/>
                </a:solidFill>
              </a:rPr>
              <a:t>      利用多节点回波相位差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6412" y="3831336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EA"/>
                </a:solidFill>
              </a:rPr>
              <a:t>      反解并补偿相位误差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6412" y="4119372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EKF / PLL 联合跟踪框架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53912" y="1700784"/>
            <a:ext cx="2830068" cy="347472"/>
          </a:xfrm>
          <a:prstGeom prst="roundRect">
            <a:avLst/>
          </a:prstGeom>
          <a:solidFill>
            <a:srgbClr val="4A227A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53912" y="1700784"/>
            <a:ext cx="2830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5C518"/>
                </a:solidFill>
              </a:rPr>
              <a:t>③ 自适应权值计算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53912" y="2048256"/>
            <a:ext cx="2830068" cy="2340864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45352" y="2103120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最大比合并（MRC）：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45352" y="2391156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EA"/>
                </a:solidFill>
              </a:rPr>
              <a:t>      wₖ = SNRₖ / Σ SNRᵢ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45352" y="2679192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稳健加权：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45352" y="2967228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EA"/>
                </a:solidFill>
              </a:rPr>
              <a:t>      相位误差大节点自动降权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45352" y="3255264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EA"/>
                </a:solidFill>
              </a:rPr>
              <a:t>      防止相参合并被污染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5352" y="3543300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分层相参策略：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45352" y="3831336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EA"/>
                </a:solidFill>
              </a:rPr>
              <a:t>      同步质量相近节点组内相参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45352" y="4119372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EA"/>
                </a:solidFill>
              </a:rPr>
              <a:t>      组间非相参叠加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02852" y="1700784"/>
            <a:ext cx="2830068" cy="347472"/>
          </a:xfrm>
          <a:prstGeom prst="roundRect">
            <a:avLst/>
          </a:prstGeom>
          <a:solidFill>
            <a:srgbClr val="7A3A10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02852" y="1700784"/>
            <a:ext cx="2830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5C518"/>
                </a:solidFill>
              </a:rPr>
              <a:t>④ 空海特殊设计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02852" y="2048256"/>
            <a:ext cx="2830068" cy="2340864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94292" y="2103120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海面多径处理：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94292" y="2391156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EA"/>
                </a:solidFill>
              </a:rPr>
              <a:t>      分离直射/镜面反射分量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94292" y="2679192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EA"/>
                </a:solidFill>
              </a:rPr>
              <a:t>      分量分离后再相参合并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94292" y="2967228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载体姿态补偿：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94292" y="3255264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EA"/>
                </a:solidFill>
              </a:rPr>
              <a:t>      IMU 实时修正横摇/纵摇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94292" y="3543300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EA"/>
                </a:solidFill>
              </a:rPr>
              <a:t>      Δφ=(2π/λ)·d·sin(Δθ)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94292" y="3831336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低截获设计：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94292" y="4119372"/>
            <a:ext cx="269290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EA"/>
                </a:solidFill>
              </a:rPr>
              <a:t>      相参合并在数字域完成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6032" y="413308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▶  关键性能指标对比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56032" y="4462272"/>
            <a:ext cx="11676888" cy="0"/>
          </a:xfrm>
          <a:prstGeom prst="line">
            <a:avLst/>
          </a:prstGeom>
          <a:ln w="9525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256032" y="4498848"/>
          <a:ext cx="1167688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9222"/>
                <a:gridCol w="2919222"/>
                <a:gridCol w="2919222"/>
                <a:gridCol w="2919222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5C518"/>
                          </a:solidFill>
                        </a:rPr>
                        <a:t>方法类型</a:t>
                      </a:r>
                    </a:p>
                  </a:txBody>
                  <a:tcPr>
                    <a:solidFill>
                      <a:srgbClr val="12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5C518"/>
                          </a:solidFill>
                        </a:rPr>
                        <a:t>同步精度要求</a:t>
                      </a:r>
                    </a:p>
                  </a:txBody>
                  <a:tcPr>
                    <a:solidFill>
                      <a:srgbClr val="12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5C518"/>
                          </a:solidFill>
                        </a:rPr>
                        <a:t>算法延迟</a:t>
                      </a:r>
                    </a:p>
                  </a:txBody>
                  <a:tcPr>
                    <a:solidFill>
                      <a:srgbClr val="12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5C518"/>
                          </a:solidFill>
                        </a:rPr>
                        <a:t>适用场景</a:t>
                      </a:r>
                    </a:p>
                  </a:txBody>
                  <a:tcPr>
                    <a:solidFill>
                      <a:srgbClr val="123A6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导频相参合并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</a:rPr>
                        <a:t>时延 &lt; 10 ns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</a:rPr>
                        <a:t>低（&lt; 1 ms）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协同组网、慢机动平台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回波自校准合并</a:t>
                      </a:r>
                    </a:p>
                  </a:txBody>
                  <a:tcPr>
                    <a:solidFill>
                      <a:srgbClr val="0A1E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</a:rPr>
                        <a:t>时延 &lt; 50 ns</a:t>
                      </a:r>
                    </a:p>
                  </a:txBody>
                  <a:tcPr>
                    <a:solidFill>
                      <a:srgbClr val="0A1E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</a:rPr>
                        <a:t>中（1～10 ms）</a:t>
                      </a:r>
                    </a:p>
                  </a:txBody>
                  <a:tcPr>
                    <a:solidFill>
                      <a:srgbClr val="0A1E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无导频、通信受限场景</a:t>
                      </a:r>
                    </a:p>
                  </a:txBody>
                  <a:tcPr>
                    <a:solidFill>
                      <a:srgbClr val="0A1E3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分层相参合并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</a:rPr>
                        <a:t>时延 &lt; 100 ns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FFFFF"/>
                          </a:solidFill>
                        </a:rPr>
                        <a:t>低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</a:rPr>
                        <a:t>节点数多、同步质量异构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</a:tbl>
          </a:graphicData>
        </a:graphic>
      </p:graphicFrame>
      <p:cxnSp>
        <p:nvCxnSpPr>
          <p:cNvPr id="69" name="Connector 68"/>
          <p:cNvCxnSpPr/>
          <p:nvPr/>
        </p:nvCxnSpPr>
        <p:spPr>
          <a:xfrm>
            <a:off x="256032" y="6446520"/>
            <a:ext cx="11676888" cy="0"/>
          </a:xfrm>
          <a:prstGeom prst="line">
            <a:avLst/>
          </a:prstGeom>
          <a:ln w="6350">
            <a:solidFill>
              <a:srgbClr val="2A5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56032" y="6492240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8D8EA"/>
                </a:solidFill>
              </a:rPr>
              <a:t>★ 核心权衡：空海高动态平台要求在「估计精度 — 计算实时性 — 通信开销」三者之间取得最优平衡，并在极端机动场景下保持鲁棒性。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