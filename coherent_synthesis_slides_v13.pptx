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749808"/>
          </a:xfrm>
          <a:prstGeom prst="rect">
            <a:avLst/>
          </a:prstGeom>
          <a:solidFill>
            <a:srgbClr val="0D2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64592" y="0"/>
            <a:ext cx="12024360" cy="749808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" name="Connector 3"/>
          <p:cNvCxnSpPr/>
          <p:nvPr/>
        </p:nvCxnSpPr>
        <p:spPr>
          <a:xfrm>
            <a:off x="0" y="749808"/>
            <a:ext cx="12188952" cy="0"/>
          </a:xfrm>
          <a:prstGeom prst="line">
            <a:avLst/>
          </a:prstGeom>
          <a:ln w="31750">
            <a:solidFill>
              <a:srgbClr val="2E74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329184" y="91440"/>
            <a:ext cx="9601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</a:rPr>
              <a:t>多节点信号级高效相参合成 · 研究内容与技术路线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9184" y="457200"/>
            <a:ext cx="96012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B0CCF0"/>
                </a:solidFill>
              </a:rPr>
              <a:t>Research Content &amp; Technical Approach — MathType Equations Edition (v13)</a:t>
            </a:r>
          </a:p>
        </p:txBody>
      </p:sp>
      <p:sp>
        <p:nvSpPr>
          <p:cNvPr id="7" name="Oval 6"/>
          <p:cNvSpPr/>
          <p:nvPr/>
        </p:nvSpPr>
        <p:spPr>
          <a:xfrm>
            <a:off x="11457432" y="118872"/>
            <a:ext cx="512064" cy="512064"/>
          </a:xfrm>
          <a:prstGeom prst="ellipse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>
                <a:solidFill>
                  <a:srgbClr val="FFFFFF"/>
                </a:solidFill>
              </a:rPr>
              <a:t>1/1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92608" y="1024128"/>
            <a:ext cx="2804922" cy="585216"/>
          </a:xfrm>
          <a:prstGeom prst="roundRect">
            <a:avLst/>
          </a:prstGeom>
          <a:solidFill>
            <a:srgbClr val="B54A00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92608" y="1024128"/>
            <a:ext cx="2804922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科学问题
增益律/融合条件/CRLB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097530" y="1170432"/>
            <a:ext cx="12801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0D2A6E"/>
                </a:solidFill>
              </a:rPr>
              <a:t>►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225546" y="1024128"/>
            <a:ext cx="2804922" cy="585216"/>
          </a:xfrm>
          <a:prstGeom prst="roundRect">
            <a:avLst/>
          </a:prstGeom>
          <a:solidFill>
            <a:srgbClr val="0A5C36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25546" y="1024128"/>
            <a:ext cx="2804922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研究内容
三项核心研究任务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30468" y="1170432"/>
            <a:ext cx="12801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0D2A6E"/>
                </a:solidFill>
              </a:rPr>
              <a:t>►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58484" y="1024128"/>
            <a:ext cx="2804922" cy="585216"/>
          </a:xfrm>
          <a:prstGeom prst="roundRect">
            <a:avLst/>
          </a:prstGeom>
          <a:solidFill>
            <a:srgbClr val="1F6BC4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58484" y="1024128"/>
            <a:ext cx="2804922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关键技术
误差建模/相位估计/MRC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3406" y="1170432"/>
            <a:ext cx="12801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0D2A6E"/>
                </a:solidFill>
              </a:rPr>
              <a:t>►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091422" y="1024128"/>
            <a:ext cx="2804922" cy="585216"/>
          </a:xfrm>
          <a:prstGeom prst="roundRect">
            <a:avLst/>
          </a:prstGeom>
          <a:solidFill>
            <a:srgbClr val="0D2A6E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091422" y="1024128"/>
            <a:ext cx="2804922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预期成果
理论突破 + 工程验证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4628007.0" y="1609344"/>
            <a:ext cx="0.0" cy="128016"/>
          </a:xfrm>
          <a:prstGeom prst="line">
            <a:avLst/>
          </a:prstGeom>
          <a:ln w="15240">
            <a:solidFill>
              <a:srgbClr val="2E74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7560945.0" y="1609344"/>
            <a:ext cx="0.0" cy="128016"/>
          </a:xfrm>
          <a:prstGeom prst="line">
            <a:avLst/>
          </a:prstGeom>
          <a:ln w="15240">
            <a:solidFill>
              <a:srgbClr val="2E74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ectangle 20"/>
          <p:cNvSpPr/>
          <p:nvPr/>
        </p:nvSpPr>
        <p:spPr>
          <a:xfrm>
            <a:off x="329184" y="1792224"/>
            <a:ext cx="5499567" cy="402336"/>
          </a:xfrm>
          <a:prstGeom prst="rect">
            <a:avLst/>
          </a:prstGeom>
          <a:solidFill>
            <a:srgbClr val="BBCC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92608" y="1755648"/>
            <a:ext cx="5499567" cy="402336"/>
          </a:xfrm>
          <a:prstGeom prst="rect">
            <a:avLst/>
          </a:prstGeom>
          <a:solidFill>
            <a:srgbClr val="0A5C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92608" y="1755648"/>
            <a:ext cx="91440" cy="402336"/>
          </a:xfrm>
          <a:prstGeom prst="rect">
            <a:avLst/>
          </a:prstGeom>
          <a:solidFill>
            <a:srgbClr val="80FF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20624" y="1810512"/>
            <a:ext cx="274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📋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9808" y="1810512"/>
            <a:ext cx="4987503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三项研究内容   Research Objectives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9808" y="2011680"/>
            <a:ext cx="4987503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0FFD0"/>
                </a:solidFill>
              </a:rPr>
              <a:t>面向三个科学问题，分别设计可量化验证的研究任务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20040" y="2276856"/>
            <a:ext cx="5499567" cy="1322832"/>
          </a:xfrm>
          <a:prstGeom prst="rect">
            <a:avLst/>
          </a:prstGeom>
          <a:solidFill>
            <a:srgbClr val="C8D4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292608" y="2249424"/>
            <a:ext cx="5499567" cy="1322832"/>
          </a:xfrm>
          <a:prstGeom prst="rect">
            <a:avLst/>
          </a:prstGeom>
          <a:solidFill>
            <a:srgbClr val="FFFFFF"/>
          </a:solidFill>
          <a:ln w="8890">
            <a:solidFill>
              <a:srgbClr val="C8D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292608" y="2249424"/>
            <a:ext cx="5499567" cy="329184"/>
          </a:xfrm>
          <a:prstGeom prst="rect">
            <a:avLst/>
          </a:prstGeom>
          <a:solidFill>
            <a:srgbClr val="157A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338328" y="2276856"/>
            <a:ext cx="274320" cy="2743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157A35"/>
                </a:solidFill>
              </a:rPr>
              <a:t>一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94944" y="2286000"/>
            <a:ext cx="502407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增益退化端到端量化模型（对应科学问题 A）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84048" y="2633472"/>
            <a:ext cx="5316687" cy="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3A"/>
                </a:solidFill>
              </a:rPr>
              <a:t>• 建立时延误差 σ_τ / 相位误差 σ_φ / 频偏 σ_f → 合并增益 G 的统一传播链路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84048" y="2642844"/>
            <a:ext cx="5316687" cy="256032"/>
          </a:xfrm>
          <a:prstGeom prst="rect">
            <a:avLst/>
          </a:prstGeom>
          <a:solidFill>
            <a:srgbClr val="E8F0FF"/>
          </a:solidFill>
          <a:ln w="10160">
            <a:solidFill>
              <a:srgbClr val="2E74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38912" y="2661132"/>
            <a:ext cx="5225247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14:m xmlns:a14="http://schemas.microsoft.com/office/drawing/2010/main" xmlns:m="http://schemas.openxmlformats.org/officeDocument/2006/math">
              <m:oMath>
                <m:sSub>
                  <m:e>
                    <m:r>
                      <m:rPr>
                        <m:sty m:val="bi"/>
                      </m:rPr>
                      <m:t>G</m:t>
                    </m:r>
                  </m:e>
                  <m:sub>
                    <m:r>
                      <m:t>eff</m:t>
                    </m:r>
                  </m:sub>
                </m:sSub>
                <m:d>
                  <m:dPr>
                    <m:ctrlPr/>
                  </m:dPr>
                  <m:e>
                    <m:sSub>
                      <m:e>
                        <m:r>
                          <m:t>σ</m:t>
                        </m:r>
                      </m:e>
                      <m:sub>
                        <m:r>
                          <m:t>τ</m:t>
                        </m:r>
                      </m:sub>
                    </m:sSub>
                    <m:r>
                      <m:t xml:space="preserve">, </m:t>
                    </m:r>
                    <m:sSub>
                      <m:e>
                        <m:r>
                          <m:t>σ</m:t>
                        </m:r>
                      </m:e>
                      <m:sub>
                        <m:r>
                          <m:t>φ</m:t>
                        </m:r>
                      </m:sub>
                    </m:sSub>
                    <m:r>
                      <m:t xml:space="preserve">, </m:t>
                    </m:r>
                    <m:sSub>
                      <m:e>
                        <m:r>
                          <m:t>σ</m:t>
                        </m:r>
                      </m:e>
                      <m:sub>
                        <m:r>
                          <m:t>f</m:t>
                        </m:r>
                      </m:sub>
                    </m:sSub>
                  </m:e>
                </m:d>
                <m:r>
                  <m:t xml:space="preserve"> = </m:t>
                </m:r>
                <m:r>
                  <m:rPr>
                    <m:sty m:val="bi"/>
                  </m:rPr>
                  <m:t xml:space="preserve">G</m:t>
                </m:r>
                <m:r>
                  <m:t xml:space="preserve"> ⋅ </m:t>
                </m:r>
                <m:func>
                  <m:funcPr>
                    <m:ctrlPr/>
                  </m:funcPr>
                  <m:fName>
                    <m:r>
                      <m:rPr>
                        <m:sty m:val="p"/>
                      </m:rPr>
                      <m:t>exp</m:t>
                    </m:r>
                  </m:fName>
                  <m:e>
                    <m:d>
                      <m:dPr>
                        <m:ctrlPr/>
                      </m:dPr>
                      <m:e>
                        <m:r>
                          <m:t>−</m:t>
                        </m:r>
                        <m:sSubSup>
                          <m:e>
                            <m:r>
                              <m:t>σ</m:t>
                            </m:r>
                          </m:e>
                          <m:sub>
                            <m:r>
                              <m:t>φ</m:t>
                            </m:r>
                          </m:sub>
                          <m:sup>
                            <m:r>
                              <m:t>2</m:t>
                            </m:r>
                          </m:sup>
                        </m:sSubSup>
                      </m:e>
                    </m:d>
                  </m:e>
                </m:func>
                <m:r>
                  <m:t xml:space="preserve"> ⋅ </m:t>
                </m:r>
                <m:sSup>
                  <m:e>
                    <m:func>
                      <m:funcPr>
                        <m:ctrlPr/>
                      </m:funcPr>
                      <m:fName>
                        <m:r>
                          <m:rPr>
                            <m:sty m:val="p"/>
                          </m:rPr>
                          <m:t>sinc</m:t>
                        </m:r>
                      </m:fName>
                      <m:e>
                        <m:d>
                          <m:dPr>
                            <m:ctrlPr/>
                          </m:dPr>
                          <m:e>
                            <m:sSub>
                              <m:e>
                                <m:r>
                                  <m:t>σ</m:t>
                                </m:r>
                              </m:e>
                              <m:sub>
                                <m:r>
                                  <m:t>τ</m:t>
                                </m:r>
                              </m:sub>
                            </m:sSub>
                            <m:r>
                              <m:t xml:space="preserve">⋅B</m:t>
                            </m:r>
                          </m:e>
                        </m:d>
                      </m:e>
                    </m:func>
                  </m:e>
                  <m:sup>
                    <m:r>
                      <m:t>2</m:t>
                    </m:r>
                  </m:sup>
                </m:sSup>
                <m:r>
                  <m:t xml:space="preserve"> ⋅ </m:t>
                </m:r>
                <m:sSup>
                  <m:e>
                    <m:func>
                      <m:funcPr>
                        <m:ctrlPr/>
                      </m:funcPr>
                      <m:fName>
                        <m:r>
                          <m:rPr>
                            <m:sty m:val="p"/>
                          </m:rPr>
                          <m:t>sinc</m:t>
                        </m:r>
                      </m:fName>
                      <m:e>
                        <m:d>
                          <m:dPr>
                            <m:ctrlPr/>
                          </m:dPr>
                          <m:e>
                            <m:sSub>
                              <m:e>
                                <m:r>
                                  <m:t>σ</m:t>
                                </m:r>
                              </m:e>
                              <m:sub>
                                <m:r>
                                  <m:t>f</m:t>
                                </m:r>
                              </m:sub>
                            </m:sSub>
                            <m:r>
                              <m:t xml:space="preserve">⋅</m:t>
                            </m:r>
                            <m:sSub>
                              <m:e>
                                <m:r>
                                  <m:t>N</m:t>
                                </m:r>
                              </m:e>
                              <m:sub>
                                <m:r>
                                  <m:t>c</m:t>
                                </m:r>
                              </m:sub>
                            </m:sSub>
                            <m:r>
                              <m:t xml:space="preserve">⋅PRI</m:t>
                            </m:r>
                          </m:e>
                        </m:d>
                      </m:e>
                    </m:func>
                  </m:e>
                  <m:sup>
                    <m:r>
                      <m:t>2</m:t>
                    </m:r>
                  </m:sup>
                </m:sSup>
              </m:oMath>
            </a14:m>
          </a:p>
        </p:txBody>
      </p:sp>
      <p:sp>
        <p:nvSpPr>
          <p:cNvPr id="35" name="TextBox 34"/>
          <p:cNvSpPr txBox="1"/>
          <p:nvPr/>
        </p:nvSpPr>
        <p:spPr>
          <a:xfrm>
            <a:off x="384048" y="2935452"/>
            <a:ext cx="5316687" cy="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3A"/>
                </a:solidFill>
              </a:rPr>
              <a:t>• 量化"效能90%保持区"：σ_φ &lt; π/8，σ_τ &lt; 0.5 ns，σ_f &lt; 100 Hz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84048" y="2944825"/>
            <a:ext cx="5316687" cy="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3A"/>
                </a:solidFill>
              </a:rPr>
              <a:t>• 在 N=2,4,6 节点下仿真验证退化曲线，给出工程容差设计准则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20040" y="3672840"/>
            <a:ext cx="5499567" cy="1322832"/>
          </a:xfrm>
          <a:prstGeom prst="rect">
            <a:avLst/>
          </a:prstGeom>
          <a:solidFill>
            <a:srgbClr val="C8D4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292608" y="3645408"/>
            <a:ext cx="5499567" cy="1322832"/>
          </a:xfrm>
          <a:prstGeom prst="rect">
            <a:avLst/>
          </a:prstGeom>
          <a:solidFill>
            <a:srgbClr val="FFFFFF"/>
          </a:solidFill>
          <a:ln w="8890">
            <a:solidFill>
              <a:srgbClr val="C8D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292608" y="3645408"/>
            <a:ext cx="5499567" cy="329184"/>
          </a:xfrm>
          <a:prstGeom prst="rect">
            <a:avLst/>
          </a:prstGeom>
          <a:solidFill>
            <a:srgbClr val="007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338328" y="3672840"/>
            <a:ext cx="274320" cy="2743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007C78"/>
                </a:solidFill>
              </a:rPr>
              <a:t>二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94944" y="3681984"/>
            <a:ext cx="502407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高动态时变相位误差的建模与实时估计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84048" y="4029456"/>
            <a:ext cx="5316687" cy="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3A"/>
                </a:solidFill>
              </a:rPr>
              <a:t>• 建立非平稳相位误差模型：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84048" y="4038828"/>
            <a:ext cx="5316687" cy="256032"/>
          </a:xfrm>
          <a:prstGeom prst="rect">
            <a:avLst/>
          </a:prstGeom>
          <a:solidFill>
            <a:srgbClr val="E8F0FF"/>
          </a:solidFill>
          <a:ln w="10160">
            <a:solidFill>
              <a:srgbClr val="2E74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38912" y="4057116"/>
            <a:ext cx="5225247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14:m xmlns:a14="http://schemas.microsoft.com/office/drawing/2010/main" xmlns:m="http://schemas.openxmlformats.org/officeDocument/2006/math">
              <m:oMath>
                <m:sSub>
                  <m:e>
                    <m:r>
                      <m:rPr>
                        <m:sty m:val="bi"/>
                      </m:rPr>
                      <m:t>Δφ</m:t>
                    </m:r>
                  </m:e>
                  <m:sub>
                    <m:r>
                      <m:t>k</m:t>
                    </m:r>
                  </m:sub>
                </m:sSub>
                <m:d>
                  <m:dPr>
                    <m:ctrlPr/>
                  </m:dPr>
                  <m:e>
                    <m:r>
                      <m:rPr>
                        <m:sty m:val="i"/>
                      </m:rPr>
                      <m:t>t</m:t>
                    </m:r>
                  </m:e>
                </m:d>
                <m:r>
                  <m:t xml:space="preserve"> = </m:t>
                </m:r>
                <m:sSub>
                  <m:e>
                    <m:r>
                      <m:rPr>
                        <m:sty m:val="i"/>
                      </m:rPr>
                      <m:t>φ</m:t>
                    </m:r>
                  </m:e>
                  <m:sub>
                    <m:r>
                      <m:t>delay</m:t>
                    </m:r>
                  </m:sub>
                </m:sSub>
                <m:d>
                  <m:dPr>
                    <m:ctrlPr/>
                  </m:dPr>
                  <m:e>
                    <m:r>
                      <m:rPr>
                        <m:sty m:val="i"/>
                      </m:rPr>
                      <m:t>t</m:t>
                    </m:r>
                  </m:e>
                </m:d>
                <m:r>
                  <m:t xml:space="preserve"> + </m:t>
                </m:r>
                <m:sSub>
                  <m:e>
                    <m:r>
                      <m:rPr>
                        <m:sty m:val="i"/>
                      </m:rPr>
                      <m:t>φ</m:t>
                    </m:r>
                  </m:e>
                  <m:sub>
                    <m:r>
                      <m:t>osc</m:t>
                    </m:r>
                  </m:sub>
                </m:sSub>
                <m:d>
                  <m:dPr>
                    <m:ctrlPr/>
                  </m:dPr>
                  <m:e>
                    <m:r>
                      <m:rPr>
                        <m:sty m:val="i"/>
                      </m:rPr>
                      <m:t>t</m:t>
                    </m:r>
                  </m:e>
                </m:d>
                <m:r>
                  <m:t xml:space="preserve"> + </m:t>
                </m:r>
                <m:sSub>
                  <m:e>
                    <m:r>
                      <m:rPr>
                        <m:sty m:val="i"/>
                      </m:rPr>
                      <m:t>φ</m:t>
                    </m:r>
                  </m:e>
                  <m:sub>
                    <m:r>
                      <m:t>Doppler</m:t>
                    </m:r>
                  </m:sub>
                </m:sSub>
                <m:d>
                  <m:dPr>
                    <m:ctrlPr/>
                  </m:dPr>
                  <m:e>
                    <m:r>
                      <m:rPr>
                        <m:sty m:val="i"/>
                      </m:rPr>
                      <m:t>t</m:t>
                    </m:r>
                  </m:e>
                </m:d>
              </m:oMath>
            </a14:m>
          </a:p>
        </p:txBody>
      </p:sp>
      <p:sp>
        <p:nvSpPr>
          <p:cNvPr id="45" name="TextBox 44"/>
          <p:cNvSpPr txBox="1"/>
          <p:nvPr/>
        </p:nvSpPr>
        <p:spPr>
          <a:xfrm>
            <a:off x="384048" y="4331436"/>
            <a:ext cx="5316687" cy="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3A"/>
                </a:solidFill>
              </a:rPr>
              <a:t>• 无导频自校准：基于回波互相关 + EKF 实时跟踪时变相位漂移率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84048" y="4340809"/>
            <a:ext cx="5316687" cy="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3A"/>
                </a:solidFill>
              </a:rPr>
              <a:t>• 推导最小可辨识帧长 N_c,min 与 SNR_k 的联合约束（CRLB 下界）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20040" y="5068824"/>
            <a:ext cx="5499567" cy="1322832"/>
          </a:xfrm>
          <a:prstGeom prst="rect">
            <a:avLst/>
          </a:prstGeom>
          <a:solidFill>
            <a:srgbClr val="C8D4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292608" y="5041392"/>
            <a:ext cx="5499567" cy="1322832"/>
          </a:xfrm>
          <a:prstGeom prst="rect">
            <a:avLst/>
          </a:prstGeom>
          <a:solidFill>
            <a:srgbClr val="FFFFFF"/>
          </a:solidFill>
          <a:ln w="8890">
            <a:solidFill>
              <a:srgbClr val="C8D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292608" y="5041392"/>
            <a:ext cx="5499567" cy="329184"/>
          </a:xfrm>
          <a:prstGeom prst="rect">
            <a:avLst/>
          </a:prstGeom>
          <a:solidFill>
            <a:srgbClr val="0E6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338328" y="5068824"/>
            <a:ext cx="274320" cy="2743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0E6B5E"/>
                </a:solidFill>
              </a:rPr>
              <a:t>三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94944" y="5077968"/>
            <a:ext cx="502407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质量自适应 MRC 合并与层次化处理框架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384048" y="5425440"/>
            <a:ext cx="5316687" cy="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3A"/>
                </a:solidFill>
              </a:rPr>
              <a:t>• MRC 融合权值（三因子联合在线估计）：</a:t>
            </a:r>
          </a:p>
        </p:txBody>
      </p:sp>
      <p:sp>
        <p:nvSpPr>
          <p:cNvPr id="53" name="Rectangle 52"/>
          <p:cNvSpPr/>
          <p:nvPr/>
        </p:nvSpPr>
        <p:spPr>
          <a:xfrm>
            <a:off x="384048" y="5434812"/>
            <a:ext cx="5316687" cy="256032"/>
          </a:xfrm>
          <a:prstGeom prst="rect">
            <a:avLst/>
          </a:prstGeom>
          <a:solidFill>
            <a:srgbClr val="E8F0FF"/>
          </a:solidFill>
          <a:ln w="10160">
            <a:solidFill>
              <a:srgbClr val="2E74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438912" y="5453100"/>
            <a:ext cx="5225247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14:m xmlns:a14="http://schemas.microsoft.com/office/drawing/2010/main" xmlns:m="http://schemas.openxmlformats.org/officeDocument/2006/math">
              <m:oMath>
                <m:sSub>
                  <m:e>
                    <m:r>
                      <m:rPr>
                        <m:sty m:val="bi"/>
                      </m:rPr>
                      <m:t>w</m:t>
                    </m:r>
                  </m:e>
                  <m:sub>
                    <m:r>
                      <m:t>k</m:t>
                    </m:r>
                  </m:sub>
                </m:sSub>
                <m:r>
                  <m:t xml:space="preserve"> = </m:t>
                </m:r>
                <m:sSub>
                  <m:e>
                    <m:r>
                      <m:t>SNR</m:t>
                    </m:r>
                  </m:e>
                  <m:sub>
                    <m:r>
                      <m:t>k</m:t>
                    </m:r>
                  </m:sub>
                </m:sSub>
                <m:r>
                  <m:t xml:space="preserve"> ⋅ </m:t>
                </m:r>
                <m:sSub>
                  <m:e>
                    <m:r>
                      <m:t>coh</m:t>
                    </m:r>
                  </m:e>
                  <m:sub>
                    <m:r>
                      <m:t>k</m:t>
                    </m:r>
                  </m:sub>
                </m:sSub>
                <m:r>
                  <m:t xml:space="preserve"> ⋅ </m:t>
                </m:r>
                <m:sSub>
                  <m:e>
                    <m:r>
                      <m:t>ph_cons</m:t>
                    </m:r>
                  </m:e>
                  <m:sub>
                    <m:r>
                      <m:t>k</m:t>
                    </m:r>
                  </m:sub>
                </m:sSub>
              </m:oMath>
            </a14:m>
          </a:p>
        </p:txBody>
      </p:sp>
      <p:sp>
        <p:nvSpPr>
          <p:cNvPr id="55" name="TextBox 54"/>
          <p:cNvSpPr txBox="1"/>
          <p:nvPr/>
        </p:nvSpPr>
        <p:spPr>
          <a:xfrm>
            <a:off x="384048" y="5727420"/>
            <a:ext cx="5316687" cy="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3A"/>
                </a:solidFill>
              </a:rPr>
              <a:t>• 稳健机制：相位估计失败时自动降权，避免合并输出突变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384048" y="5736793"/>
            <a:ext cx="5316687" cy="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3A"/>
                </a:solidFill>
              </a:rPr>
              <a:t>• 分层策略：强目标 SIC 对消 → 弱目标三 MTI 检测 → 统一 MRC 合并</a:t>
            </a:r>
          </a:p>
        </p:txBody>
      </p:sp>
      <p:sp>
        <p:nvSpPr>
          <p:cNvPr id="57" name="Rectangle 56"/>
          <p:cNvSpPr/>
          <p:nvPr/>
        </p:nvSpPr>
        <p:spPr>
          <a:xfrm>
            <a:off x="5975055" y="1792224"/>
            <a:ext cx="5957864" cy="402336"/>
          </a:xfrm>
          <a:prstGeom prst="rect">
            <a:avLst/>
          </a:prstGeom>
          <a:solidFill>
            <a:srgbClr val="C0C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5938479" y="1755648"/>
            <a:ext cx="5957864" cy="402336"/>
          </a:xfrm>
          <a:prstGeom prst="rect">
            <a:avLst/>
          </a:prstGeom>
          <a:solidFill>
            <a:srgbClr val="0D2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5938479" y="1755648"/>
            <a:ext cx="91440" cy="402336"/>
          </a:xfrm>
          <a:prstGeom prst="rect">
            <a:avLst/>
          </a:prstGeom>
          <a:solidFill>
            <a:srgbClr val="80B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6066495" y="1810512"/>
            <a:ext cx="274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⚙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395679" y="1810512"/>
            <a:ext cx="5445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关键技术方法与预期指标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395679" y="2011680"/>
            <a:ext cx="544580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0D8FF"/>
                </a:solidFill>
              </a:rPr>
              <a:t>Key Methods &amp; Expected Technical Metrics — Quantifiable Validation Targets</a:t>
            </a:r>
          </a:p>
        </p:txBody>
      </p:sp>
      <p:sp>
        <p:nvSpPr>
          <p:cNvPr id="63" name="Rectangle 62"/>
          <p:cNvSpPr/>
          <p:nvPr/>
        </p:nvSpPr>
        <p:spPr>
          <a:xfrm>
            <a:off x="5965911" y="2276856"/>
            <a:ext cx="5957864" cy="1322832"/>
          </a:xfrm>
          <a:prstGeom prst="rect">
            <a:avLst/>
          </a:prstGeom>
          <a:solidFill>
            <a:srgbClr val="C8D4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5938479" y="2249424"/>
            <a:ext cx="5957864" cy="1322832"/>
          </a:xfrm>
          <a:prstGeom prst="rect">
            <a:avLst/>
          </a:prstGeom>
          <a:solidFill>
            <a:srgbClr val="FFFFFF"/>
          </a:solidFill>
          <a:ln w="8890">
            <a:solidFill>
              <a:srgbClr val="C8D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5938479" y="2249424"/>
            <a:ext cx="5957864" cy="329184"/>
          </a:xfrm>
          <a:prstGeom prst="rect">
            <a:avLst/>
          </a:prstGeom>
          <a:solidFill>
            <a:srgbClr val="1F6B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Oval 65"/>
          <p:cNvSpPr/>
          <p:nvPr/>
        </p:nvSpPr>
        <p:spPr>
          <a:xfrm>
            <a:off x="5984199" y="2276856"/>
            <a:ext cx="274320" cy="2743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1F6BC4"/>
                </a:solidFill>
              </a:rPr>
              <a:t>①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6340815" y="2286000"/>
            <a:ext cx="548237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误差传播链路建模与效能边界推导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6029919" y="2633472"/>
            <a:ext cx="5774984" cy="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3A"/>
                </a:solidFill>
              </a:rPr>
              <a:t>• 理论工具：联合误差传播理论 + 贝叶斯效能下界（BCRLB）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6029919" y="2642844"/>
            <a:ext cx="5774984" cy="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3A"/>
                </a:solidFill>
              </a:rPr>
              <a:t>• 输出：G_eff vs (σ_τ, σ_φ, σ_f) 三维效能图谱及工程容差曲线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029919" y="2652217"/>
            <a:ext cx="5774984" cy="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3A"/>
                </a:solidFill>
              </a:rPr>
              <a:t>• 预期：N=6 时理想 G=15.6 dB，误差容限内 G_eff ≥ 14 dB（90%）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6029919" y="2661589"/>
            <a:ext cx="5774984" cy="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3A"/>
                </a:solidFill>
              </a:rPr>
              <a:t>• 验证：Monte-Carlo 仿真（1000次）+ MATLAB 端到端链路仿真</a:t>
            </a:r>
          </a:p>
        </p:txBody>
      </p:sp>
      <p:sp>
        <p:nvSpPr>
          <p:cNvPr id="72" name="Rectangle 71"/>
          <p:cNvSpPr/>
          <p:nvPr/>
        </p:nvSpPr>
        <p:spPr>
          <a:xfrm>
            <a:off x="5965911" y="3672840"/>
            <a:ext cx="5957864" cy="1322832"/>
          </a:xfrm>
          <a:prstGeom prst="rect">
            <a:avLst/>
          </a:prstGeom>
          <a:solidFill>
            <a:srgbClr val="C8D4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5938479" y="3645408"/>
            <a:ext cx="5957864" cy="1322832"/>
          </a:xfrm>
          <a:prstGeom prst="rect">
            <a:avLst/>
          </a:prstGeom>
          <a:solidFill>
            <a:srgbClr val="FFFFFF"/>
          </a:solidFill>
          <a:ln w="8890">
            <a:solidFill>
              <a:srgbClr val="C8D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5938479" y="3645408"/>
            <a:ext cx="5957864" cy="329184"/>
          </a:xfrm>
          <a:prstGeom prst="rect">
            <a:avLst/>
          </a:prstGeom>
          <a:solidFill>
            <a:srgbClr val="6A2B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Oval 74"/>
          <p:cNvSpPr/>
          <p:nvPr/>
        </p:nvSpPr>
        <p:spPr>
          <a:xfrm>
            <a:off x="5984199" y="3672840"/>
            <a:ext cx="274320" cy="2743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6A2BB5"/>
                </a:solidFill>
              </a:rPr>
              <a:t>②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6340815" y="3681984"/>
            <a:ext cx="548237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EKF/自校准在线相位估计算法</a:t>
            </a:r>
          </a:p>
        </p:txBody>
      </p:sp>
      <p:sp>
        <p:nvSpPr>
          <p:cNvPr id="77" name="Rectangle 76"/>
          <p:cNvSpPr/>
          <p:nvPr/>
        </p:nvSpPr>
        <p:spPr>
          <a:xfrm>
            <a:off x="6029919" y="4029456"/>
            <a:ext cx="5774984" cy="256032"/>
          </a:xfrm>
          <a:prstGeom prst="rect">
            <a:avLst/>
          </a:prstGeom>
          <a:solidFill>
            <a:srgbClr val="E8F0FF"/>
          </a:solidFill>
          <a:ln w="10160">
            <a:solidFill>
              <a:srgbClr val="2E74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6084783" y="4047744"/>
            <a:ext cx="5683544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14:m xmlns:a14="http://schemas.microsoft.com/office/drawing/2010/main" xmlns:m="http://schemas.openxmlformats.org/officeDocument/2006/math">
              <m:oMath>
                <m:r>
                  <m:t xml:space="preserve">状态量：</m:t>
                </m:r>
                <m:d>
                  <m:dPr>
                    <m:begChr m:val="["/>
                    <m:endChr m:val="]"/>
                    <m:ctrlPr/>
                  </m:dPr>
                  <m:e>
                    <m:sSub>
                      <m:e>
                        <m:r>
                          <m:rPr>
                            <m:sty m:val="i"/>
                          </m:rPr>
                          <m:t>Δφ</m:t>
                        </m:r>
                      </m:e>
                      <m:sub>
                        <m:r>
                          <m:t>k</m:t>
                        </m:r>
                      </m:sub>
                    </m:sSub>
                    <m:r>
                      <m:t xml:space="preserve">, </m:t>
                    </m:r>
                    <m:sSub>
                      <m:e>
                        <m:acc>
                          <m:accPr>
                            <m:chr m:val="˙"/>
                            <m:ctrlPr/>
                          </m:accPr>
                          <m:e>
                            <m:r>
                              <m:rPr>
                                <m:sty m:val="i"/>
                              </m:rPr>
                              <m:t>φ</m:t>
                            </m:r>
                          </m:e>
                        </m:acc>
                      </m:e>
                      <m:sub>
                        <m:r>
                          <m:t>k</m:t>
                        </m:r>
                      </m:sub>
                    </m:sSub>
                  </m:e>
                </m:d>
              </m:oMath>
            </a14:m>
          </a:p>
        </p:txBody>
      </p:sp>
      <p:sp>
        <p:nvSpPr>
          <p:cNvPr id="79" name="TextBox 78"/>
          <p:cNvSpPr txBox="1"/>
          <p:nvPr/>
        </p:nvSpPr>
        <p:spPr>
          <a:xfrm>
            <a:off x="6029919" y="4322064"/>
            <a:ext cx="5774984" cy="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3A"/>
                </a:solidFill>
              </a:rPr>
              <a:t>• 量测更新：互相关亚像素峰值提供 Δτ 观测，EKF 步长 = 1 CPI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6029919" y="4331436"/>
            <a:ext cx="5774984" cy="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3A"/>
                </a:solidFill>
              </a:rPr>
              <a:t>• 预期：SNR≥6 dB 时，相位估计误差 σ_est &lt; π/8（G_eff ≥ 90%G）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6029919" y="4340809"/>
            <a:ext cx="5774984" cy="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3A"/>
                </a:solidFill>
              </a:rPr>
              <a:t>• 对比：无补偿 / 静态互相关补偿 / 本方法三方案对比</a:t>
            </a:r>
          </a:p>
        </p:txBody>
      </p:sp>
      <p:sp>
        <p:nvSpPr>
          <p:cNvPr id="82" name="Rectangle 81"/>
          <p:cNvSpPr/>
          <p:nvPr/>
        </p:nvSpPr>
        <p:spPr>
          <a:xfrm>
            <a:off x="5965911" y="5068824"/>
            <a:ext cx="5957864" cy="1322832"/>
          </a:xfrm>
          <a:prstGeom prst="rect">
            <a:avLst/>
          </a:prstGeom>
          <a:solidFill>
            <a:srgbClr val="C8D4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5938479" y="5041392"/>
            <a:ext cx="5957864" cy="1322832"/>
          </a:xfrm>
          <a:prstGeom prst="rect">
            <a:avLst/>
          </a:prstGeom>
          <a:solidFill>
            <a:srgbClr val="FFFFFF"/>
          </a:solidFill>
          <a:ln w="8890">
            <a:solidFill>
              <a:srgbClr val="C8D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5938479" y="5041392"/>
            <a:ext cx="5957864" cy="329184"/>
          </a:xfrm>
          <a:prstGeom prst="rect">
            <a:avLst/>
          </a:prstGeom>
          <a:solidFill>
            <a:srgbClr val="B54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Oval 84"/>
          <p:cNvSpPr/>
          <p:nvPr/>
        </p:nvSpPr>
        <p:spPr>
          <a:xfrm>
            <a:off x="5984199" y="5068824"/>
            <a:ext cx="274320" cy="2743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B54A00"/>
                </a:solidFill>
              </a:rPr>
              <a:t>③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6340815" y="5077968"/>
            <a:ext cx="548237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分层相参策略与实时计算优化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6029919" y="5425440"/>
            <a:ext cx="5774984" cy="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3A"/>
                </a:solidFill>
              </a:rPr>
              <a:t>• Round1：无 MTI 强目标检测（CFAR&gt;12dB）→ SIC 对消 → 弱目标释放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6029919" y="5434812"/>
            <a:ext cx="5774984" cy="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3A"/>
                </a:solidFill>
              </a:rPr>
              <a:t>• Round2：三 MTI 并行（SLOW/FAST/VFAST）+ MRC → CFAR&gt;6dB 统一输出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6029919" y="5444185"/>
            <a:ext cx="5774984" cy="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3A"/>
                </a:solidFill>
              </a:rPr>
              <a:t>• 预期延迟：两轮合计 &lt; 9 ms（Nc=64，Nsc=1024，N=6 链路）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6029919" y="5453557"/>
            <a:ext cx="5774984" cy="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3A"/>
                </a:solidFill>
              </a:rPr>
              <a:t>• 优化：子带分解压缩 &lt; 5 ms；精度损失 &lt; 0.3 dB（仿真验证）</a:t>
            </a:r>
          </a:p>
        </p:txBody>
      </p:sp>
      <p:sp>
        <p:nvSpPr>
          <p:cNvPr id="91" name="Rectangle 90"/>
          <p:cNvSpPr/>
          <p:nvPr/>
        </p:nvSpPr>
        <p:spPr>
          <a:xfrm>
            <a:off x="0" y="6400800"/>
            <a:ext cx="12188952" cy="457200"/>
          </a:xfrm>
          <a:prstGeom prst="rect">
            <a:avLst/>
          </a:prstGeom>
          <a:solidFill>
            <a:srgbClr val="E8F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92" name="Connector 91"/>
          <p:cNvCxnSpPr/>
          <p:nvPr/>
        </p:nvCxnSpPr>
        <p:spPr>
          <a:xfrm>
            <a:off x="292608" y="6400800"/>
            <a:ext cx="11603736" cy="0"/>
          </a:xfrm>
          <a:prstGeom prst="line">
            <a:avLst/>
          </a:prstGeom>
          <a:ln w="19050">
            <a:solidFill>
              <a:srgbClr val="2E74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3" name="Rectangle 92"/>
          <p:cNvSpPr/>
          <p:nvPr/>
        </p:nvSpPr>
        <p:spPr>
          <a:xfrm>
            <a:off x="292608" y="6492240"/>
            <a:ext cx="45720" cy="256032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384048" y="6483096"/>
            <a:ext cx="114757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80" b="0" i="1">
                <a:solidFill>
                  <a:srgbClr val="0D2A6E"/>
                </a:solidFill>
              </a:rPr>
              <a:t>  研究路径：量化退化律（内容一）→ 实时相位估计（内容二）→ 自适应 MRC 框架（内容三）——三项研究形成完整闭环，最终实现 N=6 节点下 G_eff ≥ 14 dB、延迟 &lt; 9 ms 的工程目标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