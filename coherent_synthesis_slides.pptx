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B800"/>
                </a:solidFill>
              </a:rPr>
              <a:t>空海平台多节点协同探测  |  高效相参合成机理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960120"/>
            <a:ext cx="3749039" cy="1325880"/>
          </a:xfrm>
          <a:prstGeom prst="rect">
            <a:avLst/>
          </a:prstGeom>
          <a:solidFill>
            <a:srgbClr val="10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3327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① 时延同步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目标-节点几何时延差
→ 脉冲对齐补偿
→ 精度要求：Δτ &lt; λ/(4c)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377440"/>
            <a:ext cx="3749039" cy="1325880"/>
          </a:xfrm>
          <a:prstGeom prst="rect">
            <a:avLst/>
          </a:prstGeom>
          <a:solidFill>
            <a:srgbClr val="0E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45059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② 相位同步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载频相位差
→ 复数旋转校正
→ 误差源：振荡器不一致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794760"/>
            <a:ext cx="3749039" cy="1325880"/>
          </a:xfrm>
          <a:prstGeom prst="rect">
            <a:avLst/>
          </a:prstGeom>
          <a:solidFill>
            <a:srgbClr val="4A2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867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③ 频率同步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16052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多普勒偏移 + 振荡器偏差
→ 相位随时间漂移
→ ΔΦ = 2π·Δf·t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5212080"/>
            <a:ext cx="3749039" cy="1325880"/>
          </a:xfrm>
          <a:prstGeom prst="rect">
            <a:avLst/>
          </a:prstGeom>
          <a:solidFill>
            <a:srgbClr val="7A3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52852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④ 幅度一致性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5577840"/>
            <a:ext cx="35661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通道增益差异
→ 合并权值补偿
→ 影响旁瓣抑制性能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960120"/>
            <a:ext cx="4114800" cy="26517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005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</a:rPr>
              <a:t>信号模型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389888"/>
            <a:ext cx="3840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第 k 节点接收信号：
  sₖ(t) = A · exp[j(2πfcτₖ + φₖ)] + nₖ(t)
相参合并输出：
  y(t) = Σ wₖ* · sₖ(t)
相位对齐条件：
  ∠wₖ = −(2πfcτₖ + φₖ)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749039"/>
            <a:ext cx="4114800" cy="26060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37947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B800"/>
                </a:solidFill>
              </a:rPr>
              <a:t>相参增益退化律（核心公式）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142232"/>
            <a:ext cx="38404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实际合并增益：
  G = N² · sinc²(σ_φ_total)
联合相位误差：
  σ²_φ = σ²_time·(2πfc)²
        + σ²_phase + σ²_freq · T²
  σ_φ &lt; π/8  →  G &gt; 0.90 · N²  (保持90%效能)
  σ_φ = π/4  →  G ≈ 0.64 · N²  (退化36%)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960120"/>
            <a:ext cx="3383280" cy="14173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1005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增益对比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132588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相参合并：SNR ∝ N²
非相参合并：SNR ∝ N
相参优势：额外 N 倍增益
（10·lgN dB 提升）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95360" y="2514600"/>
            <a:ext cx="3383280" cy="384048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2520" y="2560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系统框图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944368"/>
            <a:ext cx="1371600" cy="502920"/>
          </a:xfrm>
          <a:prstGeom prst="rect">
            <a:avLst/>
          </a:prstGeom>
          <a:solidFill>
            <a:srgbClr val="105B9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29443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1 接收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0" y="3630168"/>
            <a:ext cx="1371600" cy="502920"/>
          </a:xfrm>
          <a:prstGeom prst="rect">
            <a:avLst/>
          </a:prstGeom>
          <a:solidFill>
            <a:srgbClr val="105B9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36301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2 接收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4315968"/>
            <a:ext cx="1371600" cy="502920"/>
          </a:xfrm>
          <a:prstGeom prst="rect">
            <a:avLst/>
          </a:prstGeom>
          <a:solidFill>
            <a:srgbClr val="105B9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31596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节点 N 接收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200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5B800"/>
                </a:solidFill>
              </a:rPr>
              <a:t>↓  ↓  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5294376"/>
            <a:ext cx="1371600" cy="502920"/>
          </a:xfrm>
          <a:prstGeom prst="rect">
            <a:avLst/>
          </a:prstGeom>
          <a:solidFill>
            <a:srgbClr val="0E6E6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52943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相位对齐
（补偿器）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04120" y="5294376"/>
            <a:ext cx="320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5294376"/>
            <a:ext cx="1371600" cy="502920"/>
          </a:xfrm>
          <a:prstGeom prst="rect">
            <a:avLst/>
          </a:prstGeom>
          <a:solidFill>
            <a:srgbClr val="7A3A10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529437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MRC 合并
→ 增益 N²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6492240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★ 空海特殊挑战：载体运动导致基线动态变化，多普勒快变，四大误差耦合非线性退化，同步维持难度远高于地基系统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B800"/>
                </a:solidFill>
              </a:rPr>
              <a:t>空海平台多节点协同探测  |  高效相参合成方法设计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914400"/>
            <a:ext cx="1600200" cy="658368"/>
          </a:xfrm>
          <a:prstGeom prst="rect">
            <a:avLst/>
          </a:prstGeom>
          <a:solidFill>
            <a:srgbClr val="105B9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 原始回波
输入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1368" y="914400"/>
            <a:ext cx="1645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914400"/>
            <a:ext cx="1600200" cy="658368"/>
          </a:xfrm>
          <a:prstGeom prst="rect">
            <a:avLst/>
          </a:prstGeom>
          <a:solidFill>
            <a:srgbClr val="0E6E6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 时延估计
与对齐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914400"/>
            <a:ext cx="1645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30752" y="914400"/>
            <a:ext cx="1600200" cy="658368"/>
          </a:xfrm>
          <a:prstGeom prst="rect">
            <a:avLst/>
          </a:prstGeom>
          <a:solidFill>
            <a:srgbClr val="4A237A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 相位估计
与校正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0952" y="914400"/>
            <a:ext cx="1645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95544" y="914400"/>
            <a:ext cx="1600200" cy="658368"/>
          </a:xfrm>
          <a:prstGeom prst="rect">
            <a:avLst/>
          </a:prstGeom>
          <a:solidFill>
            <a:srgbClr val="7A3A10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544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 自适应
权值计算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914400"/>
            <a:ext cx="1645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914400"/>
            <a:ext cx="1600200" cy="658368"/>
          </a:xfrm>
          <a:prstGeom prst="rect">
            <a:avLst/>
          </a:prstGeom>
          <a:solidFill>
            <a:srgbClr val="1B6B2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 相参合并
输出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0536" y="914400"/>
            <a:ext cx="16459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B80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25128" y="914400"/>
            <a:ext cx="1600200" cy="658368"/>
          </a:xfrm>
          <a:prstGeom prst="rect">
            <a:avLst/>
          </a:prstGeom>
          <a:solidFill>
            <a:srgbClr val="6B1B1B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25128" y="914400"/>
            <a:ext cx="1600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⑥ 检测
处理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1737360"/>
            <a:ext cx="2880360" cy="384048"/>
          </a:xfrm>
          <a:prstGeom prst="rect">
            <a:avLst/>
          </a:prstGeom>
          <a:solidFill>
            <a:srgbClr val="105B9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" y="173736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B800"/>
                </a:solidFill>
              </a:rPr>
              <a:t>① 时延对齐方法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" y="2148840"/>
            <a:ext cx="2880360" cy="26060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17627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北斗/GPS双频授时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46888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硬件同步精度 &lt; 10 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7614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互相关峰值精估：精度≈1/BW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05409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INS/DVL动态时延预测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346704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补偿载体机动引起时延抖动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363931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目标：Δτ &lt; λ/(4c)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91256" y="1737360"/>
            <a:ext cx="2880360" cy="384048"/>
          </a:xfrm>
          <a:prstGeom prst="rect">
            <a:avLst/>
          </a:prstGeom>
          <a:solidFill>
            <a:srgbClr val="0E6E6E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91256" y="173736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B800"/>
                </a:solidFill>
              </a:rPr>
              <a:t>② 相位校正方法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91256" y="2148840"/>
            <a:ext cx="2880360" cy="26060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64408" y="217627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导频信号法（有导频）：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64408" y="246888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周期发送相位参考信号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64408" y="27614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LS拟合载波相位漂移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64408" y="305409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实时反馈补偿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4408" y="3346704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目标回波自校准（无导频）：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4408" y="363931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利用多节点回波相位差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393192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反解并补偿相位误差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64408" y="422452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EKF/PLL 联合跟踪框架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1344" y="1737360"/>
            <a:ext cx="2880360" cy="384048"/>
          </a:xfrm>
          <a:prstGeom prst="rect">
            <a:avLst/>
          </a:prstGeom>
          <a:solidFill>
            <a:srgbClr val="4A237A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1344" y="173736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B800"/>
                </a:solidFill>
              </a:rPr>
              <a:t>③ 自适应权值计算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1344" y="2148840"/>
            <a:ext cx="2880360" cy="26060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54496" y="217627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最大比合并（MRC）：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54496" y="246888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wₖ = SNRₖ / Σ SNRᵢ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27614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稳健加权：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54496" y="305409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相位误差大的节点自动降权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6" y="3346704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防止[相参污染]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54496" y="363931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分层相参策略：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4496" y="393192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同步质量相近节点组内相参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54496" y="422452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组间非相参合并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71432" y="1737360"/>
            <a:ext cx="2880360" cy="384048"/>
          </a:xfrm>
          <a:prstGeom prst="rect">
            <a:avLst/>
          </a:prstGeom>
          <a:solidFill>
            <a:srgbClr val="7A3A10"/>
          </a:solidFill>
          <a:ln w="12700">
            <a:solidFill>
              <a:srgbClr val="F5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71432" y="173736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B800"/>
                </a:solidFill>
              </a:rPr>
              <a:t>④ 空海特殊设计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71432" y="2148840"/>
            <a:ext cx="2880360" cy="2606040"/>
          </a:xfrm>
          <a:prstGeom prst="rect">
            <a:avLst/>
          </a:prstGeom>
          <a:solidFill>
            <a:srgbClr val="12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44584" y="217627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海面多径处理：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4584" y="246888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分离直射/镜面反射分量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4584" y="276148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分量分离后再相参合并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44584" y="3054096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载体姿态补偿：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4584" y="3346704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IMU实时修正横摇/纵摇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4584" y="3639312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Δφ=(2π/λ)·d·sin(Δθ)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4584" y="3931920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• 低截获设计：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44584" y="4224528"/>
            <a:ext cx="27340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   • 相参合并在数字域完成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01168" y="4828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B800"/>
                </a:solidFill>
              </a:rPr>
              <a:t>关键性能指标对比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201168" y="5166360"/>
          <a:ext cx="1175004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7510"/>
                <a:gridCol w="2937510"/>
                <a:gridCol w="2937510"/>
                <a:gridCol w="293751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B800"/>
                          </a:solidFill>
                        </a:rPr>
                        <a:t>方法类型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B800"/>
                          </a:solidFill>
                        </a:rPr>
                        <a:t>同步精度要求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B800"/>
                          </a:solidFill>
                        </a:rPr>
                        <a:t>算法延迟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5B800"/>
                          </a:solidFill>
                        </a:rPr>
                        <a:t>适用场景</a:t>
                      </a:r>
                    </a:p>
                  </a:txBody>
                  <a:tcPr>
                    <a:solidFill>
                      <a:srgbClr val="1A4F8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导频相参合并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时延 &lt; 10 ns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低（&lt; 1 ms）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协同组网、慢机动平台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回波自校准合并</a:t>
                      </a:r>
                    </a:p>
                  </a:txBody>
                  <a:tcPr>
                    <a:solidFill>
                      <a:srgbClr val="0D2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时延 &lt; 50 ns</a:t>
                      </a:r>
                    </a:p>
                  </a:txBody>
                  <a:tcPr>
                    <a:solidFill>
                      <a:srgbClr val="0D22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中（1 ~ 10 ms）</a:t>
                      </a:r>
                    </a:p>
                  </a:txBody>
                  <a:tcPr>
                    <a:solidFill>
                      <a:srgbClr val="0D223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无导频、通信受限场景</a:t>
                      </a:r>
                    </a:p>
                  </a:txBody>
                  <a:tcPr>
                    <a:solidFill>
                      <a:srgbClr val="0D223C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分层相参合并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时延 &lt; 100 ns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FFFFFF"/>
                          </a:solidFill>
                        </a:rPr>
                        <a:t>低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节点数多、同步质量异构</a:t>
                      </a:r>
                    </a:p>
                  </a:txBody>
                  <a:tcPr>
                    <a:solidFill>
                      <a:srgbClr val="122A4A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201168" y="6510528"/>
            <a:ext cx="117500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0"/>
                </a:solidFill>
              </a:rPr>
              <a:t>★ 核心权衡：空海高动态平台要求在「估计精度 — 计算实时性 — 通信开销」三者间取得最优平衡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